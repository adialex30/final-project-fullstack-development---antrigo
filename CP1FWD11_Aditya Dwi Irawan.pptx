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slide" Target="slides/slide16.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f696ea5b6b_2_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g3f696ea5b6b_2_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Buka dengan hook, bukan perkenalan. Contoh: 'Jam makan siang, warung ramai, pesanan dicatat di kertas — dan porsi terakhir terjual dua kali.' Baru sebutkan nama. Target 20 detik.</a:t>
            </a:r>
            <a:endParaRPr/>
          </a:p>
        </p:txBody>
      </p:sp>
      <p:sp>
        <p:nvSpPr>
          <p:cNvPr id="55" name="Google Shape;55;g3f696ea5b6b_2_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696ea5b6b_2_1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 name="Google Shape;67;g3f696ea5b6b_2_1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Kartu 02 masih placeholder — isi sebelum submit. Jangan bacakan seluruh teks; satu kalimat per kartu. Target 40 detik.</a:t>
            </a:r>
            <a:endParaRPr/>
          </a:p>
        </p:txBody>
      </p:sp>
      <p:sp>
        <p:nvSpPr>
          <p:cNvPr id="68" name="Google Shape;68;g3f696ea5b6b_2_1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f696ea5b6b_2_3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 name="Google Shape;89;g3f696ea5b6b_2_3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Slide untuk audiens non-teknis. Jangan sebut nama framework di sini — simpan untuk bagian Technical Depth.</a:t>
            </a:r>
            <a:endParaRPr/>
          </a:p>
        </p:txBody>
      </p:sp>
      <p:sp>
        <p:nvSpPr>
          <p:cNvPr id="90" name="Google Shape;90;g3f696ea5b6b_2_3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f696ea5b6b_2_5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g3f696ea5b6b_2_5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Kalau sempat, kunjungi satu warung dan tanyakan langsung bagaimana mereka mencatat pesanan saat ramai. Satu kutipan nyata jauh lebih kuat daripada asumsi, dan penguji biasanya menanyakan dari mana masalah ini diketahui.</a:t>
            </a:r>
            <a:endParaRPr/>
          </a:p>
        </p:txBody>
      </p:sp>
      <p:sp>
        <p:nvSpPr>
          <p:cNvPr id="113" name="Google Shape;113;g3f696ea5b6b_2_5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f696ea5b6b_2_79: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4" name="Google Shape;134;g3f696ea5b6b_2_79: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Kolom kanan adalah inti pitch. Kalau waktu mepet, lewati persona dan langsung bahas kolom kanan.</a:t>
            </a:r>
            <a:endParaRPr/>
          </a:p>
        </p:txBody>
      </p:sp>
      <p:sp>
        <p:nvSpPr>
          <p:cNvPr id="135" name="Google Shape;135;g3f696ea5b6b_2_79: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f696ea5b6b_2_10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g3f696ea5b6b_2_10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Pertanyaan yang sering muncul: 'kenapa freemium, bukan komisi per transaksi?' Jawaban: margin UMKM kuliner tipis, potongan per transaksi terasa langsung dan membuat mereka kembali ke cara manual.</a:t>
            </a:r>
            <a:endParaRPr/>
          </a:p>
        </p:txBody>
      </p:sp>
      <p:sp>
        <p:nvSpPr>
          <p:cNvPr id="165" name="Google Shape;165;g3f696ea5b6b_2_10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f696ea5b6b_2_13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g3f696ea5b6b_2_13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Sebutkan singkat bahwa langkah 04 adalah titik paling kritis, lalu bilang detail teknisnya dibahas nanti — agar audiens menunggu bagian Technical Challenge.</a:t>
            </a:r>
            <a:endParaRPr/>
          </a:p>
        </p:txBody>
      </p:sp>
      <p:sp>
        <p:nvSpPr>
          <p:cNvPr id="193" name="Google Shape;193;g3f696ea5b6b_2_13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f696ea5b6b_2_18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g3f696ea5b6b_2_18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Ambil screenshot dalam tampilan mobile untuk sisi pelanggan — mereka memesan dari HP, dan itu memperkuat klaim responsive. Pastikan data seeder terlihat penuh; tabel kosong membuat aplikasi terlihat belum selesai.</a:t>
            </a:r>
            <a:endParaRPr/>
          </a:p>
        </p:txBody>
      </p:sp>
      <p:sp>
        <p:nvSpPr>
          <p:cNvPr id="244" name="Google Shape;244;g3f696ea5b6b_2_18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f696ea5b6b_2_21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g3f696ea5b6b_2_21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Jangan sebut 'karena populer' sebagai alasan. Setiap pilihan harus terikat ke kebutuhan project ini.</a:t>
            </a:r>
            <a:endParaRPr/>
          </a:p>
        </p:txBody>
      </p:sp>
      <p:sp>
        <p:nvSpPr>
          <p:cNvPr id="276" name="Google Shape;276;g3f696ea5b6b_2_21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f696ea5b6b_2_24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g3f696ea5b6b_2_24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Tiga jalur itu: checkout pelanggan, order manual kasir, dan penyesuaian stok admin. Itu alasan konkret adanya Service layer — bukan sekadar mengikuti pola.</a:t>
            </a:r>
            <a:endParaRPr/>
          </a:p>
        </p:txBody>
      </p:sp>
      <p:sp>
        <p:nvSpPr>
          <p:cNvPr id="301" name="Google Shape;301;g3f696ea5b6b_2_24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f696ea5b6b_2_26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6" name="Google Shape;326;g3f696ea5b6b_2_26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Pertanyaan yang hampir pasti muncul: 'kenapa nama produk disimpan lagi di order_items padahal sudah ada di products?' Jawabannya: kalau nama atau harga menu diubah bulan depan, struk lama harus tetap menampilkan yang dulu dibeli.</a:t>
            </a:r>
            <a:endParaRPr/>
          </a:p>
        </p:txBody>
      </p:sp>
      <p:sp>
        <p:nvSpPr>
          <p:cNvPr id="327" name="Google Shape;327;g3f696ea5b6b_2_26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f696ea5b6b_2_28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 name="Google Shape;339;g3f696ea5b6b_2_28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Buka Postman atau Swagger sebentar di sini kalau waktu memungkinkan. Dokumentasi hidup lebih meyakinkan daripada daftar endpoint di slide.</a:t>
            </a:r>
            <a:endParaRPr/>
          </a:p>
        </p:txBody>
      </p:sp>
      <p:sp>
        <p:nvSpPr>
          <p:cNvPr id="340" name="Google Shape;340;g3f696ea5b6b_2_28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f696ea5b6b_2_31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4" name="Google Shape;374;g3f696ea5b6b_2_31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PENTING: kolom Impact masih berupa target, bukan hasil pengukuran. Setelah aplikasi jadi, jalankan tiga skenario uji di blueprint (k6/JMeter) dan ganti dengan angka nyata — misalnya '50 request paralel pada stok 1: 1 berhasil, 49 ditolak 422, stok akhir tepat 0'. Angka konkret adalah pembeda terbesar di sesi penilaian, dan latar QA Anda membuat ini masuk akal untuk ditunjukkan. Siapkan juga penjelasan kenapa penguncian harus berurutan menurut id: dua keranjang dengan produk sama tapi urutan berbeda bisa saling mengunci dan memicu deadlock.</a:t>
            </a:r>
            <a:endParaRPr/>
          </a:p>
        </p:txBody>
      </p:sp>
      <p:sp>
        <p:nvSpPr>
          <p:cNvPr id="375" name="Google Shape;375;g3f696ea5b6b_2_31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f696ea5b6b_2_34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0" name="Google Shape;400;g3f696ea5b6b_2_34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Kalau jadwal Anda meleset dari rencana, ubah slide ini agar sesuai kenyataan. Penguji lebih menghargai refleksi jujur daripada timeline yang terlihat mulus.</a:t>
            </a:r>
            <a:endParaRPr/>
          </a:p>
        </p:txBody>
      </p:sp>
      <p:sp>
        <p:nvSpPr>
          <p:cNvPr id="401" name="Google Shape;401;g3f696ea5b6b_2_34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f696ea5b6b_2_37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3" name="Google Shape;433;g3f696ea5b6b_2_37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Kalau CI belum sempat dibuat, hapus barisnya. Klaim tanpa bukti lebih merugikan daripada daftar yang lebih pendek.</a:t>
            </a:r>
            <a:endParaRPr/>
          </a:p>
        </p:txBody>
      </p:sp>
      <p:sp>
        <p:nvSpPr>
          <p:cNvPr id="434" name="Google Shape;434;g3f696ea5b6b_2_37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f696ea5b6b_2_39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2" name="Google Shape;452;g3f696ea5b6b_2_39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Sisakan 5 menit untuk QnA. Pertanyaan yang paling mungkin muncul: (1) bagaimana menangani dua pelanggan memesan porsi terakhir bersamaan, (2) kenapa memilih Laravel dibanding Node atau Spring, (3) bagaimana mencegah pelanggan mengubah harga lewat payload. Siapkan jawaban ketiganya. Pastikan seluruh tautan berstatus open access sebelum dikumpulkan.</a:t>
            </a:r>
            <a:endParaRPr/>
          </a:p>
        </p:txBody>
      </p:sp>
      <p:sp>
        <p:nvSpPr>
          <p:cNvPr id="453" name="Google Shape;453;g3f696ea5b6b_2_39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214"/>
        </a:solidFill>
      </p:bgPr>
    </p:bg>
    <p:spTree>
      <p:nvGrpSpPr>
        <p:cNvPr id="56" name="Shape 56"/>
        <p:cNvGrpSpPr/>
        <p:nvPr/>
      </p:nvGrpSpPr>
      <p:grpSpPr>
        <a:xfrm>
          <a:off x="0" y="0"/>
          <a:ext cx="0" cy="0"/>
          <a:chOff x="0" y="0"/>
          <a:chExt cx="0" cy="0"/>
        </a:xfrm>
      </p:grpSpPr>
      <p:sp>
        <p:nvSpPr>
          <p:cNvPr id="57" name="Google Shape;57;p15"/>
          <p:cNvSpPr/>
          <p:nvPr/>
        </p:nvSpPr>
        <p:spPr>
          <a:xfrm>
            <a:off x="6515100" y="-1028700"/>
            <a:ext cx="4114800" cy="4114800"/>
          </a:xfrm>
          <a:prstGeom prst="ellipse">
            <a:avLst/>
          </a:prstGeom>
          <a:solidFill>
            <a:srgbClr val="3A2A2E"/>
          </a:solidFill>
          <a:ln cap="flat" cmpd="sng" w="12700">
            <a:solidFill>
              <a:srgbClr val="3A2A2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8" name="Google Shape;58;p15"/>
          <p:cNvSpPr/>
          <p:nvPr/>
        </p:nvSpPr>
        <p:spPr>
          <a:xfrm>
            <a:off x="7749540" y="3086100"/>
            <a:ext cx="2194560" cy="2194560"/>
          </a:xfrm>
          <a:prstGeom prst="ellipse">
            <a:avLst/>
          </a:prstGeom>
          <a:solidFill>
            <a:srgbClr val="241819"/>
          </a:solidFill>
          <a:ln cap="flat" cmpd="sng" w="12700">
            <a:solidFill>
              <a:srgbClr val="24181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9" name="Google Shape;59;p15"/>
          <p:cNvSpPr/>
          <p:nvPr/>
        </p:nvSpPr>
        <p:spPr>
          <a:xfrm>
            <a:off x="445770" y="1200150"/>
            <a:ext cx="61722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4D"/>
              </a:buClr>
              <a:buSzPts val="900"/>
              <a:buFont typeface="Calibri"/>
              <a:buNone/>
            </a:pPr>
            <a:r>
              <a:rPr b="1" i="0" lang="en" sz="900" u="none" cap="none" strike="noStrike">
                <a:solidFill>
                  <a:srgbClr val="FFB84D"/>
                </a:solidFill>
                <a:latin typeface="Calibri"/>
                <a:ea typeface="Calibri"/>
                <a:cs typeface="Calibri"/>
                <a:sym typeface="Calibri"/>
              </a:rPr>
              <a:t>FULL STACK WEB DEVELOPMENT BOOTCAMP  •  FINAL PROJECT</a:t>
            </a:r>
            <a:endParaRPr b="0" i="0" sz="900" u="none" cap="none" strike="noStrike">
              <a:solidFill>
                <a:schemeClr val="dk1"/>
              </a:solidFill>
              <a:latin typeface="Calibri"/>
              <a:ea typeface="Calibri"/>
              <a:cs typeface="Calibri"/>
              <a:sym typeface="Calibri"/>
            </a:endParaRPr>
          </a:p>
        </p:txBody>
      </p:sp>
      <p:sp>
        <p:nvSpPr>
          <p:cNvPr id="60" name="Google Shape;60;p15"/>
          <p:cNvSpPr/>
          <p:nvPr/>
        </p:nvSpPr>
        <p:spPr>
          <a:xfrm>
            <a:off x="445770" y="1474470"/>
            <a:ext cx="6172200" cy="78867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700"/>
              <a:buFont typeface="Calibri"/>
              <a:buNone/>
            </a:pPr>
            <a:r>
              <a:rPr b="1" i="0" lang="en" sz="4700" u="none" cap="none" strike="noStrike">
                <a:solidFill>
                  <a:srgbClr val="FFFFFF"/>
                </a:solidFill>
                <a:latin typeface="Calibri"/>
                <a:ea typeface="Calibri"/>
                <a:cs typeface="Calibri"/>
                <a:sym typeface="Calibri"/>
              </a:rPr>
              <a:t>AntriGo</a:t>
            </a:r>
            <a:endParaRPr b="0" i="0" sz="4700" u="none" cap="none" strike="noStrike">
              <a:solidFill>
                <a:schemeClr val="dk1"/>
              </a:solidFill>
              <a:latin typeface="Calibri"/>
              <a:ea typeface="Calibri"/>
              <a:cs typeface="Calibri"/>
              <a:sym typeface="Calibri"/>
            </a:endParaRPr>
          </a:p>
        </p:txBody>
      </p:sp>
      <p:sp>
        <p:nvSpPr>
          <p:cNvPr id="61" name="Google Shape;61;p15"/>
          <p:cNvSpPr/>
          <p:nvPr/>
        </p:nvSpPr>
        <p:spPr>
          <a:xfrm>
            <a:off x="445770" y="2276856"/>
            <a:ext cx="589788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4D"/>
              </a:buClr>
              <a:buSzPts val="1400"/>
              <a:buFont typeface="Calibri"/>
              <a:buNone/>
            </a:pPr>
            <a:r>
              <a:rPr b="0" i="0" lang="en" sz="1400" u="none" cap="none" strike="noStrike">
                <a:solidFill>
                  <a:srgbClr val="FFB84D"/>
                </a:solidFill>
                <a:latin typeface="Calibri"/>
                <a:ea typeface="Calibri"/>
                <a:cs typeface="Calibri"/>
                <a:sym typeface="Calibri"/>
              </a:rPr>
              <a:t>Self-Order &amp; Antrean Digital untuk UMKM Kuliner</a:t>
            </a:r>
            <a:endParaRPr b="0" i="0" sz="1400" u="none" cap="none" strike="noStrike">
              <a:solidFill>
                <a:schemeClr val="dk1"/>
              </a:solidFill>
              <a:latin typeface="Calibri"/>
              <a:ea typeface="Calibri"/>
              <a:cs typeface="Calibri"/>
              <a:sym typeface="Calibri"/>
            </a:endParaRPr>
          </a:p>
        </p:txBody>
      </p:sp>
      <p:sp>
        <p:nvSpPr>
          <p:cNvPr id="62" name="Google Shape;62;p15"/>
          <p:cNvSpPr/>
          <p:nvPr/>
        </p:nvSpPr>
        <p:spPr>
          <a:xfrm>
            <a:off x="445770" y="2846070"/>
            <a:ext cx="754380" cy="24003"/>
          </a:xfrm>
          <a:prstGeom prst="rect">
            <a:avLst/>
          </a:prstGeom>
          <a:solidFill>
            <a:srgbClr val="F5533D"/>
          </a:solidFill>
          <a:ln cap="flat" cmpd="sng" w="12700">
            <a:solidFill>
              <a:srgbClr val="F5533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3" name="Google Shape;63;p15"/>
          <p:cNvSpPr/>
          <p:nvPr/>
        </p:nvSpPr>
        <p:spPr>
          <a:xfrm>
            <a:off x="445770" y="3051810"/>
            <a:ext cx="4114800"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 sz="1500" u="none" cap="none" strike="noStrike">
                <a:solidFill>
                  <a:srgbClr val="FFFFFF"/>
                </a:solidFill>
                <a:latin typeface="Calibri"/>
                <a:ea typeface="Calibri"/>
                <a:cs typeface="Calibri"/>
                <a:sym typeface="Calibri"/>
              </a:rPr>
              <a:t>Aditya</a:t>
            </a:r>
            <a:endParaRPr b="0" i="0" sz="1500" u="none" cap="none" strike="noStrike">
              <a:solidFill>
                <a:schemeClr val="dk1"/>
              </a:solidFill>
              <a:latin typeface="Calibri"/>
              <a:ea typeface="Calibri"/>
              <a:cs typeface="Calibri"/>
              <a:sym typeface="Calibri"/>
            </a:endParaRPr>
          </a:p>
        </p:txBody>
      </p:sp>
      <p:sp>
        <p:nvSpPr>
          <p:cNvPr id="64" name="Google Shape;64;p15"/>
          <p:cNvSpPr/>
          <p:nvPr/>
        </p:nvSpPr>
        <p:spPr>
          <a:xfrm>
            <a:off x="445770" y="3346704"/>
            <a:ext cx="5486400"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B2B6"/>
              </a:buClr>
              <a:buSzPts val="1000"/>
              <a:buFont typeface="Calibri"/>
              <a:buNone/>
            </a:pPr>
            <a:r>
              <a:rPr b="0" i="0" lang="en" sz="1000" u="none" cap="none" strike="noStrike">
                <a:solidFill>
                  <a:srgbClr val="C4B2B6"/>
                </a:solidFill>
                <a:latin typeface="Calibri"/>
                <a:ea typeface="Calibri"/>
                <a:cs typeface="Calibri"/>
                <a:sym typeface="Calibri"/>
              </a:rPr>
              <a:t>QA Automation Engineer  →  Full Stack Web Developer</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214"/>
        </a:solidFill>
      </p:bgPr>
    </p:bg>
    <p:spTree>
      <p:nvGrpSpPr>
        <p:cNvPr id="69" name="Shape 69"/>
        <p:cNvGrpSpPr/>
        <p:nvPr/>
      </p:nvGrpSpPr>
      <p:grpSpPr>
        <a:xfrm>
          <a:off x="0" y="0"/>
          <a:ext cx="0" cy="0"/>
          <a:chOff x="0" y="0"/>
          <a:chExt cx="0" cy="0"/>
        </a:xfrm>
      </p:grpSpPr>
      <p:sp>
        <p:nvSpPr>
          <p:cNvPr id="70" name="Google Shape;70;p16"/>
          <p:cNvSpPr/>
          <p:nvPr/>
        </p:nvSpPr>
        <p:spPr>
          <a:xfrm>
            <a:off x="445770" y="288036"/>
            <a:ext cx="822960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4D"/>
              </a:buClr>
              <a:buSzPts val="800"/>
              <a:buFont typeface="Calibri"/>
              <a:buNone/>
            </a:pPr>
            <a:r>
              <a:rPr b="1" i="0" lang="en" sz="800" u="none" cap="none" strike="noStrike">
                <a:solidFill>
                  <a:srgbClr val="FFB84D"/>
                </a:solidFill>
                <a:latin typeface="Calibri"/>
                <a:ea typeface="Calibri"/>
                <a:cs typeface="Calibri"/>
                <a:sym typeface="Calibri"/>
              </a:rPr>
              <a:t>INTRODUCTION</a:t>
            </a:r>
            <a:endParaRPr b="0" i="0" sz="800" u="none" cap="none" strike="noStrike">
              <a:solidFill>
                <a:schemeClr val="dk1"/>
              </a:solidFill>
              <a:latin typeface="Calibri"/>
              <a:ea typeface="Calibri"/>
              <a:cs typeface="Calibri"/>
              <a:sym typeface="Calibri"/>
            </a:endParaRPr>
          </a:p>
        </p:txBody>
      </p:sp>
      <p:sp>
        <p:nvSpPr>
          <p:cNvPr id="71" name="Google Shape;71;p16"/>
          <p:cNvSpPr/>
          <p:nvPr/>
        </p:nvSpPr>
        <p:spPr>
          <a:xfrm>
            <a:off x="445770" y="493776"/>
            <a:ext cx="8229600" cy="4251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300"/>
              <a:buFont typeface="Calibri"/>
              <a:buNone/>
            </a:pPr>
            <a:r>
              <a:rPr b="1" i="0" lang="en" sz="2300" u="none" cap="none" strike="noStrike">
                <a:solidFill>
                  <a:srgbClr val="FFFFFF"/>
                </a:solidFill>
                <a:latin typeface="Calibri"/>
                <a:ea typeface="Calibri"/>
                <a:cs typeface="Calibri"/>
                <a:sym typeface="Calibri"/>
              </a:rPr>
              <a:t>Perkenalan Singkat</a:t>
            </a:r>
            <a:endParaRPr b="0" i="0" sz="2300" u="none" cap="none" strike="noStrike">
              <a:solidFill>
                <a:schemeClr val="dk1"/>
              </a:solidFill>
              <a:latin typeface="Calibri"/>
              <a:ea typeface="Calibri"/>
              <a:cs typeface="Calibri"/>
              <a:sym typeface="Calibri"/>
            </a:endParaRPr>
          </a:p>
        </p:txBody>
      </p:sp>
      <p:sp>
        <p:nvSpPr>
          <p:cNvPr id="72" name="Google Shape;72;p16"/>
          <p:cNvSpPr/>
          <p:nvPr/>
        </p:nvSpPr>
        <p:spPr>
          <a:xfrm>
            <a:off x="445770" y="1179576"/>
            <a:ext cx="2626614" cy="2777490"/>
          </a:xfrm>
          <a:prstGeom prst="roundRect">
            <a:avLst>
              <a:gd fmla="val 2611" name="adj"/>
            </a:avLst>
          </a:prstGeom>
          <a:solidFill>
            <a:srgbClr val="2B1F22"/>
          </a:solidFill>
          <a:ln cap="flat" cmpd="sng" w="12700">
            <a:solidFill>
              <a:srgbClr val="2B1F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3" name="Google Shape;73;p16"/>
          <p:cNvSpPr/>
          <p:nvPr/>
        </p:nvSpPr>
        <p:spPr>
          <a:xfrm>
            <a:off x="665226" y="1405890"/>
            <a:ext cx="288036" cy="288036"/>
          </a:xfrm>
          <a:prstGeom prst="ellipse">
            <a:avLst/>
          </a:prstGeom>
          <a:solidFill>
            <a:srgbClr val="FFB84D"/>
          </a:solidFill>
          <a:ln cap="flat" cmpd="sng" w="12700">
            <a:solidFill>
              <a:srgbClr val="FFB84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4" name="Google Shape;74;p16"/>
          <p:cNvSpPr/>
          <p:nvPr/>
        </p:nvSpPr>
        <p:spPr>
          <a:xfrm>
            <a:off x="665226" y="1405890"/>
            <a:ext cx="288036" cy="2880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214"/>
              </a:buClr>
              <a:buSzPts val="1000"/>
              <a:buFont typeface="Calibri"/>
              <a:buNone/>
            </a:pPr>
            <a:r>
              <a:rPr b="1" i="0" lang="en" sz="1000" u="none" cap="none" strike="noStrike">
                <a:solidFill>
                  <a:srgbClr val="1A1214"/>
                </a:solidFill>
                <a:latin typeface="Calibri"/>
                <a:ea typeface="Calibri"/>
                <a:cs typeface="Calibri"/>
                <a:sym typeface="Calibri"/>
              </a:rPr>
              <a:t>01</a:t>
            </a:r>
            <a:endParaRPr b="0" i="0" sz="1000" u="none" cap="none" strike="noStrike">
              <a:solidFill>
                <a:schemeClr val="dk1"/>
              </a:solidFill>
              <a:latin typeface="Calibri"/>
              <a:ea typeface="Calibri"/>
              <a:cs typeface="Calibri"/>
              <a:sym typeface="Calibri"/>
            </a:endParaRPr>
          </a:p>
        </p:txBody>
      </p:sp>
      <p:sp>
        <p:nvSpPr>
          <p:cNvPr id="75" name="Google Shape;75;p16"/>
          <p:cNvSpPr/>
          <p:nvPr/>
        </p:nvSpPr>
        <p:spPr>
          <a:xfrm>
            <a:off x="665226" y="1796796"/>
            <a:ext cx="218770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 sz="1300" u="none" cap="none" strike="noStrike">
                <a:solidFill>
                  <a:srgbClr val="FFFFFF"/>
                </a:solidFill>
                <a:latin typeface="Calibri"/>
                <a:ea typeface="Calibri"/>
                <a:cs typeface="Calibri"/>
                <a:sym typeface="Calibri"/>
              </a:rPr>
              <a:t>Self-Overview</a:t>
            </a:r>
            <a:endParaRPr b="0" i="0" sz="1300" u="none" cap="none" strike="noStrike">
              <a:solidFill>
                <a:schemeClr val="dk1"/>
              </a:solidFill>
              <a:latin typeface="Calibri"/>
              <a:ea typeface="Calibri"/>
              <a:cs typeface="Calibri"/>
              <a:sym typeface="Calibri"/>
            </a:endParaRPr>
          </a:p>
        </p:txBody>
      </p:sp>
      <p:sp>
        <p:nvSpPr>
          <p:cNvPr id="76" name="Google Shape;76;p16"/>
          <p:cNvSpPr/>
          <p:nvPr/>
        </p:nvSpPr>
        <p:spPr>
          <a:xfrm>
            <a:off x="665226" y="2112264"/>
            <a:ext cx="2187702" cy="1748790"/>
          </a:xfrm>
          <a:prstGeom prst="rect">
            <a:avLst/>
          </a:prstGeom>
          <a:noFill/>
          <a:ln>
            <a:noFill/>
          </a:ln>
        </p:spPr>
        <p:txBody>
          <a:bodyPr anchorCtr="0" anchor="t" bIns="0" lIns="0" spcFirstLastPara="1" rIns="0" wrap="square" tIns="0">
            <a:noAutofit/>
          </a:bodyPr>
          <a:lstStyle/>
          <a:p>
            <a:pPr indent="0" lvl="0" marL="0" marR="0" rtl="0" algn="l">
              <a:lnSpc>
                <a:spcPct val="141666"/>
              </a:lnSpc>
              <a:spcBef>
                <a:spcPts val="0"/>
              </a:spcBef>
              <a:spcAft>
                <a:spcPts val="0"/>
              </a:spcAft>
              <a:buClr>
                <a:srgbClr val="C4B2B6"/>
              </a:buClr>
              <a:buSzPts val="900"/>
              <a:buFont typeface="Calibri"/>
              <a:buNone/>
            </a:pPr>
            <a:r>
              <a:rPr b="0" i="0" lang="en" sz="900" u="none" cap="none" strike="noStrike">
                <a:solidFill>
                  <a:srgbClr val="C4B2B6"/>
                </a:solidFill>
                <a:latin typeface="Calibri"/>
                <a:ea typeface="Calibri"/>
                <a:cs typeface="Calibri"/>
                <a:sym typeface="Calibri"/>
              </a:rPr>
              <a:t>QA Automation Engineer yang sedang bertransisi ke full stack development. Terbiasa membedah sistem dari sisi pengujian — kebiasaan yang kini saya bawa ke sisi pembangunannya: memikirkan edge case dan kegagalan sejak tahap desain, bukan setelah rilis.</a:t>
            </a:r>
            <a:endParaRPr b="0" i="0" sz="900" u="none" cap="none" strike="noStrike">
              <a:solidFill>
                <a:schemeClr val="dk1"/>
              </a:solidFill>
              <a:latin typeface="Calibri"/>
              <a:ea typeface="Calibri"/>
              <a:cs typeface="Calibri"/>
              <a:sym typeface="Calibri"/>
            </a:endParaRPr>
          </a:p>
        </p:txBody>
      </p:sp>
      <p:sp>
        <p:nvSpPr>
          <p:cNvPr id="77" name="Google Shape;77;p16"/>
          <p:cNvSpPr/>
          <p:nvPr/>
        </p:nvSpPr>
        <p:spPr>
          <a:xfrm>
            <a:off x="3243834" y="1179576"/>
            <a:ext cx="2626614" cy="2777490"/>
          </a:xfrm>
          <a:prstGeom prst="roundRect">
            <a:avLst>
              <a:gd fmla="val 2611" name="adj"/>
            </a:avLst>
          </a:prstGeom>
          <a:solidFill>
            <a:srgbClr val="2B1F22"/>
          </a:solidFill>
          <a:ln cap="flat" cmpd="sng" w="12700">
            <a:solidFill>
              <a:srgbClr val="2B1F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8" name="Google Shape;78;p16"/>
          <p:cNvSpPr/>
          <p:nvPr/>
        </p:nvSpPr>
        <p:spPr>
          <a:xfrm>
            <a:off x="3463290" y="1405890"/>
            <a:ext cx="288036" cy="288036"/>
          </a:xfrm>
          <a:prstGeom prst="ellipse">
            <a:avLst/>
          </a:prstGeom>
          <a:solidFill>
            <a:srgbClr val="FFB84D"/>
          </a:solidFill>
          <a:ln cap="flat" cmpd="sng" w="12700">
            <a:solidFill>
              <a:srgbClr val="FFB84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9" name="Google Shape;79;p16"/>
          <p:cNvSpPr/>
          <p:nvPr/>
        </p:nvSpPr>
        <p:spPr>
          <a:xfrm>
            <a:off x="3463290" y="1405890"/>
            <a:ext cx="288036" cy="2880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214"/>
              </a:buClr>
              <a:buSzPts val="1000"/>
              <a:buFont typeface="Calibri"/>
              <a:buNone/>
            </a:pPr>
            <a:r>
              <a:rPr b="1" i="0" lang="en" sz="1000" u="none" cap="none" strike="noStrike">
                <a:solidFill>
                  <a:srgbClr val="1A1214"/>
                </a:solidFill>
                <a:latin typeface="Calibri"/>
                <a:ea typeface="Calibri"/>
                <a:cs typeface="Calibri"/>
                <a:sym typeface="Calibri"/>
              </a:rPr>
              <a:t>02</a:t>
            </a:r>
            <a:endParaRPr b="0" i="0" sz="1000" u="none" cap="none" strike="noStrike">
              <a:solidFill>
                <a:schemeClr val="dk1"/>
              </a:solidFill>
              <a:latin typeface="Calibri"/>
              <a:ea typeface="Calibri"/>
              <a:cs typeface="Calibri"/>
              <a:sym typeface="Calibri"/>
            </a:endParaRPr>
          </a:p>
        </p:txBody>
      </p:sp>
      <p:sp>
        <p:nvSpPr>
          <p:cNvPr id="80" name="Google Shape;80;p16"/>
          <p:cNvSpPr/>
          <p:nvPr/>
        </p:nvSpPr>
        <p:spPr>
          <a:xfrm>
            <a:off x="3463290" y="1796796"/>
            <a:ext cx="218770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 sz="1300" u="none" cap="none" strike="noStrike">
                <a:solidFill>
                  <a:srgbClr val="FFFFFF"/>
                </a:solidFill>
                <a:latin typeface="Calibri"/>
                <a:ea typeface="Calibri"/>
                <a:cs typeface="Calibri"/>
                <a:sym typeface="Calibri"/>
              </a:rPr>
              <a:t>Education</a:t>
            </a:r>
            <a:endParaRPr b="0" i="0" sz="1300" u="none" cap="none" strike="noStrike">
              <a:solidFill>
                <a:schemeClr val="dk1"/>
              </a:solidFill>
              <a:latin typeface="Calibri"/>
              <a:ea typeface="Calibri"/>
              <a:cs typeface="Calibri"/>
              <a:sym typeface="Calibri"/>
            </a:endParaRPr>
          </a:p>
        </p:txBody>
      </p:sp>
      <p:sp>
        <p:nvSpPr>
          <p:cNvPr id="81" name="Google Shape;81;p16"/>
          <p:cNvSpPr/>
          <p:nvPr/>
        </p:nvSpPr>
        <p:spPr>
          <a:xfrm>
            <a:off x="3463290" y="2112264"/>
            <a:ext cx="2187702" cy="1748790"/>
          </a:xfrm>
          <a:prstGeom prst="rect">
            <a:avLst/>
          </a:prstGeom>
          <a:noFill/>
          <a:ln>
            <a:noFill/>
          </a:ln>
        </p:spPr>
        <p:txBody>
          <a:bodyPr anchorCtr="0" anchor="t" bIns="0" lIns="0" spcFirstLastPara="1" rIns="0" wrap="square" tIns="0">
            <a:noAutofit/>
          </a:bodyPr>
          <a:lstStyle/>
          <a:p>
            <a:pPr indent="0" lvl="0" marL="0" marR="0" rtl="0" algn="l">
              <a:lnSpc>
                <a:spcPct val="141666"/>
              </a:lnSpc>
              <a:spcBef>
                <a:spcPts val="0"/>
              </a:spcBef>
              <a:spcAft>
                <a:spcPts val="0"/>
              </a:spcAft>
              <a:buClr>
                <a:srgbClr val="FFB84D"/>
              </a:buClr>
              <a:buSzPts val="900"/>
              <a:buFont typeface="Calibri"/>
              <a:buNone/>
            </a:pPr>
            <a:r>
              <a:rPr lang="en" sz="900">
                <a:solidFill>
                  <a:srgbClr val="FFB84D"/>
                </a:solidFill>
                <a:latin typeface="Calibri"/>
                <a:ea typeface="Calibri"/>
                <a:cs typeface="Calibri"/>
                <a:sym typeface="Calibri"/>
              </a:rPr>
              <a:t>Sarjana Teknik Informatika – Universitas Muhammadiyah Tangerang</a:t>
            </a:r>
            <a:endParaRPr b="0" i="0" sz="900" u="none" cap="none" strike="noStrike">
              <a:solidFill>
                <a:schemeClr val="dk1"/>
              </a:solidFill>
              <a:latin typeface="Calibri"/>
              <a:ea typeface="Calibri"/>
              <a:cs typeface="Calibri"/>
              <a:sym typeface="Calibri"/>
            </a:endParaRPr>
          </a:p>
        </p:txBody>
      </p:sp>
      <p:sp>
        <p:nvSpPr>
          <p:cNvPr id="82" name="Google Shape;82;p16"/>
          <p:cNvSpPr/>
          <p:nvPr/>
        </p:nvSpPr>
        <p:spPr>
          <a:xfrm>
            <a:off x="6041898" y="1179576"/>
            <a:ext cx="2626614" cy="2777490"/>
          </a:xfrm>
          <a:prstGeom prst="roundRect">
            <a:avLst>
              <a:gd fmla="val 2611" name="adj"/>
            </a:avLst>
          </a:prstGeom>
          <a:solidFill>
            <a:srgbClr val="2B1F22"/>
          </a:solidFill>
          <a:ln cap="flat" cmpd="sng" w="12700">
            <a:solidFill>
              <a:srgbClr val="2B1F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3" name="Google Shape;83;p16"/>
          <p:cNvSpPr/>
          <p:nvPr/>
        </p:nvSpPr>
        <p:spPr>
          <a:xfrm>
            <a:off x="6261354" y="1405890"/>
            <a:ext cx="288036" cy="288036"/>
          </a:xfrm>
          <a:prstGeom prst="ellipse">
            <a:avLst/>
          </a:prstGeom>
          <a:solidFill>
            <a:srgbClr val="FFB84D"/>
          </a:solidFill>
          <a:ln cap="flat" cmpd="sng" w="12700">
            <a:solidFill>
              <a:srgbClr val="FFB84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4" name="Google Shape;84;p16"/>
          <p:cNvSpPr/>
          <p:nvPr/>
        </p:nvSpPr>
        <p:spPr>
          <a:xfrm>
            <a:off x="6261354" y="1405890"/>
            <a:ext cx="288036" cy="2880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214"/>
              </a:buClr>
              <a:buSzPts val="1000"/>
              <a:buFont typeface="Calibri"/>
              <a:buNone/>
            </a:pPr>
            <a:r>
              <a:rPr b="1" i="0" lang="en" sz="1000" u="none" cap="none" strike="noStrike">
                <a:solidFill>
                  <a:srgbClr val="1A1214"/>
                </a:solidFill>
                <a:latin typeface="Calibri"/>
                <a:ea typeface="Calibri"/>
                <a:cs typeface="Calibri"/>
                <a:sym typeface="Calibri"/>
              </a:rPr>
              <a:t>03</a:t>
            </a:r>
            <a:endParaRPr b="0" i="0" sz="1000" u="none" cap="none" strike="noStrike">
              <a:solidFill>
                <a:schemeClr val="dk1"/>
              </a:solidFill>
              <a:latin typeface="Calibri"/>
              <a:ea typeface="Calibri"/>
              <a:cs typeface="Calibri"/>
              <a:sym typeface="Calibri"/>
            </a:endParaRPr>
          </a:p>
        </p:txBody>
      </p:sp>
      <p:sp>
        <p:nvSpPr>
          <p:cNvPr id="85" name="Google Shape;85;p16"/>
          <p:cNvSpPr/>
          <p:nvPr/>
        </p:nvSpPr>
        <p:spPr>
          <a:xfrm>
            <a:off x="6261354" y="1796796"/>
            <a:ext cx="218770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 sz="1300" u="none" cap="none" strike="noStrike">
                <a:solidFill>
                  <a:srgbClr val="FFFFFF"/>
                </a:solidFill>
                <a:latin typeface="Calibri"/>
                <a:ea typeface="Calibri"/>
                <a:cs typeface="Calibri"/>
                <a:sym typeface="Calibri"/>
              </a:rPr>
              <a:t>Working Experience</a:t>
            </a:r>
            <a:endParaRPr b="0" i="0" sz="1300" u="none" cap="none" strike="noStrike">
              <a:solidFill>
                <a:schemeClr val="dk1"/>
              </a:solidFill>
              <a:latin typeface="Calibri"/>
              <a:ea typeface="Calibri"/>
              <a:cs typeface="Calibri"/>
              <a:sym typeface="Calibri"/>
            </a:endParaRPr>
          </a:p>
        </p:txBody>
      </p:sp>
      <p:sp>
        <p:nvSpPr>
          <p:cNvPr id="86" name="Google Shape;86;p16"/>
          <p:cNvSpPr/>
          <p:nvPr/>
        </p:nvSpPr>
        <p:spPr>
          <a:xfrm>
            <a:off x="6261354" y="2112264"/>
            <a:ext cx="2187702" cy="1748790"/>
          </a:xfrm>
          <a:prstGeom prst="rect">
            <a:avLst/>
          </a:prstGeom>
          <a:noFill/>
          <a:ln>
            <a:noFill/>
          </a:ln>
        </p:spPr>
        <p:txBody>
          <a:bodyPr anchorCtr="0" anchor="t" bIns="0" lIns="0" spcFirstLastPara="1" rIns="0" wrap="square" tIns="0">
            <a:noAutofit/>
          </a:bodyPr>
          <a:lstStyle/>
          <a:p>
            <a:pPr indent="0" lvl="0" marL="0" marR="0" rtl="0" algn="l">
              <a:lnSpc>
                <a:spcPct val="141666"/>
              </a:lnSpc>
              <a:spcBef>
                <a:spcPts val="0"/>
              </a:spcBef>
              <a:spcAft>
                <a:spcPts val="0"/>
              </a:spcAft>
              <a:buClr>
                <a:srgbClr val="C4B2B6"/>
              </a:buClr>
              <a:buSzPts val="900"/>
              <a:buFont typeface="Calibri"/>
              <a:buNone/>
            </a:pPr>
            <a:r>
              <a:rPr b="0" i="0" lang="en" sz="900" u="none" cap="none" strike="noStrike">
                <a:solidFill>
                  <a:srgbClr val="C4B2B6"/>
                </a:solidFill>
                <a:latin typeface="Calibri"/>
                <a:ea typeface="Calibri"/>
                <a:cs typeface="Calibri"/>
                <a:sym typeface="Calibri"/>
              </a:rPr>
              <a:t>Automation engineer untuk produk trade finance di sektor perbankan, membangun framework pengujian otomatis dengan Katalon Studio dan Groovy. Berpengalaman merancang test data terstruktur, integrasi CI/CD, dan pengujian API.</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214"/>
        </a:solidFill>
      </p:bgPr>
    </p:bg>
    <p:spTree>
      <p:nvGrpSpPr>
        <p:cNvPr id="91" name="Shape 91"/>
        <p:cNvGrpSpPr/>
        <p:nvPr/>
      </p:nvGrpSpPr>
      <p:grpSpPr>
        <a:xfrm>
          <a:off x="0" y="0"/>
          <a:ext cx="0" cy="0"/>
          <a:chOff x="0" y="0"/>
          <a:chExt cx="0" cy="0"/>
        </a:xfrm>
      </p:grpSpPr>
      <p:sp>
        <p:nvSpPr>
          <p:cNvPr id="92" name="Google Shape;92;p17"/>
          <p:cNvSpPr/>
          <p:nvPr/>
        </p:nvSpPr>
        <p:spPr>
          <a:xfrm>
            <a:off x="445770" y="288036"/>
            <a:ext cx="822960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4D"/>
              </a:buClr>
              <a:buSzPts val="800"/>
              <a:buFont typeface="Calibri"/>
              <a:buNone/>
            </a:pPr>
            <a:r>
              <a:rPr b="1" i="0" lang="en" sz="800" u="none" cap="none" strike="noStrike">
                <a:solidFill>
                  <a:srgbClr val="FFB84D"/>
                </a:solidFill>
                <a:latin typeface="Calibri"/>
                <a:ea typeface="Calibri"/>
                <a:cs typeface="Calibri"/>
                <a:sym typeface="Calibri"/>
              </a:rPr>
              <a:t>OVERVIEW PROJECT</a:t>
            </a:r>
            <a:endParaRPr b="0" i="0" sz="800" u="none" cap="none" strike="noStrike">
              <a:solidFill>
                <a:schemeClr val="dk1"/>
              </a:solidFill>
              <a:latin typeface="Calibri"/>
              <a:ea typeface="Calibri"/>
              <a:cs typeface="Calibri"/>
              <a:sym typeface="Calibri"/>
            </a:endParaRPr>
          </a:p>
        </p:txBody>
      </p:sp>
      <p:sp>
        <p:nvSpPr>
          <p:cNvPr id="93" name="Google Shape;93;p17"/>
          <p:cNvSpPr/>
          <p:nvPr/>
        </p:nvSpPr>
        <p:spPr>
          <a:xfrm>
            <a:off x="445770" y="493776"/>
            <a:ext cx="8229600" cy="4251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300"/>
              <a:buFont typeface="Calibri"/>
              <a:buNone/>
            </a:pPr>
            <a:r>
              <a:rPr b="1" i="0" lang="en" sz="2300" u="none" cap="none" strike="noStrike">
                <a:solidFill>
                  <a:srgbClr val="FFFFFF"/>
                </a:solidFill>
                <a:latin typeface="Calibri"/>
                <a:ea typeface="Calibri"/>
                <a:cs typeface="Calibri"/>
                <a:sym typeface="Calibri"/>
              </a:rPr>
              <a:t>Apa itu AntriGo</a:t>
            </a:r>
            <a:endParaRPr b="0" i="0" sz="2300" u="none" cap="none" strike="noStrike">
              <a:solidFill>
                <a:schemeClr val="dk1"/>
              </a:solidFill>
              <a:latin typeface="Calibri"/>
              <a:ea typeface="Calibri"/>
              <a:cs typeface="Calibri"/>
              <a:sym typeface="Calibri"/>
            </a:endParaRPr>
          </a:p>
        </p:txBody>
      </p:sp>
      <p:sp>
        <p:nvSpPr>
          <p:cNvPr id="94" name="Google Shape;94;p17"/>
          <p:cNvSpPr/>
          <p:nvPr/>
        </p:nvSpPr>
        <p:spPr>
          <a:xfrm>
            <a:off x="445770" y="1179576"/>
            <a:ext cx="5897880" cy="92583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C4B2B6"/>
              </a:buClr>
              <a:buSzPts val="1100"/>
              <a:buFont typeface="Calibri"/>
              <a:buNone/>
            </a:pPr>
            <a:r>
              <a:rPr b="0" i="0" lang="en" sz="1100" u="none" cap="none" strike="noStrike">
                <a:solidFill>
                  <a:srgbClr val="C4B2B6"/>
                </a:solidFill>
                <a:latin typeface="Calibri"/>
                <a:ea typeface="Calibri"/>
                <a:cs typeface="Calibri"/>
                <a:sym typeface="Calibri"/>
              </a:rPr>
              <a:t>Aplikasi self-order untuk warung dan kedai UMKM. Pelanggan memindai QR di meja, memilih menu, membayar, lalu menerima nomor antrean digital beserta estimasi waktu tunggu. Pemilik mengelola menu, stok, dan papan antrean dapur dari satu dashboard, sekaligus mendapat laporan penjualan otomatis.</a:t>
            </a:r>
            <a:endParaRPr b="0" i="0" sz="1100" u="none" cap="none" strike="noStrike">
              <a:solidFill>
                <a:schemeClr val="dk1"/>
              </a:solidFill>
              <a:latin typeface="Calibri"/>
              <a:ea typeface="Calibri"/>
              <a:cs typeface="Calibri"/>
              <a:sym typeface="Calibri"/>
            </a:endParaRPr>
          </a:p>
        </p:txBody>
      </p:sp>
      <p:sp>
        <p:nvSpPr>
          <p:cNvPr id="95" name="Google Shape;95;p17"/>
          <p:cNvSpPr/>
          <p:nvPr/>
        </p:nvSpPr>
        <p:spPr>
          <a:xfrm>
            <a:off x="445770" y="2263140"/>
            <a:ext cx="1954530" cy="1200150"/>
          </a:xfrm>
          <a:prstGeom prst="roundRect">
            <a:avLst>
              <a:gd fmla="val 5714" name="adj"/>
            </a:avLst>
          </a:prstGeom>
          <a:solidFill>
            <a:srgbClr val="2B1F22"/>
          </a:solidFill>
          <a:ln cap="flat" cmpd="sng" w="12700">
            <a:solidFill>
              <a:srgbClr val="2B1F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6" name="Google Shape;96;p17"/>
          <p:cNvSpPr/>
          <p:nvPr/>
        </p:nvSpPr>
        <p:spPr>
          <a:xfrm>
            <a:off x="637794" y="2386584"/>
            <a:ext cx="1570482" cy="5143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4D"/>
              </a:buClr>
              <a:buSzPts val="3000"/>
              <a:buFont typeface="Calibri"/>
              <a:buNone/>
            </a:pPr>
            <a:r>
              <a:rPr b="1" i="0" lang="en" sz="3000" u="none" cap="none" strike="noStrike">
                <a:solidFill>
                  <a:srgbClr val="FFB84D"/>
                </a:solidFill>
                <a:latin typeface="Calibri"/>
                <a:ea typeface="Calibri"/>
                <a:cs typeface="Calibri"/>
                <a:sym typeface="Calibri"/>
              </a:rPr>
              <a:t>2</a:t>
            </a:r>
            <a:endParaRPr b="0" i="0" sz="3000" u="none" cap="none" strike="noStrike">
              <a:solidFill>
                <a:schemeClr val="dk1"/>
              </a:solidFill>
              <a:latin typeface="Calibri"/>
              <a:ea typeface="Calibri"/>
              <a:cs typeface="Calibri"/>
              <a:sym typeface="Calibri"/>
            </a:endParaRPr>
          </a:p>
        </p:txBody>
      </p:sp>
      <p:sp>
        <p:nvSpPr>
          <p:cNvPr id="97" name="Google Shape;97;p17"/>
          <p:cNvSpPr/>
          <p:nvPr/>
        </p:nvSpPr>
        <p:spPr>
          <a:xfrm>
            <a:off x="637794" y="2894076"/>
            <a:ext cx="1570482" cy="466344"/>
          </a:xfrm>
          <a:prstGeom prst="rect">
            <a:avLst/>
          </a:prstGeom>
          <a:noFill/>
          <a:ln>
            <a:noFill/>
          </a:ln>
        </p:spPr>
        <p:txBody>
          <a:bodyPr anchorCtr="0" anchor="t" bIns="0" lIns="0" spcFirstLastPara="1" rIns="0" wrap="square" tIns="0">
            <a:noAutofit/>
          </a:bodyPr>
          <a:lstStyle/>
          <a:p>
            <a:pPr indent="0" lvl="0" marL="0" marR="0" rtl="0" algn="l">
              <a:lnSpc>
                <a:spcPct val="121739"/>
              </a:lnSpc>
              <a:spcBef>
                <a:spcPts val="0"/>
              </a:spcBef>
              <a:spcAft>
                <a:spcPts val="0"/>
              </a:spcAft>
              <a:buClr>
                <a:srgbClr val="C4B2B6"/>
              </a:buClr>
              <a:buSzPts val="900"/>
              <a:buFont typeface="Calibri"/>
              <a:buNone/>
            </a:pPr>
            <a:r>
              <a:rPr b="0" i="0" lang="en" sz="900" u="none" cap="none" strike="noStrike">
                <a:solidFill>
                  <a:srgbClr val="C4B2B6"/>
                </a:solidFill>
                <a:latin typeface="Calibri"/>
                <a:ea typeface="Calibri"/>
                <a:cs typeface="Calibri"/>
                <a:sym typeface="Calibri"/>
              </a:rPr>
              <a:t>Role terpisah</a:t>
            </a:r>
            <a:endParaRPr b="0" i="0" sz="900" u="none" cap="none" strike="noStrike">
              <a:solidFill>
                <a:schemeClr val="dk1"/>
              </a:solidFill>
              <a:latin typeface="Calibri"/>
              <a:ea typeface="Calibri"/>
              <a:cs typeface="Calibri"/>
              <a:sym typeface="Calibri"/>
            </a:endParaRPr>
          </a:p>
          <a:p>
            <a:pPr indent="0" lvl="0" marL="0" marR="0" rtl="0" algn="l">
              <a:lnSpc>
                <a:spcPct val="121739"/>
              </a:lnSpc>
              <a:spcBef>
                <a:spcPts val="0"/>
              </a:spcBef>
              <a:spcAft>
                <a:spcPts val="0"/>
              </a:spcAft>
              <a:buClr>
                <a:srgbClr val="C4B2B6"/>
              </a:buClr>
              <a:buSzPts val="900"/>
              <a:buFont typeface="Calibri"/>
              <a:buNone/>
            </a:pPr>
            <a:r>
              <a:rPr b="0" i="0" lang="en" sz="900" u="none" cap="none" strike="noStrike">
                <a:solidFill>
                  <a:srgbClr val="C4B2B6"/>
                </a:solidFill>
                <a:latin typeface="Calibri"/>
                <a:ea typeface="Calibri"/>
                <a:cs typeface="Calibri"/>
                <a:sym typeface="Calibri"/>
              </a:rPr>
              <a:t>Admin &amp; Pelanggan</a:t>
            </a:r>
            <a:endParaRPr b="0" i="0" sz="900" u="none" cap="none" strike="noStrike">
              <a:solidFill>
                <a:schemeClr val="dk1"/>
              </a:solidFill>
              <a:latin typeface="Calibri"/>
              <a:ea typeface="Calibri"/>
              <a:cs typeface="Calibri"/>
              <a:sym typeface="Calibri"/>
            </a:endParaRPr>
          </a:p>
        </p:txBody>
      </p:sp>
      <p:sp>
        <p:nvSpPr>
          <p:cNvPr id="98" name="Google Shape;98;p17"/>
          <p:cNvSpPr/>
          <p:nvPr/>
        </p:nvSpPr>
        <p:spPr>
          <a:xfrm>
            <a:off x="2537460" y="2263140"/>
            <a:ext cx="1954530" cy="1200150"/>
          </a:xfrm>
          <a:prstGeom prst="roundRect">
            <a:avLst>
              <a:gd fmla="val 5714" name="adj"/>
            </a:avLst>
          </a:prstGeom>
          <a:solidFill>
            <a:srgbClr val="2B1F22"/>
          </a:solidFill>
          <a:ln cap="flat" cmpd="sng" w="12700">
            <a:solidFill>
              <a:srgbClr val="2B1F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9" name="Google Shape;99;p17"/>
          <p:cNvSpPr/>
          <p:nvPr/>
        </p:nvSpPr>
        <p:spPr>
          <a:xfrm>
            <a:off x="2729484" y="2386584"/>
            <a:ext cx="1570482" cy="5143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4D"/>
              </a:buClr>
              <a:buSzPts val="3000"/>
              <a:buFont typeface="Calibri"/>
              <a:buNone/>
            </a:pPr>
            <a:r>
              <a:rPr b="1" i="0" lang="en" sz="3000" u="none" cap="none" strike="noStrike">
                <a:solidFill>
                  <a:srgbClr val="FFB84D"/>
                </a:solidFill>
                <a:latin typeface="Calibri"/>
                <a:ea typeface="Calibri"/>
                <a:cs typeface="Calibri"/>
                <a:sym typeface="Calibri"/>
              </a:rPr>
              <a:t>10</a:t>
            </a:r>
            <a:endParaRPr b="0" i="0" sz="3000" u="none" cap="none" strike="noStrike">
              <a:solidFill>
                <a:schemeClr val="dk1"/>
              </a:solidFill>
              <a:latin typeface="Calibri"/>
              <a:ea typeface="Calibri"/>
              <a:cs typeface="Calibri"/>
              <a:sym typeface="Calibri"/>
            </a:endParaRPr>
          </a:p>
        </p:txBody>
      </p:sp>
      <p:sp>
        <p:nvSpPr>
          <p:cNvPr id="100" name="Google Shape;100;p17"/>
          <p:cNvSpPr/>
          <p:nvPr/>
        </p:nvSpPr>
        <p:spPr>
          <a:xfrm>
            <a:off x="2729484" y="2894076"/>
            <a:ext cx="1570482" cy="466344"/>
          </a:xfrm>
          <a:prstGeom prst="rect">
            <a:avLst/>
          </a:prstGeom>
          <a:noFill/>
          <a:ln>
            <a:noFill/>
          </a:ln>
        </p:spPr>
        <p:txBody>
          <a:bodyPr anchorCtr="0" anchor="t" bIns="0" lIns="0" spcFirstLastPara="1" rIns="0" wrap="square" tIns="0">
            <a:noAutofit/>
          </a:bodyPr>
          <a:lstStyle/>
          <a:p>
            <a:pPr indent="0" lvl="0" marL="0" marR="0" rtl="0" algn="l">
              <a:lnSpc>
                <a:spcPct val="121739"/>
              </a:lnSpc>
              <a:spcBef>
                <a:spcPts val="0"/>
              </a:spcBef>
              <a:spcAft>
                <a:spcPts val="0"/>
              </a:spcAft>
              <a:buClr>
                <a:srgbClr val="C4B2B6"/>
              </a:buClr>
              <a:buSzPts val="900"/>
              <a:buFont typeface="Calibri"/>
              <a:buNone/>
            </a:pPr>
            <a:r>
              <a:rPr b="0" i="0" lang="en" sz="900" u="none" cap="none" strike="noStrike">
                <a:solidFill>
                  <a:srgbClr val="C4B2B6"/>
                </a:solidFill>
                <a:latin typeface="Calibri"/>
                <a:ea typeface="Calibri"/>
                <a:cs typeface="Calibri"/>
                <a:sym typeface="Calibri"/>
              </a:rPr>
              <a:t>Tabel relasional</a:t>
            </a:r>
            <a:endParaRPr b="0" i="0" sz="900" u="none" cap="none" strike="noStrike">
              <a:solidFill>
                <a:schemeClr val="dk1"/>
              </a:solidFill>
              <a:latin typeface="Calibri"/>
              <a:ea typeface="Calibri"/>
              <a:cs typeface="Calibri"/>
              <a:sym typeface="Calibri"/>
            </a:endParaRPr>
          </a:p>
          <a:p>
            <a:pPr indent="0" lvl="0" marL="0" marR="0" rtl="0" algn="l">
              <a:lnSpc>
                <a:spcPct val="121739"/>
              </a:lnSpc>
              <a:spcBef>
                <a:spcPts val="0"/>
              </a:spcBef>
              <a:spcAft>
                <a:spcPts val="0"/>
              </a:spcAft>
              <a:buClr>
                <a:srgbClr val="C4B2B6"/>
              </a:buClr>
              <a:buSzPts val="900"/>
              <a:buFont typeface="Calibri"/>
              <a:buNone/>
            </a:pPr>
            <a:r>
              <a:rPr b="0" i="0" lang="en" sz="900" u="none" cap="none" strike="noStrike">
                <a:solidFill>
                  <a:srgbClr val="C4B2B6"/>
                </a:solidFill>
                <a:latin typeface="Calibri"/>
                <a:ea typeface="Calibri"/>
                <a:cs typeface="Calibri"/>
                <a:sym typeface="Calibri"/>
              </a:rPr>
              <a:t>dengan ledger stok</a:t>
            </a:r>
            <a:endParaRPr b="0" i="0" sz="900" u="none" cap="none" strike="noStrike">
              <a:solidFill>
                <a:schemeClr val="dk1"/>
              </a:solidFill>
              <a:latin typeface="Calibri"/>
              <a:ea typeface="Calibri"/>
              <a:cs typeface="Calibri"/>
              <a:sym typeface="Calibri"/>
            </a:endParaRPr>
          </a:p>
        </p:txBody>
      </p:sp>
      <p:sp>
        <p:nvSpPr>
          <p:cNvPr id="101" name="Google Shape;101;p17"/>
          <p:cNvSpPr/>
          <p:nvPr/>
        </p:nvSpPr>
        <p:spPr>
          <a:xfrm>
            <a:off x="4629150" y="2263140"/>
            <a:ext cx="1954530" cy="1200150"/>
          </a:xfrm>
          <a:prstGeom prst="roundRect">
            <a:avLst>
              <a:gd fmla="val 5714" name="adj"/>
            </a:avLst>
          </a:prstGeom>
          <a:solidFill>
            <a:srgbClr val="2B1F22"/>
          </a:solidFill>
          <a:ln cap="flat" cmpd="sng" w="12700">
            <a:solidFill>
              <a:srgbClr val="2B1F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2" name="Google Shape;102;p17"/>
          <p:cNvSpPr/>
          <p:nvPr/>
        </p:nvSpPr>
        <p:spPr>
          <a:xfrm>
            <a:off x="4821174" y="2386584"/>
            <a:ext cx="1570482" cy="5143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4D"/>
              </a:buClr>
              <a:buSzPts val="3000"/>
              <a:buFont typeface="Calibri"/>
              <a:buNone/>
            </a:pPr>
            <a:r>
              <a:rPr b="1" i="0" lang="en" sz="3000" u="none" cap="none" strike="noStrike">
                <a:solidFill>
                  <a:srgbClr val="FFB84D"/>
                </a:solidFill>
                <a:latin typeface="Calibri"/>
                <a:ea typeface="Calibri"/>
                <a:cs typeface="Calibri"/>
                <a:sym typeface="Calibri"/>
              </a:rPr>
              <a:t>30+</a:t>
            </a:r>
            <a:endParaRPr b="0" i="0" sz="3000" u="none" cap="none" strike="noStrike">
              <a:solidFill>
                <a:schemeClr val="dk1"/>
              </a:solidFill>
              <a:latin typeface="Calibri"/>
              <a:ea typeface="Calibri"/>
              <a:cs typeface="Calibri"/>
              <a:sym typeface="Calibri"/>
            </a:endParaRPr>
          </a:p>
        </p:txBody>
      </p:sp>
      <p:sp>
        <p:nvSpPr>
          <p:cNvPr id="103" name="Google Shape;103;p17"/>
          <p:cNvSpPr/>
          <p:nvPr/>
        </p:nvSpPr>
        <p:spPr>
          <a:xfrm>
            <a:off x="4821174" y="2894076"/>
            <a:ext cx="1570482" cy="466344"/>
          </a:xfrm>
          <a:prstGeom prst="rect">
            <a:avLst/>
          </a:prstGeom>
          <a:noFill/>
          <a:ln>
            <a:noFill/>
          </a:ln>
        </p:spPr>
        <p:txBody>
          <a:bodyPr anchorCtr="0" anchor="t" bIns="0" lIns="0" spcFirstLastPara="1" rIns="0" wrap="square" tIns="0">
            <a:noAutofit/>
          </a:bodyPr>
          <a:lstStyle/>
          <a:p>
            <a:pPr indent="0" lvl="0" marL="0" marR="0" rtl="0" algn="l">
              <a:lnSpc>
                <a:spcPct val="121739"/>
              </a:lnSpc>
              <a:spcBef>
                <a:spcPts val="0"/>
              </a:spcBef>
              <a:spcAft>
                <a:spcPts val="0"/>
              </a:spcAft>
              <a:buClr>
                <a:srgbClr val="C4B2B6"/>
              </a:buClr>
              <a:buSzPts val="900"/>
              <a:buFont typeface="Calibri"/>
              <a:buNone/>
            </a:pPr>
            <a:r>
              <a:rPr b="0" i="0" lang="en" sz="900" u="none" cap="none" strike="noStrike">
                <a:solidFill>
                  <a:srgbClr val="C4B2B6"/>
                </a:solidFill>
                <a:latin typeface="Calibri"/>
                <a:ea typeface="Calibri"/>
                <a:cs typeface="Calibri"/>
                <a:sym typeface="Calibri"/>
              </a:rPr>
              <a:t>REST API endpoint</a:t>
            </a:r>
            <a:endParaRPr b="0" i="0" sz="900" u="none" cap="none" strike="noStrike">
              <a:solidFill>
                <a:schemeClr val="dk1"/>
              </a:solidFill>
              <a:latin typeface="Calibri"/>
              <a:ea typeface="Calibri"/>
              <a:cs typeface="Calibri"/>
              <a:sym typeface="Calibri"/>
            </a:endParaRPr>
          </a:p>
          <a:p>
            <a:pPr indent="0" lvl="0" marL="0" marR="0" rtl="0" algn="l">
              <a:lnSpc>
                <a:spcPct val="121739"/>
              </a:lnSpc>
              <a:spcBef>
                <a:spcPts val="0"/>
              </a:spcBef>
              <a:spcAft>
                <a:spcPts val="0"/>
              </a:spcAft>
              <a:buClr>
                <a:srgbClr val="C4B2B6"/>
              </a:buClr>
              <a:buSzPts val="900"/>
              <a:buFont typeface="Calibri"/>
              <a:buNone/>
            </a:pPr>
            <a:r>
              <a:rPr b="0" i="0" lang="en" sz="900" u="none" cap="none" strike="noStrike">
                <a:solidFill>
                  <a:srgbClr val="C4B2B6"/>
                </a:solidFill>
                <a:latin typeface="Calibri"/>
                <a:ea typeface="Calibri"/>
                <a:cs typeface="Calibri"/>
                <a:sym typeface="Calibri"/>
              </a:rPr>
              <a:t>terdokumentasi</a:t>
            </a:r>
            <a:endParaRPr b="0" i="0" sz="900" u="none" cap="none" strike="noStrike">
              <a:solidFill>
                <a:schemeClr val="dk1"/>
              </a:solidFill>
              <a:latin typeface="Calibri"/>
              <a:ea typeface="Calibri"/>
              <a:cs typeface="Calibri"/>
              <a:sym typeface="Calibri"/>
            </a:endParaRPr>
          </a:p>
        </p:txBody>
      </p:sp>
      <p:sp>
        <p:nvSpPr>
          <p:cNvPr id="104" name="Google Shape;104;p17"/>
          <p:cNvSpPr/>
          <p:nvPr/>
        </p:nvSpPr>
        <p:spPr>
          <a:xfrm>
            <a:off x="6720840" y="2263140"/>
            <a:ext cx="1954530" cy="1200150"/>
          </a:xfrm>
          <a:prstGeom prst="roundRect">
            <a:avLst>
              <a:gd fmla="val 5714" name="adj"/>
            </a:avLst>
          </a:prstGeom>
          <a:solidFill>
            <a:srgbClr val="2B1F22"/>
          </a:solidFill>
          <a:ln cap="flat" cmpd="sng" w="12700">
            <a:solidFill>
              <a:srgbClr val="2B1F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5" name="Google Shape;105;p17"/>
          <p:cNvSpPr/>
          <p:nvPr/>
        </p:nvSpPr>
        <p:spPr>
          <a:xfrm>
            <a:off x="6912864" y="2386584"/>
            <a:ext cx="1570482" cy="5143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4D"/>
              </a:buClr>
              <a:buSzPts val="3000"/>
              <a:buFont typeface="Calibri"/>
              <a:buNone/>
            </a:pPr>
            <a:r>
              <a:rPr b="1" i="0" lang="en" sz="3000" u="none" cap="none" strike="noStrike">
                <a:solidFill>
                  <a:srgbClr val="FFB84D"/>
                </a:solidFill>
                <a:latin typeface="Calibri"/>
                <a:ea typeface="Calibri"/>
                <a:cs typeface="Calibri"/>
                <a:sym typeface="Calibri"/>
              </a:rPr>
              <a:t>5</a:t>
            </a:r>
            <a:endParaRPr b="0" i="0" sz="3000" u="none" cap="none" strike="noStrike">
              <a:solidFill>
                <a:schemeClr val="dk1"/>
              </a:solidFill>
              <a:latin typeface="Calibri"/>
              <a:ea typeface="Calibri"/>
              <a:cs typeface="Calibri"/>
              <a:sym typeface="Calibri"/>
            </a:endParaRPr>
          </a:p>
        </p:txBody>
      </p:sp>
      <p:sp>
        <p:nvSpPr>
          <p:cNvPr id="106" name="Google Shape;106;p17"/>
          <p:cNvSpPr/>
          <p:nvPr/>
        </p:nvSpPr>
        <p:spPr>
          <a:xfrm>
            <a:off x="6912864" y="2894076"/>
            <a:ext cx="1570482" cy="466344"/>
          </a:xfrm>
          <a:prstGeom prst="rect">
            <a:avLst/>
          </a:prstGeom>
          <a:noFill/>
          <a:ln>
            <a:noFill/>
          </a:ln>
        </p:spPr>
        <p:txBody>
          <a:bodyPr anchorCtr="0" anchor="t" bIns="0" lIns="0" spcFirstLastPara="1" rIns="0" wrap="square" tIns="0">
            <a:noAutofit/>
          </a:bodyPr>
          <a:lstStyle/>
          <a:p>
            <a:pPr indent="0" lvl="0" marL="0" marR="0" rtl="0" algn="l">
              <a:lnSpc>
                <a:spcPct val="121739"/>
              </a:lnSpc>
              <a:spcBef>
                <a:spcPts val="0"/>
              </a:spcBef>
              <a:spcAft>
                <a:spcPts val="0"/>
              </a:spcAft>
              <a:buClr>
                <a:srgbClr val="C4B2B6"/>
              </a:buClr>
              <a:buSzPts val="900"/>
              <a:buFont typeface="Calibri"/>
              <a:buNone/>
            </a:pPr>
            <a:r>
              <a:rPr b="0" i="0" lang="en" sz="900" u="none" cap="none" strike="noStrike">
                <a:solidFill>
                  <a:srgbClr val="C4B2B6"/>
                </a:solidFill>
                <a:latin typeface="Calibri"/>
                <a:ea typeface="Calibri"/>
                <a:cs typeface="Calibri"/>
                <a:sym typeface="Calibri"/>
              </a:rPr>
              <a:t>Laporan analitik</a:t>
            </a:r>
            <a:endParaRPr b="0" i="0" sz="900" u="none" cap="none" strike="noStrike">
              <a:solidFill>
                <a:schemeClr val="dk1"/>
              </a:solidFill>
              <a:latin typeface="Calibri"/>
              <a:ea typeface="Calibri"/>
              <a:cs typeface="Calibri"/>
              <a:sym typeface="Calibri"/>
            </a:endParaRPr>
          </a:p>
          <a:p>
            <a:pPr indent="0" lvl="0" marL="0" marR="0" rtl="0" algn="l">
              <a:lnSpc>
                <a:spcPct val="121739"/>
              </a:lnSpc>
              <a:spcBef>
                <a:spcPts val="0"/>
              </a:spcBef>
              <a:spcAft>
                <a:spcPts val="0"/>
              </a:spcAft>
              <a:buClr>
                <a:srgbClr val="C4B2B6"/>
              </a:buClr>
              <a:buSzPts val="900"/>
              <a:buFont typeface="Calibri"/>
              <a:buNone/>
            </a:pPr>
            <a:r>
              <a:rPr b="0" i="0" lang="en" sz="900" u="none" cap="none" strike="noStrike">
                <a:solidFill>
                  <a:srgbClr val="C4B2B6"/>
                </a:solidFill>
                <a:latin typeface="Calibri"/>
                <a:ea typeface="Calibri"/>
                <a:cs typeface="Calibri"/>
                <a:sym typeface="Calibri"/>
              </a:rPr>
              <a:t>untuk keputusan menu</a:t>
            </a:r>
            <a:endParaRPr b="0" i="0" sz="900" u="none" cap="none" strike="noStrike">
              <a:solidFill>
                <a:schemeClr val="dk1"/>
              </a:solidFill>
              <a:latin typeface="Calibri"/>
              <a:ea typeface="Calibri"/>
              <a:cs typeface="Calibri"/>
              <a:sym typeface="Calibri"/>
            </a:endParaRPr>
          </a:p>
        </p:txBody>
      </p:sp>
      <p:sp>
        <p:nvSpPr>
          <p:cNvPr id="107" name="Google Shape;107;p17"/>
          <p:cNvSpPr/>
          <p:nvPr/>
        </p:nvSpPr>
        <p:spPr>
          <a:xfrm>
            <a:off x="445770" y="3634740"/>
            <a:ext cx="8229600" cy="720090"/>
          </a:xfrm>
          <a:prstGeom prst="roundRect">
            <a:avLst>
              <a:gd fmla="val 9524" name="adj"/>
            </a:avLst>
          </a:prstGeom>
          <a:solidFill>
            <a:srgbClr val="3A2A2E"/>
          </a:solidFill>
          <a:ln cap="flat" cmpd="sng" w="12700">
            <a:solidFill>
              <a:srgbClr val="3A2A2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8" name="Google Shape;108;p17"/>
          <p:cNvSpPr/>
          <p:nvPr/>
        </p:nvSpPr>
        <p:spPr>
          <a:xfrm>
            <a:off x="685800" y="3758184"/>
            <a:ext cx="13716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4D"/>
              </a:buClr>
              <a:buSzPts val="800"/>
              <a:buFont typeface="Calibri"/>
              <a:buNone/>
            </a:pPr>
            <a:r>
              <a:rPr b="1" i="0" lang="en" sz="800" u="none" cap="none" strike="noStrike">
                <a:solidFill>
                  <a:srgbClr val="FFB84D"/>
                </a:solidFill>
                <a:latin typeface="Calibri"/>
                <a:ea typeface="Calibri"/>
                <a:cs typeface="Calibri"/>
                <a:sym typeface="Calibri"/>
              </a:rPr>
              <a:t>Ruang lingkup</a:t>
            </a:r>
            <a:endParaRPr b="0" i="0" sz="800" u="none" cap="none" strike="noStrike">
              <a:solidFill>
                <a:schemeClr val="dk1"/>
              </a:solidFill>
              <a:latin typeface="Calibri"/>
              <a:ea typeface="Calibri"/>
              <a:cs typeface="Calibri"/>
              <a:sym typeface="Calibri"/>
            </a:endParaRPr>
          </a:p>
        </p:txBody>
      </p:sp>
      <p:sp>
        <p:nvSpPr>
          <p:cNvPr id="109" name="Google Shape;109;p17"/>
          <p:cNvSpPr/>
          <p:nvPr/>
        </p:nvSpPr>
        <p:spPr>
          <a:xfrm>
            <a:off x="685800" y="3963924"/>
            <a:ext cx="77495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B2B6"/>
              </a:buClr>
              <a:buSzPts val="900"/>
              <a:buFont typeface="Calibri"/>
              <a:buNone/>
            </a:pPr>
            <a:r>
              <a:rPr lang="en" sz="900">
                <a:solidFill>
                  <a:srgbClr val="C4B2B6"/>
                </a:solidFill>
                <a:latin typeface="Calibri"/>
                <a:ea typeface="Calibri"/>
                <a:cs typeface="Calibri"/>
                <a:sym typeface="Calibri"/>
              </a:rPr>
              <a:t>JPA/Hibernate Entity &amp; Flyway Migration  ·  Spring Security JWT + @PreAuthorize  ·  CRUD Product &amp; Stock Management  ·  Transactional Cart &amp; Order Service  ·  CORS Configuration &amp; React Integration  ·  Admin Dashboard &amp; Back-Office API  ·  Docker Containerization &amp; OpenAPI/Swagger Documentation</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214"/>
        </a:solidFill>
      </p:bgPr>
    </p:bg>
    <p:spTree>
      <p:nvGrpSpPr>
        <p:cNvPr id="114" name="Shape 114"/>
        <p:cNvGrpSpPr/>
        <p:nvPr/>
      </p:nvGrpSpPr>
      <p:grpSpPr>
        <a:xfrm>
          <a:off x="0" y="0"/>
          <a:ext cx="0" cy="0"/>
          <a:chOff x="0" y="0"/>
          <a:chExt cx="0" cy="0"/>
        </a:xfrm>
      </p:grpSpPr>
      <p:sp>
        <p:nvSpPr>
          <p:cNvPr id="115" name="Google Shape;115;p18"/>
          <p:cNvSpPr/>
          <p:nvPr/>
        </p:nvSpPr>
        <p:spPr>
          <a:xfrm>
            <a:off x="445770" y="288036"/>
            <a:ext cx="822960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4D"/>
              </a:buClr>
              <a:buSzPts val="800"/>
              <a:buFont typeface="Calibri"/>
              <a:buNone/>
            </a:pPr>
            <a:r>
              <a:rPr b="1" i="0" lang="en" sz="800" u="none" cap="none" strike="noStrike">
                <a:solidFill>
                  <a:srgbClr val="FFB84D"/>
                </a:solidFill>
                <a:latin typeface="Calibri"/>
                <a:ea typeface="Calibri"/>
                <a:cs typeface="Calibri"/>
                <a:sym typeface="Calibri"/>
              </a:rPr>
              <a:t>BUSINESS PERSPECTIVE</a:t>
            </a:r>
            <a:endParaRPr b="0" i="0" sz="800" u="none" cap="none" strike="noStrike">
              <a:solidFill>
                <a:schemeClr val="dk1"/>
              </a:solidFill>
              <a:latin typeface="Calibri"/>
              <a:ea typeface="Calibri"/>
              <a:cs typeface="Calibri"/>
              <a:sym typeface="Calibri"/>
            </a:endParaRPr>
          </a:p>
        </p:txBody>
      </p:sp>
      <p:sp>
        <p:nvSpPr>
          <p:cNvPr id="116" name="Google Shape;116;p18"/>
          <p:cNvSpPr/>
          <p:nvPr/>
        </p:nvSpPr>
        <p:spPr>
          <a:xfrm>
            <a:off x="445770" y="493776"/>
            <a:ext cx="8229600" cy="4251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300"/>
              <a:buFont typeface="Calibri"/>
              <a:buNone/>
            </a:pPr>
            <a:r>
              <a:rPr b="1" i="0" lang="en" sz="2300" u="none" cap="none" strike="noStrike">
                <a:solidFill>
                  <a:srgbClr val="FFFFFF"/>
                </a:solidFill>
                <a:latin typeface="Calibri"/>
                <a:ea typeface="Calibri"/>
                <a:cs typeface="Calibri"/>
                <a:sym typeface="Calibri"/>
              </a:rPr>
              <a:t>Problem Statement</a:t>
            </a:r>
            <a:endParaRPr b="0" i="0" sz="2300" u="none" cap="none" strike="noStrike">
              <a:solidFill>
                <a:schemeClr val="dk1"/>
              </a:solidFill>
              <a:latin typeface="Calibri"/>
              <a:ea typeface="Calibri"/>
              <a:cs typeface="Calibri"/>
              <a:sym typeface="Calibri"/>
            </a:endParaRPr>
          </a:p>
        </p:txBody>
      </p:sp>
      <p:sp>
        <p:nvSpPr>
          <p:cNvPr id="117" name="Google Shape;117;p18"/>
          <p:cNvSpPr/>
          <p:nvPr/>
        </p:nvSpPr>
        <p:spPr>
          <a:xfrm>
            <a:off x="445770" y="1220724"/>
            <a:ext cx="8229600" cy="973836"/>
          </a:xfrm>
          <a:prstGeom prst="roundRect">
            <a:avLst>
              <a:gd fmla="val 7042" name="adj"/>
            </a:avLst>
          </a:prstGeom>
          <a:solidFill>
            <a:srgbClr val="2B1F22"/>
          </a:solidFill>
          <a:ln cap="flat" cmpd="sng" w="12700">
            <a:solidFill>
              <a:srgbClr val="2B1F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8" name="Google Shape;118;p18"/>
          <p:cNvSpPr/>
          <p:nvPr/>
        </p:nvSpPr>
        <p:spPr>
          <a:xfrm>
            <a:off x="685800" y="1412748"/>
            <a:ext cx="288036" cy="288036"/>
          </a:xfrm>
          <a:prstGeom prst="ellipse">
            <a:avLst/>
          </a:prstGeom>
          <a:solidFill>
            <a:srgbClr val="FFB84D"/>
          </a:solidFill>
          <a:ln cap="flat" cmpd="sng" w="12700">
            <a:solidFill>
              <a:srgbClr val="FFB84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9" name="Google Shape;119;p18"/>
          <p:cNvSpPr/>
          <p:nvPr/>
        </p:nvSpPr>
        <p:spPr>
          <a:xfrm>
            <a:off x="685800" y="1412748"/>
            <a:ext cx="288036" cy="2880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214"/>
              </a:buClr>
              <a:buSzPts val="1000"/>
              <a:buFont typeface="Calibri"/>
              <a:buNone/>
            </a:pPr>
            <a:r>
              <a:rPr b="1" i="0" lang="en" sz="1000" u="none" cap="none" strike="noStrike">
                <a:solidFill>
                  <a:srgbClr val="1A1214"/>
                </a:solidFill>
                <a:latin typeface="Calibri"/>
                <a:ea typeface="Calibri"/>
                <a:cs typeface="Calibri"/>
                <a:sym typeface="Calibri"/>
              </a:rPr>
              <a:t>01</a:t>
            </a:r>
            <a:endParaRPr b="0" i="0" sz="1000" u="none" cap="none" strike="noStrike">
              <a:solidFill>
                <a:schemeClr val="dk1"/>
              </a:solidFill>
              <a:latin typeface="Calibri"/>
              <a:ea typeface="Calibri"/>
              <a:cs typeface="Calibri"/>
              <a:sym typeface="Calibri"/>
            </a:endParaRPr>
          </a:p>
        </p:txBody>
      </p:sp>
      <p:sp>
        <p:nvSpPr>
          <p:cNvPr id="120" name="Google Shape;120;p18"/>
          <p:cNvSpPr/>
          <p:nvPr/>
        </p:nvSpPr>
        <p:spPr>
          <a:xfrm>
            <a:off x="1131570" y="1371600"/>
            <a:ext cx="24003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Masalah nyata yang diselesaikan</a:t>
            </a:r>
            <a:endParaRPr b="0" i="0" sz="1100" u="none" cap="none" strike="noStrike">
              <a:solidFill>
                <a:schemeClr val="dk1"/>
              </a:solidFill>
              <a:latin typeface="Calibri"/>
              <a:ea typeface="Calibri"/>
              <a:cs typeface="Calibri"/>
              <a:sym typeface="Calibri"/>
            </a:endParaRPr>
          </a:p>
        </p:txBody>
      </p:sp>
      <p:sp>
        <p:nvSpPr>
          <p:cNvPr id="121" name="Google Shape;121;p18"/>
          <p:cNvSpPr/>
          <p:nvPr/>
        </p:nvSpPr>
        <p:spPr>
          <a:xfrm>
            <a:off x="3634740" y="1371600"/>
            <a:ext cx="4732020" cy="685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C4B2B6"/>
              </a:buClr>
              <a:buSzPts val="900"/>
              <a:buFont typeface="Calibri"/>
              <a:buNone/>
            </a:pPr>
            <a:r>
              <a:rPr b="0" i="0" lang="en" sz="900" u="none" cap="none" strike="noStrike">
                <a:solidFill>
                  <a:srgbClr val="C4B2B6"/>
                </a:solidFill>
                <a:latin typeface="Calibri"/>
                <a:ea typeface="Calibri"/>
                <a:cs typeface="Calibri"/>
                <a:sym typeface="Calibri"/>
              </a:rPr>
              <a:t>Di jam ramai, pesanan dicatat di kertas dan diteriakkan ke dapur. Pelanggan mengantre fisik tanpa tahu berapa lama lagi, dan pesanan bisa tertukar atau terlewat sepenuhnya.</a:t>
            </a:r>
            <a:endParaRPr b="0" i="0" sz="900" u="none" cap="none" strike="noStrike">
              <a:solidFill>
                <a:schemeClr val="dk1"/>
              </a:solidFill>
              <a:latin typeface="Calibri"/>
              <a:ea typeface="Calibri"/>
              <a:cs typeface="Calibri"/>
              <a:sym typeface="Calibri"/>
            </a:endParaRPr>
          </a:p>
        </p:txBody>
      </p:sp>
      <p:sp>
        <p:nvSpPr>
          <p:cNvPr id="122" name="Google Shape;122;p18"/>
          <p:cNvSpPr/>
          <p:nvPr/>
        </p:nvSpPr>
        <p:spPr>
          <a:xfrm>
            <a:off x="445770" y="2304288"/>
            <a:ext cx="8229600" cy="973836"/>
          </a:xfrm>
          <a:prstGeom prst="roundRect">
            <a:avLst>
              <a:gd fmla="val 7042" name="adj"/>
            </a:avLst>
          </a:prstGeom>
          <a:solidFill>
            <a:srgbClr val="2B1F22"/>
          </a:solidFill>
          <a:ln cap="flat" cmpd="sng" w="12700">
            <a:solidFill>
              <a:srgbClr val="2B1F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3" name="Google Shape;123;p18"/>
          <p:cNvSpPr/>
          <p:nvPr/>
        </p:nvSpPr>
        <p:spPr>
          <a:xfrm>
            <a:off x="685800" y="2496312"/>
            <a:ext cx="288036" cy="288036"/>
          </a:xfrm>
          <a:prstGeom prst="ellipse">
            <a:avLst/>
          </a:prstGeom>
          <a:solidFill>
            <a:srgbClr val="FFB84D"/>
          </a:solidFill>
          <a:ln cap="flat" cmpd="sng" w="12700">
            <a:solidFill>
              <a:srgbClr val="FFB84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4" name="Google Shape;124;p18"/>
          <p:cNvSpPr/>
          <p:nvPr/>
        </p:nvSpPr>
        <p:spPr>
          <a:xfrm>
            <a:off x="685800" y="2496312"/>
            <a:ext cx="288036" cy="2880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214"/>
              </a:buClr>
              <a:buSzPts val="1000"/>
              <a:buFont typeface="Calibri"/>
              <a:buNone/>
            </a:pPr>
            <a:r>
              <a:rPr b="1" i="0" lang="en" sz="1000" u="none" cap="none" strike="noStrike">
                <a:solidFill>
                  <a:srgbClr val="1A1214"/>
                </a:solidFill>
                <a:latin typeface="Calibri"/>
                <a:ea typeface="Calibri"/>
                <a:cs typeface="Calibri"/>
                <a:sym typeface="Calibri"/>
              </a:rPr>
              <a:t>02</a:t>
            </a:r>
            <a:endParaRPr b="0" i="0" sz="1000" u="none" cap="none" strike="noStrike">
              <a:solidFill>
                <a:schemeClr val="dk1"/>
              </a:solidFill>
              <a:latin typeface="Calibri"/>
              <a:ea typeface="Calibri"/>
              <a:cs typeface="Calibri"/>
              <a:sym typeface="Calibri"/>
            </a:endParaRPr>
          </a:p>
        </p:txBody>
      </p:sp>
      <p:sp>
        <p:nvSpPr>
          <p:cNvPr id="125" name="Google Shape;125;p18"/>
          <p:cNvSpPr/>
          <p:nvPr/>
        </p:nvSpPr>
        <p:spPr>
          <a:xfrm>
            <a:off x="1131570" y="2455164"/>
            <a:ext cx="24003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Siapa yang terdampak</a:t>
            </a:r>
            <a:endParaRPr b="0" i="0" sz="1100" u="none" cap="none" strike="noStrike">
              <a:solidFill>
                <a:schemeClr val="dk1"/>
              </a:solidFill>
              <a:latin typeface="Calibri"/>
              <a:ea typeface="Calibri"/>
              <a:cs typeface="Calibri"/>
              <a:sym typeface="Calibri"/>
            </a:endParaRPr>
          </a:p>
        </p:txBody>
      </p:sp>
      <p:sp>
        <p:nvSpPr>
          <p:cNvPr id="126" name="Google Shape;126;p18"/>
          <p:cNvSpPr/>
          <p:nvPr/>
        </p:nvSpPr>
        <p:spPr>
          <a:xfrm>
            <a:off x="3634740" y="2455164"/>
            <a:ext cx="4732020" cy="685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C4B2B6"/>
              </a:buClr>
              <a:buSzPts val="900"/>
              <a:buFont typeface="Calibri"/>
              <a:buNone/>
            </a:pPr>
            <a:r>
              <a:rPr b="0" i="0" lang="en" sz="900" u="none" cap="none" strike="noStrike">
                <a:solidFill>
                  <a:srgbClr val="C4B2B6"/>
                </a:solidFill>
                <a:latin typeface="Calibri"/>
                <a:ea typeface="Calibri"/>
                <a:cs typeface="Calibri"/>
                <a:sym typeface="Calibri"/>
              </a:rPr>
              <a:t>Pemilik UMKM kehilangan pelanggan yang batal karena antrean panjang, dan tidak punya data penjualan untuk memutuskan belanja bahan. Pelanggan membuang waktu berdiri menunggu. Karyawan kewalahan mencatat sambil melayani.</a:t>
            </a:r>
            <a:endParaRPr b="0" i="0" sz="900" u="none" cap="none" strike="noStrike">
              <a:solidFill>
                <a:schemeClr val="dk1"/>
              </a:solidFill>
              <a:latin typeface="Calibri"/>
              <a:ea typeface="Calibri"/>
              <a:cs typeface="Calibri"/>
              <a:sym typeface="Calibri"/>
            </a:endParaRPr>
          </a:p>
        </p:txBody>
      </p:sp>
      <p:sp>
        <p:nvSpPr>
          <p:cNvPr id="127" name="Google Shape;127;p18"/>
          <p:cNvSpPr/>
          <p:nvPr/>
        </p:nvSpPr>
        <p:spPr>
          <a:xfrm>
            <a:off x="445770" y="3387852"/>
            <a:ext cx="8229600" cy="973836"/>
          </a:xfrm>
          <a:prstGeom prst="roundRect">
            <a:avLst>
              <a:gd fmla="val 7042" name="adj"/>
            </a:avLst>
          </a:prstGeom>
          <a:solidFill>
            <a:srgbClr val="2B1F22"/>
          </a:solidFill>
          <a:ln cap="flat" cmpd="sng" w="12700">
            <a:solidFill>
              <a:srgbClr val="2B1F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8" name="Google Shape;128;p18"/>
          <p:cNvSpPr/>
          <p:nvPr/>
        </p:nvSpPr>
        <p:spPr>
          <a:xfrm>
            <a:off x="685800" y="3579876"/>
            <a:ext cx="288036" cy="288036"/>
          </a:xfrm>
          <a:prstGeom prst="ellipse">
            <a:avLst/>
          </a:prstGeom>
          <a:solidFill>
            <a:srgbClr val="FFB84D"/>
          </a:solidFill>
          <a:ln cap="flat" cmpd="sng" w="12700">
            <a:solidFill>
              <a:srgbClr val="FFB84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9" name="Google Shape;129;p18"/>
          <p:cNvSpPr/>
          <p:nvPr/>
        </p:nvSpPr>
        <p:spPr>
          <a:xfrm>
            <a:off x="685800" y="3579876"/>
            <a:ext cx="288036" cy="2880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214"/>
              </a:buClr>
              <a:buSzPts val="1000"/>
              <a:buFont typeface="Calibri"/>
              <a:buNone/>
            </a:pPr>
            <a:r>
              <a:rPr b="1" i="0" lang="en" sz="1000" u="none" cap="none" strike="noStrike">
                <a:solidFill>
                  <a:srgbClr val="1A1214"/>
                </a:solidFill>
                <a:latin typeface="Calibri"/>
                <a:ea typeface="Calibri"/>
                <a:cs typeface="Calibri"/>
                <a:sym typeface="Calibri"/>
              </a:rPr>
              <a:t>03</a:t>
            </a:r>
            <a:endParaRPr b="0" i="0" sz="1000" u="none" cap="none" strike="noStrike">
              <a:solidFill>
                <a:schemeClr val="dk1"/>
              </a:solidFill>
              <a:latin typeface="Calibri"/>
              <a:ea typeface="Calibri"/>
              <a:cs typeface="Calibri"/>
              <a:sym typeface="Calibri"/>
            </a:endParaRPr>
          </a:p>
        </p:txBody>
      </p:sp>
      <p:sp>
        <p:nvSpPr>
          <p:cNvPr id="130" name="Google Shape;130;p18"/>
          <p:cNvSpPr/>
          <p:nvPr/>
        </p:nvSpPr>
        <p:spPr>
          <a:xfrm>
            <a:off x="1131570" y="3538728"/>
            <a:ext cx="24003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Dampak jika dibiarkan</a:t>
            </a:r>
            <a:endParaRPr b="0" i="0" sz="1100" u="none" cap="none" strike="noStrike">
              <a:solidFill>
                <a:schemeClr val="dk1"/>
              </a:solidFill>
              <a:latin typeface="Calibri"/>
              <a:ea typeface="Calibri"/>
              <a:cs typeface="Calibri"/>
              <a:sym typeface="Calibri"/>
            </a:endParaRPr>
          </a:p>
        </p:txBody>
      </p:sp>
      <p:sp>
        <p:nvSpPr>
          <p:cNvPr id="131" name="Google Shape;131;p18"/>
          <p:cNvSpPr/>
          <p:nvPr/>
        </p:nvSpPr>
        <p:spPr>
          <a:xfrm>
            <a:off x="3634740" y="3538728"/>
            <a:ext cx="4732020" cy="685800"/>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C4B2B6"/>
              </a:buClr>
              <a:buSzPts val="900"/>
              <a:buFont typeface="Calibri"/>
              <a:buNone/>
            </a:pPr>
            <a:r>
              <a:rPr b="0" i="0" lang="en" sz="900" u="none" cap="none" strike="noStrike">
                <a:solidFill>
                  <a:srgbClr val="C4B2B6"/>
                </a:solidFill>
                <a:latin typeface="Calibri"/>
                <a:ea typeface="Calibri"/>
                <a:cs typeface="Calibri"/>
                <a:sym typeface="Calibri"/>
              </a:rPr>
              <a:t>Stok habis baru ketahuan setelah pelanggan memesan dan membayar. Keputusan menu dan jam buka diambil berdasarkan perkiraan. Omzet jam sibuk tertahan oleh kecepatan mencatat, bukan kecepatan memasak.</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214"/>
        </a:solidFill>
      </p:bgPr>
    </p:bg>
    <p:spTree>
      <p:nvGrpSpPr>
        <p:cNvPr id="136" name="Shape 136"/>
        <p:cNvGrpSpPr/>
        <p:nvPr/>
      </p:nvGrpSpPr>
      <p:grpSpPr>
        <a:xfrm>
          <a:off x="0" y="0"/>
          <a:ext cx="0" cy="0"/>
          <a:chOff x="0" y="0"/>
          <a:chExt cx="0" cy="0"/>
        </a:xfrm>
      </p:grpSpPr>
      <p:sp>
        <p:nvSpPr>
          <p:cNvPr id="137" name="Google Shape;137;p19"/>
          <p:cNvSpPr/>
          <p:nvPr/>
        </p:nvSpPr>
        <p:spPr>
          <a:xfrm>
            <a:off x="445770" y="288036"/>
            <a:ext cx="822960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4D"/>
              </a:buClr>
              <a:buSzPts val="800"/>
              <a:buFont typeface="Calibri"/>
              <a:buNone/>
            </a:pPr>
            <a:r>
              <a:rPr b="1" i="0" lang="en" sz="800" u="none" cap="none" strike="noStrike">
                <a:solidFill>
                  <a:srgbClr val="FFB84D"/>
                </a:solidFill>
                <a:latin typeface="Calibri"/>
                <a:ea typeface="Calibri"/>
                <a:cs typeface="Calibri"/>
                <a:sym typeface="Calibri"/>
              </a:rPr>
              <a:t>BUSINESS PERSPECTIVE</a:t>
            </a:r>
            <a:endParaRPr b="0" i="0" sz="800" u="none" cap="none" strike="noStrike">
              <a:solidFill>
                <a:schemeClr val="dk1"/>
              </a:solidFill>
              <a:latin typeface="Calibri"/>
              <a:ea typeface="Calibri"/>
              <a:cs typeface="Calibri"/>
              <a:sym typeface="Calibri"/>
            </a:endParaRPr>
          </a:p>
        </p:txBody>
      </p:sp>
      <p:sp>
        <p:nvSpPr>
          <p:cNvPr id="138" name="Google Shape;138;p19"/>
          <p:cNvSpPr/>
          <p:nvPr/>
        </p:nvSpPr>
        <p:spPr>
          <a:xfrm>
            <a:off x="445770" y="493776"/>
            <a:ext cx="8229600" cy="4251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300"/>
              <a:buFont typeface="Calibri"/>
              <a:buNone/>
            </a:pPr>
            <a:r>
              <a:rPr b="1" i="0" lang="en" sz="2300" u="none" cap="none" strike="noStrike">
                <a:solidFill>
                  <a:srgbClr val="FFFFFF"/>
                </a:solidFill>
                <a:latin typeface="Calibri"/>
                <a:ea typeface="Calibri"/>
                <a:cs typeface="Calibri"/>
                <a:sym typeface="Calibri"/>
              </a:rPr>
              <a:t>Target User &amp; Value Proposition</a:t>
            </a:r>
            <a:endParaRPr b="0" i="0" sz="2300" u="none" cap="none" strike="noStrike">
              <a:solidFill>
                <a:schemeClr val="dk1"/>
              </a:solidFill>
              <a:latin typeface="Calibri"/>
              <a:ea typeface="Calibri"/>
              <a:cs typeface="Calibri"/>
              <a:sym typeface="Calibri"/>
            </a:endParaRPr>
          </a:p>
        </p:txBody>
      </p:sp>
      <p:sp>
        <p:nvSpPr>
          <p:cNvPr id="139" name="Google Shape;139;p19"/>
          <p:cNvSpPr/>
          <p:nvPr/>
        </p:nvSpPr>
        <p:spPr>
          <a:xfrm>
            <a:off x="445770" y="1200150"/>
            <a:ext cx="384048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4D"/>
              </a:buClr>
              <a:buSzPts val="900"/>
              <a:buFont typeface="Calibri"/>
              <a:buNone/>
            </a:pPr>
            <a:r>
              <a:rPr b="1" i="0" lang="en" sz="900" u="none" cap="none" strike="noStrike">
                <a:solidFill>
                  <a:srgbClr val="FFB84D"/>
                </a:solidFill>
                <a:latin typeface="Calibri"/>
                <a:ea typeface="Calibri"/>
                <a:cs typeface="Calibri"/>
                <a:sym typeface="Calibri"/>
              </a:rPr>
              <a:t>Target User</a:t>
            </a:r>
            <a:endParaRPr b="0" i="0" sz="900" u="none" cap="none" strike="noStrike">
              <a:solidFill>
                <a:schemeClr val="dk1"/>
              </a:solidFill>
              <a:latin typeface="Calibri"/>
              <a:ea typeface="Calibri"/>
              <a:cs typeface="Calibri"/>
              <a:sym typeface="Calibri"/>
            </a:endParaRPr>
          </a:p>
        </p:txBody>
      </p:sp>
      <p:sp>
        <p:nvSpPr>
          <p:cNvPr id="140" name="Google Shape;140;p19"/>
          <p:cNvSpPr/>
          <p:nvPr/>
        </p:nvSpPr>
        <p:spPr>
          <a:xfrm>
            <a:off x="445770" y="1474470"/>
            <a:ext cx="3840480" cy="925830"/>
          </a:xfrm>
          <a:prstGeom prst="roundRect">
            <a:avLst>
              <a:gd fmla="val 7407" name="adj"/>
            </a:avLst>
          </a:prstGeom>
          <a:solidFill>
            <a:srgbClr val="2B1F22"/>
          </a:solidFill>
          <a:ln cap="flat" cmpd="sng" w="12700">
            <a:solidFill>
              <a:srgbClr val="2B1F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1" name="Google Shape;141;p19"/>
          <p:cNvSpPr/>
          <p:nvPr/>
        </p:nvSpPr>
        <p:spPr>
          <a:xfrm>
            <a:off x="651510" y="1611630"/>
            <a:ext cx="34290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Pemilik warung / kedai UMKM</a:t>
            </a:r>
            <a:endParaRPr b="0" i="0" sz="1100" u="none" cap="none" strike="noStrike">
              <a:solidFill>
                <a:schemeClr val="dk1"/>
              </a:solidFill>
              <a:latin typeface="Calibri"/>
              <a:ea typeface="Calibri"/>
              <a:cs typeface="Calibri"/>
              <a:sym typeface="Calibri"/>
            </a:endParaRPr>
          </a:p>
        </p:txBody>
      </p:sp>
      <p:sp>
        <p:nvSpPr>
          <p:cNvPr id="142" name="Google Shape;142;p19"/>
          <p:cNvSpPr/>
          <p:nvPr/>
        </p:nvSpPr>
        <p:spPr>
          <a:xfrm>
            <a:off x="651510" y="1851660"/>
            <a:ext cx="3429000" cy="480060"/>
          </a:xfrm>
          <a:prstGeom prst="rect">
            <a:avLst/>
          </a:prstGeom>
          <a:noFill/>
          <a:ln>
            <a:noFill/>
          </a:ln>
        </p:spPr>
        <p:txBody>
          <a:bodyPr anchorCtr="0" anchor="t" bIns="0" lIns="0" spcFirstLastPara="1" rIns="0" wrap="square" tIns="0">
            <a:noAutofit/>
          </a:bodyPr>
          <a:lstStyle/>
          <a:p>
            <a:pPr indent="0" lvl="0" marL="0" marR="0" rtl="0" algn="l">
              <a:lnSpc>
                <a:spcPct val="130434"/>
              </a:lnSpc>
              <a:spcBef>
                <a:spcPts val="0"/>
              </a:spcBef>
              <a:spcAft>
                <a:spcPts val="0"/>
              </a:spcAft>
              <a:buClr>
                <a:srgbClr val="C4B2B6"/>
              </a:buClr>
              <a:buSzPts val="900"/>
              <a:buFont typeface="Calibri"/>
              <a:buNone/>
            </a:pPr>
            <a:r>
              <a:rPr b="0" i="0" lang="en" sz="900" u="none" cap="none" strike="noStrike">
                <a:solidFill>
                  <a:srgbClr val="C4B2B6"/>
                </a:solidFill>
                <a:latin typeface="Calibri"/>
                <a:ea typeface="Calibri"/>
                <a:cs typeface="Calibri"/>
                <a:sym typeface="Calibri"/>
              </a:rPr>
              <a:t>1–5 karyawan, omzet harian di bawah 5 juta. Belum mampu berlangganan POS mahal, tapi butuh catatan penjualan yang rapi.</a:t>
            </a:r>
            <a:endParaRPr b="0" i="0" sz="900" u="none" cap="none" strike="noStrike">
              <a:solidFill>
                <a:schemeClr val="dk1"/>
              </a:solidFill>
              <a:latin typeface="Calibri"/>
              <a:ea typeface="Calibri"/>
              <a:cs typeface="Calibri"/>
              <a:sym typeface="Calibri"/>
            </a:endParaRPr>
          </a:p>
        </p:txBody>
      </p:sp>
      <p:sp>
        <p:nvSpPr>
          <p:cNvPr id="143" name="Google Shape;143;p19"/>
          <p:cNvSpPr/>
          <p:nvPr/>
        </p:nvSpPr>
        <p:spPr>
          <a:xfrm>
            <a:off x="445770" y="2489454"/>
            <a:ext cx="3840480" cy="925830"/>
          </a:xfrm>
          <a:prstGeom prst="roundRect">
            <a:avLst>
              <a:gd fmla="val 7407" name="adj"/>
            </a:avLst>
          </a:prstGeom>
          <a:solidFill>
            <a:srgbClr val="2B1F22"/>
          </a:solidFill>
          <a:ln cap="flat" cmpd="sng" w="12700">
            <a:solidFill>
              <a:srgbClr val="2B1F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4" name="Google Shape;144;p19"/>
          <p:cNvSpPr/>
          <p:nvPr/>
        </p:nvSpPr>
        <p:spPr>
          <a:xfrm>
            <a:off x="651510" y="2626614"/>
            <a:ext cx="34290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Pelanggan jam makan siang</a:t>
            </a:r>
            <a:endParaRPr b="0" i="0" sz="1100" u="none" cap="none" strike="noStrike">
              <a:solidFill>
                <a:schemeClr val="dk1"/>
              </a:solidFill>
              <a:latin typeface="Calibri"/>
              <a:ea typeface="Calibri"/>
              <a:cs typeface="Calibri"/>
              <a:sym typeface="Calibri"/>
            </a:endParaRPr>
          </a:p>
        </p:txBody>
      </p:sp>
      <p:sp>
        <p:nvSpPr>
          <p:cNvPr id="145" name="Google Shape;145;p19"/>
          <p:cNvSpPr/>
          <p:nvPr/>
        </p:nvSpPr>
        <p:spPr>
          <a:xfrm>
            <a:off x="651510" y="2866644"/>
            <a:ext cx="3429000" cy="480060"/>
          </a:xfrm>
          <a:prstGeom prst="rect">
            <a:avLst/>
          </a:prstGeom>
          <a:noFill/>
          <a:ln>
            <a:noFill/>
          </a:ln>
        </p:spPr>
        <p:txBody>
          <a:bodyPr anchorCtr="0" anchor="t" bIns="0" lIns="0" spcFirstLastPara="1" rIns="0" wrap="square" tIns="0">
            <a:noAutofit/>
          </a:bodyPr>
          <a:lstStyle/>
          <a:p>
            <a:pPr indent="0" lvl="0" marL="0" marR="0" rtl="0" algn="l">
              <a:lnSpc>
                <a:spcPct val="130434"/>
              </a:lnSpc>
              <a:spcBef>
                <a:spcPts val="0"/>
              </a:spcBef>
              <a:spcAft>
                <a:spcPts val="0"/>
              </a:spcAft>
              <a:buClr>
                <a:srgbClr val="C4B2B6"/>
              </a:buClr>
              <a:buSzPts val="900"/>
              <a:buFont typeface="Calibri"/>
              <a:buNone/>
            </a:pPr>
            <a:r>
              <a:rPr b="0" i="0" lang="en" sz="900" u="none" cap="none" strike="noStrike">
                <a:solidFill>
                  <a:srgbClr val="C4B2B6"/>
                </a:solidFill>
                <a:latin typeface="Calibri"/>
                <a:ea typeface="Calibri"/>
                <a:cs typeface="Calibri"/>
                <a:sym typeface="Calibri"/>
              </a:rPr>
              <a:t>Usia 18–40, waktu istirahat terbatas. Ingin memesan lebih dulu dan tahu kapan makanannya siap.</a:t>
            </a:r>
            <a:endParaRPr b="0" i="0" sz="900" u="none" cap="none" strike="noStrike">
              <a:solidFill>
                <a:schemeClr val="dk1"/>
              </a:solidFill>
              <a:latin typeface="Calibri"/>
              <a:ea typeface="Calibri"/>
              <a:cs typeface="Calibri"/>
              <a:sym typeface="Calibri"/>
            </a:endParaRPr>
          </a:p>
        </p:txBody>
      </p:sp>
      <p:sp>
        <p:nvSpPr>
          <p:cNvPr id="146" name="Google Shape;146;p19"/>
          <p:cNvSpPr/>
          <p:nvPr/>
        </p:nvSpPr>
        <p:spPr>
          <a:xfrm>
            <a:off x="445770" y="3504438"/>
            <a:ext cx="3840480" cy="925830"/>
          </a:xfrm>
          <a:prstGeom prst="roundRect">
            <a:avLst>
              <a:gd fmla="val 7407" name="adj"/>
            </a:avLst>
          </a:prstGeom>
          <a:solidFill>
            <a:srgbClr val="2B1F22"/>
          </a:solidFill>
          <a:ln cap="flat" cmpd="sng" w="12700">
            <a:solidFill>
              <a:srgbClr val="2B1F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7" name="Google Shape;147;p19"/>
          <p:cNvSpPr/>
          <p:nvPr/>
        </p:nvSpPr>
        <p:spPr>
          <a:xfrm>
            <a:off x="651510" y="3641598"/>
            <a:ext cx="34290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Karyawan dapur</a:t>
            </a:r>
            <a:endParaRPr b="0" i="0" sz="1100" u="none" cap="none" strike="noStrike">
              <a:solidFill>
                <a:schemeClr val="dk1"/>
              </a:solidFill>
              <a:latin typeface="Calibri"/>
              <a:ea typeface="Calibri"/>
              <a:cs typeface="Calibri"/>
              <a:sym typeface="Calibri"/>
            </a:endParaRPr>
          </a:p>
        </p:txBody>
      </p:sp>
      <p:sp>
        <p:nvSpPr>
          <p:cNvPr id="148" name="Google Shape;148;p19"/>
          <p:cNvSpPr/>
          <p:nvPr/>
        </p:nvSpPr>
        <p:spPr>
          <a:xfrm>
            <a:off x="651510" y="3881628"/>
            <a:ext cx="3429000" cy="480060"/>
          </a:xfrm>
          <a:prstGeom prst="rect">
            <a:avLst/>
          </a:prstGeom>
          <a:noFill/>
          <a:ln>
            <a:noFill/>
          </a:ln>
        </p:spPr>
        <p:txBody>
          <a:bodyPr anchorCtr="0" anchor="t" bIns="0" lIns="0" spcFirstLastPara="1" rIns="0" wrap="square" tIns="0">
            <a:noAutofit/>
          </a:bodyPr>
          <a:lstStyle/>
          <a:p>
            <a:pPr indent="0" lvl="0" marL="0" marR="0" rtl="0" algn="l">
              <a:lnSpc>
                <a:spcPct val="130434"/>
              </a:lnSpc>
              <a:spcBef>
                <a:spcPts val="0"/>
              </a:spcBef>
              <a:spcAft>
                <a:spcPts val="0"/>
              </a:spcAft>
              <a:buClr>
                <a:srgbClr val="C4B2B6"/>
              </a:buClr>
              <a:buSzPts val="900"/>
              <a:buFont typeface="Calibri"/>
              <a:buNone/>
            </a:pPr>
            <a:r>
              <a:rPr b="0" i="0" lang="en" sz="900" u="none" cap="none" strike="noStrike">
                <a:solidFill>
                  <a:srgbClr val="C4B2B6"/>
                </a:solidFill>
                <a:latin typeface="Calibri"/>
                <a:ea typeface="Calibri"/>
                <a:cs typeface="Calibri"/>
                <a:sym typeface="Calibri"/>
              </a:rPr>
              <a:t>Butuh daftar pesanan yang jelas dan berurutan, tanpa kertas bertumpuk atau teriakan silang.</a:t>
            </a:r>
            <a:endParaRPr b="0" i="0" sz="900" u="none" cap="none" strike="noStrike">
              <a:solidFill>
                <a:schemeClr val="dk1"/>
              </a:solidFill>
              <a:latin typeface="Calibri"/>
              <a:ea typeface="Calibri"/>
              <a:cs typeface="Calibri"/>
              <a:sym typeface="Calibri"/>
            </a:endParaRPr>
          </a:p>
        </p:txBody>
      </p:sp>
      <p:sp>
        <p:nvSpPr>
          <p:cNvPr id="149" name="Google Shape;149;p19"/>
          <p:cNvSpPr/>
          <p:nvPr/>
        </p:nvSpPr>
        <p:spPr>
          <a:xfrm>
            <a:off x="4560570" y="1200150"/>
            <a:ext cx="411480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4D"/>
              </a:buClr>
              <a:buSzPts val="900"/>
              <a:buFont typeface="Calibri"/>
              <a:buNone/>
            </a:pPr>
            <a:r>
              <a:rPr b="1" i="0" lang="en" sz="900" u="none" cap="none" strike="noStrike">
                <a:solidFill>
                  <a:srgbClr val="FFB84D"/>
                </a:solidFill>
                <a:latin typeface="Calibri"/>
                <a:ea typeface="Calibri"/>
                <a:cs typeface="Calibri"/>
                <a:sym typeface="Calibri"/>
              </a:rPr>
              <a:t>Pain Point → Value</a:t>
            </a:r>
            <a:endParaRPr b="0" i="0" sz="900" u="none" cap="none" strike="noStrike">
              <a:solidFill>
                <a:schemeClr val="dk1"/>
              </a:solidFill>
              <a:latin typeface="Calibri"/>
              <a:ea typeface="Calibri"/>
              <a:cs typeface="Calibri"/>
              <a:sym typeface="Calibri"/>
            </a:endParaRPr>
          </a:p>
        </p:txBody>
      </p:sp>
      <p:sp>
        <p:nvSpPr>
          <p:cNvPr id="150" name="Google Shape;150;p19"/>
          <p:cNvSpPr/>
          <p:nvPr/>
        </p:nvSpPr>
        <p:spPr>
          <a:xfrm>
            <a:off x="4560570" y="1474470"/>
            <a:ext cx="4114800" cy="2763774"/>
          </a:xfrm>
          <a:prstGeom prst="roundRect">
            <a:avLst>
              <a:gd fmla="val 2481" name="adj"/>
            </a:avLst>
          </a:prstGeom>
          <a:solidFill>
            <a:srgbClr val="3A2A2E"/>
          </a:solidFill>
          <a:ln cap="flat" cmpd="sng" w="12700">
            <a:solidFill>
              <a:srgbClr val="3A2A2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1" name="Google Shape;151;p19"/>
          <p:cNvSpPr/>
          <p:nvPr/>
        </p:nvSpPr>
        <p:spPr>
          <a:xfrm>
            <a:off x="4780026" y="1659636"/>
            <a:ext cx="370332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7278"/>
              </a:buClr>
              <a:buSzPts val="900"/>
              <a:buFont typeface="Calibri"/>
              <a:buNone/>
            </a:pPr>
            <a:r>
              <a:rPr b="0" i="0" lang="en" sz="900" u="none" cap="none" strike="sngStrike">
                <a:solidFill>
                  <a:srgbClr val="8A7278"/>
                </a:solidFill>
                <a:latin typeface="Calibri"/>
                <a:ea typeface="Calibri"/>
                <a:cs typeface="Calibri"/>
                <a:sym typeface="Calibri"/>
              </a:rPr>
              <a:t>Antre fisik tanpa kepastian</a:t>
            </a:r>
            <a:endParaRPr b="0" i="0" sz="900" u="none" cap="none" strike="noStrike">
              <a:solidFill>
                <a:schemeClr val="dk1"/>
              </a:solidFill>
              <a:latin typeface="Calibri"/>
              <a:ea typeface="Calibri"/>
              <a:cs typeface="Calibri"/>
              <a:sym typeface="Calibri"/>
            </a:endParaRPr>
          </a:p>
        </p:txBody>
      </p:sp>
      <p:sp>
        <p:nvSpPr>
          <p:cNvPr id="152" name="Google Shape;152;p19"/>
          <p:cNvSpPr/>
          <p:nvPr/>
        </p:nvSpPr>
        <p:spPr>
          <a:xfrm>
            <a:off x="4780026" y="1865376"/>
            <a:ext cx="3703320"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1" i="0" lang="en" sz="900" u="none" cap="none" strike="noStrike">
                <a:solidFill>
                  <a:srgbClr val="FFFFFF"/>
                </a:solidFill>
                <a:latin typeface="Calibri"/>
                <a:ea typeface="Calibri"/>
                <a:cs typeface="Calibri"/>
                <a:sym typeface="Calibri"/>
              </a:rPr>
              <a:t>Nomor antrean digital + estimasi waktu tunggu</a:t>
            </a:r>
            <a:endParaRPr b="0" i="0" sz="900" u="none" cap="none" strike="noStrike">
              <a:solidFill>
                <a:schemeClr val="dk1"/>
              </a:solidFill>
              <a:latin typeface="Calibri"/>
              <a:ea typeface="Calibri"/>
              <a:cs typeface="Calibri"/>
              <a:sym typeface="Calibri"/>
            </a:endParaRPr>
          </a:p>
        </p:txBody>
      </p:sp>
      <p:sp>
        <p:nvSpPr>
          <p:cNvPr id="153" name="Google Shape;153;p19"/>
          <p:cNvSpPr/>
          <p:nvPr/>
        </p:nvSpPr>
        <p:spPr>
          <a:xfrm>
            <a:off x="4780026" y="2201418"/>
            <a:ext cx="3675888" cy="6858"/>
          </a:xfrm>
          <a:prstGeom prst="rect">
            <a:avLst/>
          </a:prstGeom>
          <a:solidFill>
            <a:srgbClr val="4E3A3E"/>
          </a:solidFill>
          <a:ln cap="flat" cmpd="sng" w="12700">
            <a:solidFill>
              <a:srgbClr val="4E3A3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4" name="Google Shape;154;p19"/>
          <p:cNvSpPr/>
          <p:nvPr/>
        </p:nvSpPr>
        <p:spPr>
          <a:xfrm>
            <a:off x="4780026" y="2290572"/>
            <a:ext cx="370332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7278"/>
              </a:buClr>
              <a:buSzPts val="900"/>
              <a:buFont typeface="Calibri"/>
              <a:buNone/>
            </a:pPr>
            <a:r>
              <a:rPr b="0" i="0" lang="en" sz="900" u="none" cap="none" strike="sngStrike">
                <a:solidFill>
                  <a:srgbClr val="8A7278"/>
                </a:solidFill>
                <a:latin typeface="Calibri"/>
                <a:ea typeface="Calibri"/>
                <a:cs typeface="Calibri"/>
                <a:sym typeface="Calibri"/>
              </a:rPr>
              <a:t>Pesanan tertukar atau terlewat</a:t>
            </a:r>
            <a:endParaRPr b="0" i="0" sz="900" u="none" cap="none" strike="noStrike">
              <a:solidFill>
                <a:schemeClr val="dk1"/>
              </a:solidFill>
              <a:latin typeface="Calibri"/>
              <a:ea typeface="Calibri"/>
              <a:cs typeface="Calibri"/>
              <a:sym typeface="Calibri"/>
            </a:endParaRPr>
          </a:p>
        </p:txBody>
      </p:sp>
      <p:sp>
        <p:nvSpPr>
          <p:cNvPr id="155" name="Google Shape;155;p19"/>
          <p:cNvSpPr/>
          <p:nvPr/>
        </p:nvSpPr>
        <p:spPr>
          <a:xfrm>
            <a:off x="4780026" y="2496312"/>
            <a:ext cx="3703320"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1" i="0" lang="en" sz="900" u="none" cap="none" strike="noStrike">
                <a:solidFill>
                  <a:srgbClr val="FFFFFF"/>
                </a:solidFill>
                <a:latin typeface="Calibri"/>
                <a:ea typeface="Calibri"/>
                <a:cs typeface="Calibri"/>
                <a:sym typeface="Calibri"/>
              </a:rPr>
              <a:t>Papan dapur berurutan dengan jejak perubahan status</a:t>
            </a:r>
            <a:endParaRPr b="0" i="0" sz="900" u="none" cap="none" strike="noStrike">
              <a:solidFill>
                <a:schemeClr val="dk1"/>
              </a:solidFill>
              <a:latin typeface="Calibri"/>
              <a:ea typeface="Calibri"/>
              <a:cs typeface="Calibri"/>
              <a:sym typeface="Calibri"/>
            </a:endParaRPr>
          </a:p>
        </p:txBody>
      </p:sp>
      <p:sp>
        <p:nvSpPr>
          <p:cNvPr id="156" name="Google Shape;156;p19"/>
          <p:cNvSpPr/>
          <p:nvPr/>
        </p:nvSpPr>
        <p:spPr>
          <a:xfrm>
            <a:off x="4780026" y="2832354"/>
            <a:ext cx="3675888" cy="6858"/>
          </a:xfrm>
          <a:prstGeom prst="rect">
            <a:avLst/>
          </a:prstGeom>
          <a:solidFill>
            <a:srgbClr val="4E3A3E"/>
          </a:solidFill>
          <a:ln cap="flat" cmpd="sng" w="12700">
            <a:solidFill>
              <a:srgbClr val="4E3A3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7" name="Google Shape;157;p19"/>
          <p:cNvSpPr/>
          <p:nvPr/>
        </p:nvSpPr>
        <p:spPr>
          <a:xfrm>
            <a:off x="4780026" y="2921508"/>
            <a:ext cx="370332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7278"/>
              </a:buClr>
              <a:buSzPts val="900"/>
              <a:buFont typeface="Calibri"/>
              <a:buNone/>
            </a:pPr>
            <a:r>
              <a:rPr b="0" i="0" lang="en" sz="900" u="none" cap="none" strike="sngStrike">
                <a:solidFill>
                  <a:srgbClr val="8A7278"/>
                </a:solidFill>
                <a:latin typeface="Calibri"/>
                <a:ea typeface="Calibri"/>
                <a:cs typeface="Calibri"/>
                <a:sym typeface="Calibri"/>
              </a:rPr>
              <a:t>Stok habis baru ketahuan saat bayar</a:t>
            </a:r>
            <a:endParaRPr b="0" i="0" sz="900" u="none" cap="none" strike="noStrike">
              <a:solidFill>
                <a:schemeClr val="dk1"/>
              </a:solidFill>
              <a:latin typeface="Calibri"/>
              <a:ea typeface="Calibri"/>
              <a:cs typeface="Calibri"/>
              <a:sym typeface="Calibri"/>
            </a:endParaRPr>
          </a:p>
        </p:txBody>
      </p:sp>
      <p:sp>
        <p:nvSpPr>
          <p:cNvPr id="158" name="Google Shape;158;p19"/>
          <p:cNvSpPr/>
          <p:nvPr/>
        </p:nvSpPr>
        <p:spPr>
          <a:xfrm>
            <a:off x="4780026" y="3127248"/>
            <a:ext cx="3703320"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1" i="0" lang="en" sz="900" u="none" cap="none" strike="noStrike">
                <a:solidFill>
                  <a:srgbClr val="FFFFFF"/>
                </a:solidFill>
                <a:latin typeface="Calibri"/>
                <a:ea typeface="Calibri"/>
                <a:cs typeface="Calibri"/>
                <a:sym typeface="Calibri"/>
              </a:rPr>
              <a:t>Validasi stok di level transaksi database</a:t>
            </a:r>
            <a:endParaRPr b="0" i="0" sz="900" u="none" cap="none" strike="noStrike">
              <a:solidFill>
                <a:schemeClr val="dk1"/>
              </a:solidFill>
              <a:latin typeface="Calibri"/>
              <a:ea typeface="Calibri"/>
              <a:cs typeface="Calibri"/>
              <a:sym typeface="Calibri"/>
            </a:endParaRPr>
          </a:p>
        </p:txBody>
      </p:sp>
      <p:sp>
        <p:nvSpPr>
          <p:cNvPr id="159" name="Google Shape;159;p19"/>
          <p:cNvSpPr/>
          <p:nvPr/>
        </p:nvSpPr>
        <p:spPr>
          <a:xfrm>
            <a:off x="4780026" y="3463290"/>
            <a:ext cx="3675888" cy="6858"/>
          </a:xfrm>
          <a:prstGeom prst="rect">
            <a:avLst/>
          </a:prstGeom>
          <a:solidFill>
            <a:srgbClr val="4E3A3E"/>
          </a:solidFill>
          <a:ln cap="flat" cmpd="sng" w="12700">
            <a:solidFill>
              <a:srgbClr val="4E3A3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0" name="Google Shape;160;p19"/>
          <p:cNvSpPr/>
          <p:nvPr/>
        </p:nvSpPr>
        <p:spPr>
          <a:xfrm>
            <a:off x="4780026" y="3552444"/>
            <a:ext cx="370332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7278"/>
              </a:buClr>
              <a:buSzPts val="900"/>
              <a:buFont typeface="Calibri"/>
              <a:buNone/>
            </a:pPr>
            <a:r>
              <a:rPr b="0" i="0" lang="en" sz="900" u="none" cap="none" strike="sngStrike">
                <a:solidFill>
                  <a:srgbClr val="8A7278"/>
                </a:solidFill>
                <a:latin typeface="Calibri"/>
                <a:ea typeface="Calibri"/>
                <a:cs typeface="Calibri"/>
                <a:sym typeface="Calibri"/>
              </a:rPr>
              <a:t>Rekap penjualan manual</a:t>
            </a:r>
            <a:endParaRPr b="0" i="0" sz="900" u="none" cap="none" strike="noStrike">
              <a:solidFill>
                <a:schemeClr val="dk1"/>
              </a:solidFill>
              <a:latin typeface="Calibri"/>
              <a:ea typeface="Calibri"/>
              <a:cs typeface="Calibri"/>
              <a:sym typeface="Calibri"/>
            </a:endParaRPr>
          </a:p>
        </p:txBody>
      </p:sp>
      <p:sp>
        <p:nvSpPr>
          <p:cNvPr id="161" name="Google Shape;161;p19"/>
          <p:cNvSpPr/>
          <p:nvPr/>
        </p:nvSpPr>
        <p:spPr>
          <a:xfrm>
            <a:off x="4780026" y="3758184"/>
            <a:ext cx="3703320"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1" i="0" lang="en" sz="900" u="none" cap="none" strike="noStrike">
                <a:solidFill>
                  <a:srgbClr val="FFFFFF"/>
                </a:solidFill>
                <a:latin typeface="Calibri"/>
                <a:ea typeface="Calibri"/>
                <a:cs typeface="Calibri"/>
                <a:sym typeface="Calibri"/>
              </a:rPr>
              <a:t>Laporan produk terlaris &amp; stok rendah otomatis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214"/>
        </a:solidFill>
      </p:bgPr>
    </p:bg>
    <p:spTree>
      <p:nvGrpSpPr>
        <p:cNvPr id="166" name="Shape 166"/>
        <p:cNvGrpSpPr/>
        <p:nvPr/>
      </p:nvGrpSpPr>
      <p:grpSpPr>
        <a:xfrm>
          <a:off x="0" y="0"/>
          <a:ext cx="0" cy="0"/>
          <a:chOff x="0" y="0"/>
          <a:chExt cx="0" cy="0"/>
        </a:xfrm>
      </p:grpSpPr>
      <p:sp>
        <p:nvSpPr>
          <p:cNvPr id="167" name="Google Shape;167;p20"/>
          <p:cNvSpPr/>
          <p:nvPr/>
        </p:nvSpPr>
        <p:spPr>
          <a:xfrm>
            <a:off x="445770" y="288036"/>
            <a:ext cx="822960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4D"/>
              </a:buClr>
              <a:buSzPts val="800"/>
              <a:buFont typeface="Calibri"/>
              <a:buNone/>
            </a:pPr>
            <a:r>
              <a:rPr b="1" i="0" lang="en" sz="800" u="none" cap="none" strike="noStrike">
                <a:solidFill>
                  <a:srgbClr val="FFB84D"/>
                </a:solidFill>
                <a:latin typeface="Calibri"/>
                <a:ea typeface="Calibri"/>
                <a:cs typeface="Calibri"/>
                <a:sym typeface="Calibri"/>
              </a:rPr>
              <a:t>BUSINESS PERSPECTIVE</a:t>
            </a:r>
            <a:endParaRPr b="0" i="0" sz="800" u="none" cap="none" strike="noStrike">
              <a:solidFill>
                <a:schemeClr val="dk1"/>
              </a:solidFill>
              <a:latin typeface="Calibri"/>
              <a:ea typeface="Calibri"/>
              <a:cs typeface="Calibri"/>
              <a:sym typeface="Calibri"/>
            </a:endParaRPr>
          </a:p>
        </p:txBody>
      </p:sp>
      <p:sp>
        <p:nvSpPr>
          <p:cNvPr id="168" name="Google Shape;168;p20"/>
          <p:cNvSpPr/>
          <p:nvPr/>
        </p:nvSpPr>
        <p:spPr>
          <a:xfrm>
            <a:off x="445770" y="493776"/>
            <a:ext cx="8229600" cy="4251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300"/>
              <a:buFont typeface="Calibri"/>
              <a:buNone/>
            </a:pPr>
            <a:r>
              <a:rPr b="1" i="0" lang="en" sz="2300" u="none" cap="none" strike="noStrike">
                <a:solidFill>
                  <a:srgbClr val="FFFFFF"/>
                </a:solidFill>
                <a:latin typeface="Calibri"/>
                <a:ea typeface="Calibri"/>
                <a:cs typeface="Calibri"/>
                <a:sym typeface="Calibri"/>
              </a:rPr>
              <a:t>Business Model, Impact &amp; Scalability</a:t>
            </a:r>
            <a:endParaRPr b="0" i="0" sz="2300" u="none" cap="none" strike="noStrike">
              <a:solidFill>
                <a:schemeClr val="dk1"/>
              </a:solidFill>
              <a:latin typeface="Calibri"/>
              <a:ea typeface="Calibri"/>
              <a:cs typeface="Calibri"/>
              <a:sym typeface="Calibri"/>
            </a:endParaRPr>
          </a:p>
        </p:txBody>
      </p:sp>
      <p:sp>
        <p:nvSpPr>
          <p:cNvPr id="169" name="Google Shape;169;p20"/>
          <p:cNvSpPr/>
          <p:nvPr/>
        </p:nvSpPr>
        <p:spPr>
          <a:xfrm>
            <a:off x="445770" y="1200150"/>
            <a:ext cx="3840480" cy="1440180"/>
          </a:xfrm>
          <a:prstGeom prst="roundRect">
            <a:avLst>
              <a:gd fmla="val 4762" name="adj"/>
            </a:avLst>
          </a:prstGeom>
          <a:solidFill>
            <a:srgbClr val="2B1F22"/>
          </a:solidFill>
          <a:ln cap="flat" cmpd="sng" w="12700">
            <a:solidFill>
              <a:srgbClr val="2B1F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0" name="Google Shape;170;p20"/>
          <p:cNvSpPr/>
          <p:nvPr/>
        </p:nvSpPr>
        <p:spPr>
          <a:xfrm>
            <a:off x="665226" y="1337310"/>
            <a:ext cx="34290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4D"/>
              </a:buClr>
              <a:buSzPts val="1200"/>
              <a:buFont typeface="Calibri"/>
              <a:buNone/>
            </a:pPr>
            <a:r>
              <a:rPr b="1" i="0" lang="en" sz="1200" u="none" cap="none" strike="noStrike">
                <a:solidFill>
                  <a:srgbClr val="FFB84D"/>
                </a:solidFill>
                <a:latin typeface="Calibri"/>
                <a:ea typeface="Calibri"/>
                <a:cs typeface="Calibri"/>
                <a:sym typeface="Calibri"/>
              </a:rPr>
              <a:t>Business Model</a:t>
            </a:r>
            <a:endParaRPr b="0" i="0" sz="1200" u="none" cap="none" strike="noStrike">
              <a:solidFill>
                <a:schemeClr val="dk1"/>
              </a:solidFill>
              <a:latin typeface="Calibri"/>
              <a:ea typeface="Calibri"/>
              <a:cs typeface="Calibri"/>
              <a:sym typeface="Calibri"/>
            </a:endParaRPr>
          </a:p>
        </p:txBody>
      </p:sp>
      <p:sp>
        <p:nvSpPr>
          <p:cNvPr id="171" name="Google Shape;171;p20"/>
          <p:cNvSpPr/>
          <p:nvPr/>
        </p:nvSpPr>
        <p:spPr>
          <a:xfrm>
            <a:off x="665226" y="1577340"/>
            <a:ext cx="3429000" cy="3086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Calibri"/>
              <a:buNone/>
            </a:pPr>
            <a:r>
              <a:rPr b="1" i="0" lang="en" sz="1700" u="none" cap="none" strike="noStrike">
                <a:solidFill>
                  <a:srgbClr val="FFFFFF"/>
                </a:solidFill>
                <a:latin typeface="Calibri"/>
                <a:ea typeface="Calibri"/>
                <a:cs typeface="Calibri"/>
                <a:sym typeface="Calibri"/>
              </a:rPr>
              <a:t>B2B SaaS — Freemium</a:t>
            </a:r>
            <a:endParaRPr b="0" i="0" sz="1700" u="none" cap="none" strike="noStrike">
              <a:solidFill>
                <a:schemeClr val="dk1"/>
              </a:solidFill>
              <a:latin typeface="Calibri"/>
              <a:ea typeface="Calibri"/>
              <a:cs typeface="Calibri"/>
              <a:sym typeface="Calibri"/>
            </a:endParaRPr>
          </a:p>
        </p:txBody>
      </p:sp>
      <p:sp>
        <p:nvSpPr>
          <p:cNvPr id="172" name="Google Shape;172;p20"/>
          <p:cNvSpPr/>
          <p:nvPr/>
        </p:nvSpPr>
        <p:spPr>
          <a:xfrm>
            <a:off x="665226" y="1906524"/>
            <a:ext cx="3429000" cy="617220"/>
          </a:xfrm>
          <a:prstGeom prst="rect">
            <a:avLst/>
          </a:prstGeom>
          <a:noFill/>
          <a:ln>
            <a:noFill/>
          </a:ln>
        </p:spPr>
        <p:txBody>
          <a:bodyPr anchorCtr="0" anchor="t" bIns="0" lIns="0" spcFirstLastPara="1" rIns="0" wrap="square" tIns="0">
            <a:noAutofit/>
          </a:bodyPr>
          <a:lstStyle/>
          <a:p>
            <a:pPr indent="0" lvl="0" marL="0" marR="0" rtl="0" algn="l">
              <a:lnSpc>
                <a:spcPct val="130434"/>
              </a:lnSpc>
              <a:spcBef>
                <a:spcPts val="0"/>
              </a:spcBef>
              <a:spcAft>
                <a:spcPts val="0"/>
              </a:spcAft>
              <a:buClr>
                <a:srgbClr val="C4B2B6"/>
              </a:buClr>
              <a:buSzPts val="900"/>
              <a:buFont typeface="Calibri"/>
              <a:buNone/>
            </a:pPr>
            <a:r>
              <a:rPr b="0" i="0" lang="en" sz="900" u="none" cap="none" strike="noStrike">
                <a:solidFill>
                  <a:srgbClr val="C4B2B6"/>
                </a:solidFill>
                <a:latin typeface="Calibri"/>
                <a:ea typeface="Calibri"/>
                <a:cs typeface="Calibri"/>
                <a:sym typeface="Calibri"/>
              </a:rPr>
              <a:t>Gratis sampai batas transaksi harian tertentu, lalu langganan bulanan per outlet. Model ini penting karena UMKM menolak biaya di muka sebelum melihat manfaatnya.</a:t>
            </a:r>
            <a:endParaRPr b="0" i="0" sz="900" u="none" cap="none" strike="noStrike">
              <a:solidFill>
                <a:schemeClr val="dk1"/>
              </a:solidFill>
              <a:latin typeface="Calibri"/>
              <a:ea typeface="Calibri"/>
              <a:cs typeface="Calibri"/>
              <a:sym typeface="Calibri"/>
            </a:endParaRPr>
          </a:p>
        </p:txBody>
      </p:sp>
      <p:sp>
        <p:nvSpPr>
          <p:cNvPr id="173" name="Google Shape;173;p20"/>
          <p:cNvSpPr/>
          <p:nvPr/>
        </p:nvSpPr>
        <p:spPr>
          <a:xfrm>
            <a:off x="445770" y="2777490"/>
            <a:ext cx="3840480" cy="1508760"/>
          </a:xfrm>
          <a:prstGeom prst="roundRect">
            <a:avLst>
              <a:gd fmla="val 4545" name="adj"/>
            </a:avLst>
          </a:prstGeom>
          <a:solidFill>
            <a:srgbClr val="2B1F22"/>
          </a:solidFill>
          <a:ln cap="flat" cmpd="sng" w="12700">
            <a:solidFill>
              <a:srgbClr val="2B1F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4" name="Google Shape;174;p20"/>
          <p:cNvSpPr/>
          <p:nvPr/>
        </p:nvSpPr>
        <p:spPr>
          <a:xfrm>
            <a:off x="665226" y="2914650"/>
            <a:ext cx="34290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4D"/>
              </a:buClr>
              <a:buSzPts val="1200"/>
              <a:buFont typeface="Calibri"/>
              <a:buNone/>
            </a:pPr>
            <a:r>
              <a:rPr b="1" i="0" lang="en" sz="1200" u="none" cap="none" strike="noStrike">
                <a:solidFill>
                  <a:srgbClr val="FFB84D"/>
                </a:solidFill>
                <a:latin typeface="Calibri"/>
                <a:ea typeface="Calibri"/>
                <a:cs typeface="Calibri"/>
                <a:sym typeface="Calibri"/>
              </a:rPr>
              <a:t>Impact</a:t>
            </a:r>
            <a:endParaRPr b="0" i="0" sz="1200" u="none" cap="none" strike="noStrike">
              <a:solidFill>
                <a:schemeClr val="dk1"/>
              </a:solidFill>
              <a:latin typeface="Calibri"/>
              <a:ea typeface="Calibri"/>
              <a:cs typeface="Calibri"/>
              <a:sym typeface="Calibri"/>
            </a:endParaRPr>
          </a:p>
        </p:txBody>
      </p:sp>
      <p:sp>
        <p:nvSpPr>
          <p:cNvPr id="175" name="Google Shape;175;p20"/>
          <p:cNvSpPr/>
          <p:nvPr/>
        </p:nvSpPr>
        <p:spPr>
          <a:xfrm>
            <a:off x="665226" y="3168396"/>
            <a:ext cx="3429000" cy="1028700"/>
          </a:xfrm>
          <a:prstGeom prst="rect">
            <a:avLst/>
          </a:prstGeom>
          <a:noFill/>
          <a:ln>
            <a:noFill/>
          </a:ln>
        </p:spPr>
        <p:txBody>
          <a:bodyPr anchorCtr="0" anchor="t" bIns="0" lIns="0" spcFirstLastPara="1" rIns="0" wrap="square" tIns="0">
            <a:noAutofit/>
          </a:bodyPr>
          <a:lstStyle/>
          <a:p>
            <a:pPr indent="-146050" lvl="0" marL="139700" marR="0" rtl="0" algn="l">
              <a:spcBef>
                <a:spcPts val="0"/>
              </a:spcBef>
              <a:spcAft>
                <a:spcPts val="0"/>
              </a:spcAft>
              <a:buClr>
                <a:srgbClr val="C4B2B6"/>
              </a:buClr>
              <a:buSzPts val="900"/>
              <a:buFont typeface="Calibri"/>
              <a:buChar char="•"/>
            </a:pPr>
            <a:r>
              <a:rPr b="0" i="0" lang="en" sz="900" u="none" cap="none" strike="noStrike">
                <a:solidFill>
                  <a:srgbClr val="C4B2B6"/>
                </a:solidFill>
                <a:latin typeface="Calibri"/>
                <a:ea typeface="Calibri"/>
                <a:cs typeface="Calibri"/>
                <a:sym typeface="Calibri"/>
              </a:rPr>
              <a:t>Kapasitas layanan tidak lagi dibatasi kecepatan mencatat</a:t>
            </a:r>
            <a:endParaRPr b="0" i="0" sz="900" u="none" cap="none" strike="noStrike">
              <a:solidFill>
                <a:schemeClr val="dk1"/>
              </a:solidFill>
              <a:latin typeface="Calibri"/>
              <a:ea typeface="Calibri"/>
              <a:cs typeface="Calibri"/>
              <a:sym typeface="Calibri"/>
            </a:endParaRPr>
          </a:p>
          <a:p>
            <a:pPr indent="-146050" lvl="0" marL="139700" marR="0" rtl="0" algn="l">
              <a:spcBef>
                <a:spcPts val="500"/>
              </a:spcBef>
              <a:spcAft>
                <a:spcPts val="0"/>
              </a:spcAft>
              <a:buClr>
                <a:srgbClr val="C4B2B6"/>
              </a:buClr>
              <a:buSzPts val="900"/>
              <a:buFont typeface="Calibri"/>
              <a:buChar char="•"/>
            </a:pPr>
            <a:r>
              <a:rPr b="0" i="0" lang="en" sz="900" u="none" cap="none" strike="noStrike">
                <a:solidFill>
                  <a:srgbClr val="C4B2B6"/>
                </a:solidFill>
                <a:latin typeface="Calibri"/>
                <a:ea typeface="Calibri"/>
                <a:cs typeface="Calibri"/>
                <a:sym typeface="Calibri"/>
              </a:rPr>
              <a:t>Pesanan salah dan terlewat berkurang karena ada jejak status</a:t>
            </a:r>
            <a:endParaRPr b="0" i="0" sz="900" u="none" cap="none" strike="noStrike">
              <a:solidFill>
                <a:schemeClr val="dk1"/>
              </a:solidFill>
              <a:latin typeface="Calibri"/>
              <a:ea typeface="Calibri"/>
              <a:cs typeface="Calibri"/>
              <a:sym typeface="Calibri"/>
            </a:endParaRPr>
          </a:p>
          <a:p>
            <a:pPr indent="-146050" lvl="0" marL="139700" marR="0" rtl="0" algn="l">
              <a:spcBef>
                <a:spcPts val="500"/>
              </a:spcBef>
              <a:spcAft>
                <a:spcPts val="0"/>
              </a:spcAft>
              <a:buClr>
                <a:srgbClr val="C4B2B6"/>
              </a:buClr>
              <a:buSzPts val="900"/>
              <a:buFont typeface="Calibri"/>
              <a:buChar char="•"/>
            </a:pPr>
            <a:r>
              <a:rPr b="0" i="0" lang="en" sz="900" u="none" cap="none" strike="noStrike">
                <a:solidFill>
                  <a:srgbClr val="C4B2B6"/>
                </a:solidFill>
                <a:latin typeface="Calibri"/>
                <a:ea typeface="Calibri"/>
                <a:cs typeface="Calibri"/>
                <a:sym typeface="Calibri"/>
              </a:rPr>
              <a:t>Belanja bahan berdasarkan data produk terlaris, bukan perkiraan</a:t>
            </a:r>
            <a:endParaRPr b="0" i="0" sz="900" u="none" cap="none" strike="noStrike">
              <a:solidFill>
                <a:schemeClr val="dk1"/>
              </a:solidFill>
              <a:latin typeface="Calibri"/>
              <a:ea typeface="Calibri"/>
              <a:cs typeface="Calibri"/>
              <a:sym typeface="Calibri"/>
            </a:endParaRPr>
          </a:p>
        </p:txBody>
      </p:sp>
      <p:sp>
        <p:nvSpPr>
          <p:cNvPr id="176" name="Google Shape;176;p20"/>
          <p:cNvSpPr/>
          <p:nvPr/>
        </p:nvSpPr>
        <p:spPr>
          <a:xfrm>
            <a:off x="4560570" y="1200150"/>
            <a:ext cx="4114800" cy="3086100"/>
          </a:xfrm>
          <a:prstGeom prst="roundRect">
            <a:avLst>
              <a:gd fmla="val 2222" name="adj"/>
            </a:avLst>
          </a:prstGeom>
          <a:solidFill>
            <a:srgbClr val="3A2A2E"/>
          </a:solidFill>
          <a:ln cap="flat" cmpd="sng" w="12700">
            <a:solidFill>
              <a:srgbClr val="3A2A2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7" name="Google Shape;177;p20"/>
          <p:cNvSpPr/>
          <p:nvPr/>
        </p:nvSpPr>
        <p:spPr>
          <a:xfrm>
            <a:off x="4780026" y="1357884"/>
            <a:ext cx="370332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4D"/>
              </a:buClr>
              <a:buSzPts val="1200"/>
              <a:buFont typeface="Calibri"/>
              <a:buNone/>
            </a:pPr>
            <a:r>
              <a:rPr b="1" i="0" lang="en" sz="1200" u="none" cap="none" strike="noStrike">
                <a:solidFill>
                  <a:srgbClr val="FFB84D"/>
                </a:solidFill>
                <a:latin typeface="Calibri"/>
                <a:ea typeface="Calibri"/>
                <a:cs typeface="Calibri"/>
                <a:sym typeface="Calibri"/>
              </a:rPr>
              <a:t>Scalability Potential</a:t>
            </a:r>
            <a:endParaRPr b="0" i="0" sz="1200" u="none" cap="none" strike="noStrike">
              <a:solidFill>
                <a:schemeClr val="dk1"/>
              </a:solidFill>
              <a:latin typeface="Calibri"/>
              <a:ea typeface="Calibri"/>
              <a:cs typeface="Calibri"/>
              <a:sym typeface="Calibri"/>
            </a:endParaRPr>
          </a:p>
        </p:txBody>
      </p:sp>
      <p:sp>
        <p:nvSpPr>
          <p:cNvPr id="178" name="Google Shape;178;p20"/>
          <p:cNvSpPr/>
          <p:nvPr/>
        </p:nvSpPr>
        <p:spPr>
          <a:xfrm>
            <a:off x="4780026" y="1680210"/>
            <a:ext cx="288036" cy="288036"/>
          </a:xfrm>
          <a:prstGeom prst="ellipse">
            <a:avLst/>
          </a:prstGeom>
          <a:solidFill>
            <a:srgbClr val="F5533D"/>
          </a:solidFill>
          <a:ln cap="flat" cmpd="sng" w="12700">
            <a:solidFill>
              <a:srgbClr val="F5533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9" name="Google Shape;179;p20"/>
          <p:cNvSpPr/>
          <p:nvPr/>
        </p:nvSpPr>
        <p:spPr>
          <a:xfrm>
            <a:off x="4780026" y="1680210"/>
            <a:ext cx="288036" cy="2880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214"/>
              </a:buClr>
              <a:buSzPts val="1000"/>
              <a:buFont typeface="Calibri"/>
              <a:buNone/>
            </a:pPr>
            <a:r>
              <a:rPr b="1" i="0" lang="en" sz="1000" u="none" cap="none" strike="noStrike">
                <a:solidFill>
                  <a:srgbClr val="1A1214"/>
                </a:solidFill>
                <a:latin typeface="Calibri"/>
                <a:ea typeface="Calibri"/>
                <a:cs typeface="Calibri"/>
                <a:sym typeface="Calibri"/>
              </a:rPr>
              <a:t>1</a:t>
            </a:r>
            <a:endParaRPr b="0" i="0" sz="1000" u="none" cap="none" strike="noStrike">
              <a:solidFill>
                <a:schemeClr val="dk1"/>
              </a:solidFill>
              <a:latin typeface="Calibri"/>
              <a:ea typeface="Calibri"/>
              <a:cs typeface="Calibri"/>
              <a:sym typeface="Calibri"/>
            </a:endParaRPr>
          </a:p>
        </p:txBody>
      </p:sp>
      <p:sp>
        <p:nvSpPr>
          <p:cNvPr id="180" name="Google Shape;180;p20"/>
          <p:cNvSpPr/>
          <p:nvPr/>
        </p:nvSpPr>
        <p:spPr>
          <a:xfrm>
            <a:off x="5177790" y="1659636"/>
            <a:ext cx="32918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More Users</a:t>
            </a:r>
            <a:endParaRPr b="0" i="0" sz="1100" u="none" cap="none" strike="noStrike">
              <a:solidFill>
                <a:schemeClr val="dk1"/>
              </a:solidFill>
              <a:latin typeface="Calibri"/>
              <a:ea typeface="Calibri"/>
              <a:cs typeface="Calibri"/>
              <a:sym typeface="Calibri"/>
            </a:endParaRPr>
          </a:p>
        </p:txBody>
      </p:sp>
      <p:sp>
        <p:nvSpPr>
          <p:cNvPr id="181" name="Google Shape;181;p20"/>
          <p:cNvSpPr/>
          <p:nvPr/>
        </p:nvSpPr>
        <p:spPr>
          <a:xfrm>
            <a:off x="5177790" y="1899666"/>
            <a:ext cx="3326130" cy="617220"/>
          </a:xfrm>
          <a:prstGeom prst="rect">
            <a:avLst/>
          </a:prstGeom>
          <a:noFill/>
          <a:ln>
            <a:noFill/>
          </a:ln>
        </p:spPr>
        <p:txBody>
          <a:bodyPr anchorCtr="0" anchor="t" bIns="0" lIns="0" spcFirstLastPara="1" rIns="0" wrap="square" tIns="0">
            <a:noAutofit/>
          </a:bodyPr>
          <a:lstStyle/>
          <a:p>
            <a:pPr indent="0" lvl="0" marL="0" marR="0" rtl="0" algn="l">
              <a:lnSpc>
                <a:spcPct val="130434"/>
              </a:lnSpc>
              <a:spcBef>
                <a:spcPts val="0"/>
              </a:spcBef>
              <a:spcAft>
                <a:spcPts val="0"/>
              </a:spcAft>
              <a:buClr>
                <a:srgbClr val="C4B2B6"/>
              </a:buClr>
              <a:buSzPts val="900"/>
              <a:buFont typeface="Calibri"/>
              <a:buNone/>
            </a:pPr>
            <a:r>
              <a:rPr b="0" i="0" lang="en" sz="900" u="none" cap="none" strike="noStrike">
                <a:solidFill>
                  <a:srgbClr val="C4B2B6"/>
                </a:solidFill>
                <a:latin typeface="Calibri"/>
                <a:ea typeface="Calibri"/>
                <a:cs typeface="Calibri"/>
                <a:sym typeface="Calibri"/>
              </a:rPr>
              <a:t>Multi-outlet: satu instance melayani banyak warung dengan data terisolasi per tenant.</a:t>
            </a:r>
            <a:endParaRPr b="0" i="0" sz="900" u="none" cap="none" strike="noStrike">
              <a:solidFill>
                <a:schemeClr val="dk1"/>
              </a:solidFill>
              <a:latin typeface="Calibri"/>
              <a:ea typeface="Calibri"/>
              <a:cs typeface="Calibri"/>
              <a:sym typeface="Calibri"/>
            </a:endParaRPr>
          </a:p>
        </p:txBody>
      </p:sp>
      <p:sp>
        <p:nvSpPr>
          <p:cNvPr id="182" name="Google Shape;182;p20"/>
          <p:cNvSpPr/>
          <p:nvPr/>
        </p:nvSpPr>
        <p:spPr>
          <a:xfrm>
            <a:off x="4780026" y="2571750"/>
            <a:ext cx="288036" cy="288036"/>
          </a:xfrm>
          <a:prstGeom prst="ellipse">
            <a:avLst/>
          </a:prstGeom>
          <a:solidFill>
            <a:srgbClr val="F5533D"/>
          </a:solidFill>
          <a:ln cap="flat" cmpd="sng" w="12700">
            <a:solidFill>
              <a:srgbClr val="F5533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3" name="Google Shape;183;p20"/>
          <p:cNvSpPr/>
          <p:nvPr/>
        </p:nvSpPr>
        <p:spPr>
          <a:xfrm>
            <a:off x="4780026" y="2571750"/>
            <a:ext cx="288036" cy="2880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214"/>
              </a:buClr>
              <a:buSzPts val="1000"/>
              <a:buFont typeface="Calibri"/>
              <a:buNone/>
            </a:pPr>
            <a:r>
              <a:rPr b="1" i="0" lang="en" sz="1000" u="none" cap="none" strike="noStrike">
                <a:solidFill>
                  <a:srgbClr val="1A1214"/>
                </a:solidFill>
                <a:latin typeface="Calibri"/>
                <a:ea typeface="Calibri"/>
                <a:cs typeface="Calibri"/>
                <a:sym typeface="Calibri"/>
              </a:rPr>
              <a:t>2</a:t>
            </a:r>
            <a:endParaRPr b="0" i="0" sz="1000" u="none" cap="none" strike="noStrike">
              <a:solidFill>
                <a:schemeClr val="dk1"/>
              </a:solidFill>
              <a:latin typeface="Calibri"/>
              <a:ea typeface="Calibri"/>
              <a:cs typeface="Calibri"/>
              <a:sym typeface="Calibri"/>
            </a:endParaRPr>
          </a:p>
        </p:txBody>
      </p:sp>
      <p:sp>
        <p:nvSpPr>
          <p:cNvPr id="184" name="Google Shape;184;p20"/>
          <p:cNvSpPr/>
          <p:nvPr/>
        </p:nvSpPr>
        <p:spPr>
          <a:xfrm>
            <a:off x="5177790" y="2551176"/>
            <a:ext cx="32918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More Data</a:t>
            </a:r>
            <a:endParaRPr b="0" i="0" sz="1100" u="none" cap="none" strike="noStrike">
              <a:solidFill>
                <a:schemeClr val="dk1"/>
              </a:solidFill>
              <a:latin typeface="Calibri"/>
              <a:ea typeface="Calibri"/>
              <a:cs typeface="Calibri"/>
              <a:sym typeface="Calibri"/>
            </a:endParaRPr>
          </a:p>
        </p:txBody>
      </p:sp>
      <p:sp>
        <p:nvSpPr>
          <p:cNvPr id="185" name="Google Shape;185;p20"/>
          <p:cNvSpPr/>
          <p:nvPr/>
        </p:nvSpPr>
        <p:spPr>
          <a:xfrm>
            <a:off x="5177790" y="2791206"/>
            <a:ext cx="3326130" cy="617220"/>
          </a:xfrm>
          <a:prstGeom prst="rect">
            <a:avLst/>
          </a:prstGeom>
          <a:noFill/>
          <a:ln>
            <a:noFill/>
          </a:ln>
        </p:spPr>
        <p:txBody>
          <a:bodyPr anchorCtr="0" anchor="t" bIns="0" lIns="0" spcFirstLastPara="1" rIns="0" wrap="square" tIns="0">
            <a:noAutofit/>
          </a:bodyPr>
          <a:lstStyle/>
          <a:p>
            <a:pPr indent="0" lvl="0" marL="0" marR="0" rtl="0" algn="l">
              <a:lnSpc>
                <a:spcPct val="130434"/>
              </a:lnSpc>
              <a:spcBef>
                <a:spcPts val="0"/>
              </a:spcBef>
              <a:spcAft>
                <a:spcPts val="0"/>
              </a:spcAft>
              <a:buClr>
                <a:srgbClr val="C4B2B6"/>
              </a:buClr>
              <a:buSzPts val="900"/>
              <a:buFont typeface="Calibri"/>
              <a:buNone/>
            </a:pPr>
            <a:r>
              <a:rPr b="0" i="0" lang="en" sz="900" u="none" cap="none" strike="noStrike">
                <a:solidFill>
                  <a:srgbClr val="C4B2B6"/>
                </a:solidFill>
                <a:latin typeface="Calibri"/>
                <a:ea typeface="Calibri"/>
                <a:cs typeface="Calibri"/>
                <a:sym typeface="Calibri"/>
              </a:rPr>
              <a:t>Index komposit pada kolom laporan, agregasi di level SQL, cache Redis untuk katalog dan dashboard.</a:t>
            </a:r>
            <a:endParaRPr b="0" i="0" sz="900" u="none" cap="none" strike="noStrike">
              <a:solidFill>
                <a:schemeClr val="dk1"/>
              </a:solidFill>
              <a:latin typeface="Calibri"/>
              <a:ea typeface="Calibri"/>
              <a:cs typeface="Calibri"/>
              <a:sym typeface="Calibri"/>
            </a:endParaRPr>
          </a:p>
        </p:txBody>
      </p:sp>
      <p:sp>
        <p:nvSpPr>
          <p:cNvPr id="186" name="Google Shape;186;p20"/>
          <p:cNvSpPr/>
          <p:nvPr/>
        </p:nvSpPr>
        <p:spPr>
          <a:xfrm>
            <a:off x="4780026" y="3463290"/>
            <a:ext cx="288036" cy="288036"/>
          </a:xfrm>
          <a:prstGeom prst="ellipse">
            <a:avLst/>
          </a:prstGeom>
          <a:solidFill>
            <a:srgbClr val="F5533D"/>
          </a:solidFill>
          <a:ln cap="flat" cmpd="sng" w="12700">
            <a:solidFill>
              <a:srgbClr val="F5533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7" name="Google Shape;187;p20"/>
          <p:cNvSpPr/>
          <p:nvPr/>
        </p:nvSpPr>
        <p:spPr>
          <a:xfrm>
            <a:off x="4780026" y="3463290"/>
            <a:ext cx="288036" cy="2880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214"/>
              </a:buClr>
              <a:buSzPts val="1000"/>
              <a:buFont typeface="Calibri"/>
              <a:buNone/>
            </a:pPr>
            <a:r>
              <a:rPr b="1" i="0" lang="en" sz="1000" u="none" cap="none" strike="noStrike">
                <a:solidFill>
                  <a:srgbClr val="1A1214"/>
                </a:solidFill>
                <a:latin typeface="Calibri"/>
                <a:ea typeface="Calibri"/>
                <a:cs typeface="Calibri"/>
                <a:sym typeface="Calibri"/>
              </a:rPr>
              <a:t>3</a:t>
            </a:r>
            <a:endParaRPr b="0" i="0" sz="1000" u="none" cap="none" strike="noStrike">
              <a:solidFill>
                <a:schemeClr val="dk1"/>
              </a:solidFill>
              <a:latin typeface="Calibri"/>
              <a:ea typeface="Calibri"/>
              <a:cs typeface="Calibri"/>
              <a:sym typeface="Calibri"/>
            </a:endParaRPr>
          </a:p>
        </p:txBody>
      </p:sp>
      <p:sp>
        <p:nvSpPr>
          <p:cNvPr id="188" name="Google Shape;188;p20"/>
          <p:cNvSpPr/>
          <p:nvPr/>
        </p:nvSpPr>
        <p:spPr>
          <a:xfrm>
            <a:off x="5177790" y="3442716"/>
            <a:ext cx="32918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More Features</a:t>
            </a:r>
            <a:endParaRPr b="0" i="0" sz="1100" u="none" cap="none" strike="noStrike">
              <a:solidFill>
                <a:schemeClr val="dk1"/>
              </a:solidFill>
              <a:latin typeface="Calibri"/>
              <a:ea typeface="Calibri"/>
              <a:cs typeface="Calibri"/>
              <a:sym typeface="Calibri"/>
            </a:endParaRPr>
          </a:p>
        </p:txBody>
      </p:sp>
      <p:sp>
        <p:nvSpPr>
          <p:cNvPr id="189" name="Google Shape;189;p20"/>
          <p:cNvSpPr/>
          <p:nvPr/>
        </p:nvSpPr>
        <p:spPr>
          <a:xfrm>
            <a:off x="5177790" y="3682746"/>
            <a:ext cx="3326130" cy="617220"/>
          </a:xfrm>
          <a:prstGeom prst="rect">
            <a:avLst/>
          </a:prstGeom>
          <a:noFill/>
          <a:ln>
            <a:noFill/>
          </a:ln>
        </p:spPr>
        <p:txBody>
          <a:bodyPr anchorCtr="0" anchor="t" bIns="0" lIns="0" spcFirstLastPara="1" rIns="0" wrap="square" tIns="0">
            <a:noAutofit/>
          </a:bodyPr>
          <a:lstStyle/>
          <a:p>
            <a:pPr indent="0" lvl="0" marL="0" marR="0" rtl="0" algn="l">
              <a:lnSpc>
                <a:spcPct val="130434"/>
              </a:lnSpc>
              <a:spcBef>
                <a:spcPts val="0"/>
              </a:spcBef>
              <a:spcAft>
                <a:spcPts val="0"/>
              </a:spcAft>
              <a:buClr>
                <a:srgbClr val="C4B2B6"/>
              </a:buClr>
              <a:buSzPts val="900"/>
              <a:buFont typeface="Calibri"/>
              <a:buNone/>
            </a:pPr>
            <a:r>
              <a:rPr b="0" i="0" lang="en" sz="900" u="none" cap="none" strike="noStrike">
                <a:solidFill>
                  <a:srgbClr val="C4B2B6"/>
                </a:solidFill>
                <a:latin typeface="Calibri"/>
                <a:ea typeface="Calibri"/>
                <a:cs typeface="Calibri"/>
                <a:sym typeface="Calibri"/>
              </a:rPr>
              <a:t>Integrasi QRIS otomatis, notifikasi WhatsApp saat pesanan siap, program loyalitas, dan aplikasi mobile memakai API yang sama.</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214"/>
        </a:solidFill>
      </p:bgPr>
    </p:bg>
    <p:spTree>
      <p:nvGrpSpPr>
        <p:cNvPr id="194" name="Shape 194"/>
        <p:cNvGrpSpPr/>
        <p:nvPr/>
      </p:nvGrpSpPr>
      <p:grpSpPr>
        <a:xfrm>
          <a:off x="0" y="0"/>
          <a:ext cx="0" cy="0"/>
          <a:chOff x="0" y="0"/>
          <a:chExt cx="0" cy="0"/>
        </a:xfrm>
      </p:grpSpPr>
      <p:sp>
        <p:nvSpPr>
          <p:cNvPr id="195" name="Google Shape;195;p21"/>
          <p:cNvSpPr/>
          <p:nvPr/>
        </p:nvSpPr>
        <p:spPr>
          <a:xfrm>
            <a:off x="445770" y="288036"/>
            <a:ext cx="822960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4D"/>
              </a:buClr>
              <a:buSzPts val="800"/>
              <a:buFont typeface="Calibri"/>
              <a:buNone/>
            </a:pPr>
            <a:r>
              <a:rPr b="1" i="0" lang="en" sz="800" u="none" cap="none" strike="noStrike">
                <a:solidFill>
                  <a:srgbClr val="FFB84D"/>
                </a:solidFill>
                <a:latin typeface="Calibri"/>
                <a:ea typeface="Calibri"/>
                <a:cs typeface="Calibri"/>
                <a:sym typeface="Calibri"/>
              </a:rPr>
              <a:t>DETAIL WEBSITE</a:t>
            </a:r>
            <a:endParaRPr b="0" i="0" sz="800" u="none" cap="none" strike="noStrike">
              <a:solidFill>
                <a:schemeClr val="dk1"/>
              </a:solidFill>
              <a:latin typeface="Calibri"/>
              <a:ea typeface="Calibri"/>
              <a:cs typeface="Calibri"/>
              <a:sym typeface="Calibri"/>
            </a:endParaRPr>
          </a:p>
        </p:txBody>
      </p:sp>
      <p:sp>
        <p:nvSpPr>
          <p:cNvPr id="196" name="Google Shape;196;p21"/>
          <p:cNvSpPr/>
          <p:nvPr/>
        </p:nvSpPr>
        <p:spPr>
          <a:xfrm>
            <a:off x="445770" y="493776"/>
            <a:ext cx="8229600" cy="4251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300"/>
              <a:buFont typeface="Calibri"/>
              <a:buNone/>
            </a:pPr>
            <a:r>
              <a:rPr b="1" i="0" lang="en" sz="2300" u="none" cap="none" strike="noStrike">
                <a:solidFill>
                  <a:srgbClr val="FFFFFF"/>
                </a:solidFill>
                <a:latin typeface="Calibri"/>
                <a:ea typeface="Calibri"/>
                <a:cs typeface="Calibri"/>
                <a:sym typeface="Calibri"/>
              </a:rPr>
              <a:t>User Flow — Dari Scan QR ke Pesanan Siap</a:t>
            </a:r>
            <a:endParaRPr b="0" i="0" sz="2300" u="none" cap="none" strike="noStrike">
              <a:solidFill>
                <a:schemeClr val="dk1"/>
              </a:solidFill>
              <a:latin typeface="Calibri"/>
              <a:ea typeface="Calibri"/>
              <a:cs typeface="Calibri"/>
              <a:sym typeface="Calibri"/>
            </a:endParaRPr>
          </a:p>
        </p:txBody>
      </p:sp>
      <p:sp>
        <p:nvSpPr>
          <p:cNvPr id="197" name="Google Shape;197;p21"/>
          <p:cNvSpPr/>
          <p:nvPr/>
        </p:nvSpPr>
        <p:spPr>
          <a:xfrm>
            <a:off x="445770" y="1405890"/>
            <a:ext cx="1906524" cy="925830"/>
          </a:xfrm>
          <a:prstGeom prst="roundRect">
            <a:avLst>
              <a:gd fmla="val 7407" name="adj"/>
            </a:avLst>
          </a:prstGeom>
          <a:solidFill>
            <a:srgbClr val="2B1F22"/>
          </a:solidFill>
          <a:ln cap="flat" cmpd="sng" w="12700">
            <a:solidFill>
              <a:srgbClr val="2B1F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8" name="Google Shape;198;p21"/>
          <p:cNvSpPr/>
          <p:nvPr/>
        </p:nvSpPr>
        <p:spPr>
          <a:xfrm>
            <a:off x="596646" y="1515618"/>
            <a:ext cx="41148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4D"/>
              </a:buClr>
              <a:buSzPts val="800"/>
              <a:buFont typeface="Calibri"/>
              <a:buNone/>
            </a:pPr>
            <a:r>
              <a:rPr b="1" i="0" lang="en" sz="800" u="none" cap="none" strike="noStrike">
                <a:solidFill>
                  <a:srgbClr val="FFB84D"/>
                </a:solidFill>
                <a:latin typeface="Calibri"/>
                <a:ea typeface="Calibri"/>
                <a:cs typeface="Calibri"/>
                <a:sym typeface="Calibri"/>
              </a:rPr>
              <a:t>01</a:t>
            </a:r>
            <a:endParaRPr b="0" i="0" sz="800" u="none" cap="none" strike="noStrike">
              <a:solidFill>
                <a:schemeClr val="dk1"/>
              </a:solidFill>
              <a:latin typeface="Calibri"/>
              <a:ea typeface="Calibri"/>
              <a:cs typeface="Calibri"/>
              <a:sym typeface="Calibri"/>
            </a:endParaRPr>
          </a:p>
        </p:txBody>
      </p:sp>
      <p:sp>
        <p:nvSpPr>
          <p:cNvPr id="199" name="Google Shape;199;p21"/>
          <p:cNvSpPr/>
          <p:nvPr/>
        </p:nvSpPr>
        <p:spPr>
          <a:xfrm>
            <a:off x="596646" y="1748790"/>
            <a:ext cx="1604772"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Scan QR / buka web</a:t>
            </a:r>
            <a:endParaRPr b="0" i="0" sz="1000" u="none" cap="none" strike="noStrike">
              <a:solidFill>
                <a:schemeClr val="dk1"/>
              </a:solidFill>
              <a:latin typeface="Calibri"/>
              <a:ea typeface="Calibri"/>
              <a:cs typeface="Calibri"/>
              <a:sym typeface="Calibri"/>
            </a:endParaRPr>
          </a:p>
        </p:txBody>
      </p:sp>
      <p:sp>
        <p:nvSpPr>
          <p:cNvPr id="200" name="Google Shape;200;p21"/>
          <p:cNvSpPr/>
          <p:nvPr/>
        </p:nvSpPr>
        <p:spPr>
          <a:xfrm>
            <a:off x="596646" y="2009394"/>
            <a:ext cx="1604772"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B2B6"/>
              </a:buClr>
              <a:buSzPts val="800"/>
              <a:buFont typeface="Calibri"/>
              <a:buNone/>
            </a:pPr>
            <a:r>
              <a:rPr b="0" i="0" lang="en" sz="800" u="none" cap="none" strike="noStrike">
                <a:solidFill>
                  <a:srgbClr val="C4B2B6"/>
                </a:solidFill>
                <a:latin typeface="Calibri"/>
                <a:ea typeface="Calibri"/>
                <a:cs typeface="Calibri"/>
                <a:sym typeface="Calibri"/>
              </a:rPr>
              <a:t>Tanpa install aplikasi</a:t>
            </a:r>
            <a:endParaRPr b="0" i="0" sz="800" u="none" cap="none" strike="noStrike">
              <a:solidFill>
                <a:schemeClr val="dk1"/>
              </a:solidFill>
              <a:latin typeface="Calibri"/>
              <a:ea typeface="Calibri"/>
              <a:cs typeface="Calibri"/>
              <a:sym typeface="Calibri"/>
            </a:endParaRPr>
          </a:p>
        </p:txBody>
      </p:sp>
      <p:sp>
        <p:nvSpPr>
          <p:cNvPr id="201" name="Google Shape;201;p21"/>
          <p:cNvSpPr/>
          <p:nvPr/>
        </p:nvSpPr>
        <p:spPr>
          <a:xfrm>
            <a:off x="2420874" y="1861947"/>
            <a:ext cx="102870" cy="17145"/>
          </a:xfrm>
          <a:prstGeom prst="rect">
            <a:avLst/>
          </a:prstGeom>
          <a:solidFill>
            <a:srgbClr val="8A7278"/>
          </a:solidFill>
          <a:ln cap="flat" cmpd="sng" w="12700">
            <a:solidFill>
              <a:srgbClr val="8A727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2" name="Google Shape;202;p21"/>
          <p:cNvSpPr/>
          <p:nvPr/>
        </p:nvSpPr>
        <p:spPr>
          <a:xfrm>
            <a:off x="2592324" y="1405890"/>
            <a:ext cx="1906524" cy="925830"/>
          </a:xfrm>
          <a:prstGeom prst="roundRect">
            <a:avLst>
              <a:gd fmla="val 7407" name="adj"/>
            </a:avLst>
          </a:prstGeom>
          <a:solidFill>
            <a:srgbClr val="2B1F22"/>
          </a:solidFill>
          <a:ln cap="flat" cmpd="sng" w="12700">
            <a:solidFill>
              <a:srgbClr val="2B1F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3" name="Google Shape;203;p21"/>
          <p:cNvSpPr/>
          <p:nvPr/>
        </p:nvSpPr>
        <p:spPr>
          <a:xfrm>
            <a:off x="2743200" y="1515618"/>
            <a:ext cx="41148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4D"/>
              </a:buClr>
              <a:buSzPts val="800"/>
              <a:buFont typeface="Calibri"/>
              <a:buNone/>
            </a:pPr>
            <a:r>
              <a:rPr b="1" i="0" lang="en" sz="800" u="none" cap="none" strike="noStrike">
                <a:solidFill>
                  <a:srgbClr val="FFB84D"/>
                </a:solidFill>
                <a:latin typeface="Calibri"/>
                <a:ea typeface="Calibri"/>
                <a:cs typeface="Calibri"/>
                <a:sym typeface="Calibri"/>
              </a:rPr>
              <a:t>02</a:t>
            </a:r>
            <a:endParaRPr b="0" i="0" sz="800" u="none" cap="none" strike="noStrike">
              <a:solidFill>
                <a:schemeClr val="dk1"/>
              </a:solidFill>
              <a:latin typeface="Calibri"/>
              <a:ea typeface="Calibri"/>
              <a:cs typeface="Calibri"/>
              <a:sym typeface="Calibri"/>
            </a:endParaRPr>
          </a:p>
        </p:txBody>
      </p:sp>
      <p:sp>
        <p:nvSpPr>
          <p:cNvPr id="204" name="Google Shape;204;p21"/>
          <p:cNvSpPr/>
          <p:nvPr/>
        </p:nvSpPr>
        <p:spPr>
          <a:xfrm>
            <a:off x="2743200" y="1748790"/>
            <a:ext cx="1604772"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Pilih menu</a:t>
            </a:r>
            <a:endParaRPr b="0" i="0" sz="1000" u="none" cap="none" strike="noStrike">
              <a:solidFill>
                <a:schemeClr val="dk1"/>
              </a:solidFill>
              <a:latin typeface="Calibri"/>
              <a:ea typeface="Calibri"/>
              <a:cs typeface="Calibri"/>
              <a:sym typeface="Calibri"/>
            </a:endParaRPr>
          </a:p>
        </p:txBody>
      </p:sp>
      <p:sp>
        <p:nvSpPr>
          <p:cNvPr id="205" name="Google Shape;205;p21"/>
          <p:cNvSpPr/>
          <p:nvPr/>
        </p:nvSpPr>
        <p:spPr>
          <a:xfrm>
            <a:off x="2743200" y="2009394"/>
            <a:ext cx="1604772"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B2B6"/>
              </a:buClr>
              <a:buSzPts val="800"/>
              <a:buFont typeface="Calibri"/>
              <a:buNone/>
            </a:pPr>
            <a:r>
              <a:rPr b="0" i="0" lang="en" sz="800" u="none" cap="none" strike="noStrike">
                <a:solidFill>
                  <a:srgbClr val="C4B2B6"/>
                </a:solidFill>
                <a:latin typeface="Calibri"/>
                <a:ea typeface="Calibri"/>
                <a:cs typeface="Calibri"/>
                <a:sym typeface="Calibri"/>
              </a:rPr>
              <a:t>Search &amp; filter kategori</a:t>
            </a:r>
            <a:endParaRPr b="0" i="0" sz="800" u="none" cap="none" strike="noStrike">
              <a:solidFill>
                <a:schemeClr val="dk1"/>
              </a:solidFill>
              <a:latin typeface="Calibri"/>
              <a:ea typeface="Calibri"/>
              <a:cs typeface="Calibri"/>
              <a:sym typeface="Calibri"/>
            </a:endParaRPr>
          </a:p>
        </p:txBody>
      </p:sp>
      <p:sp>
        <p:nvSpPr>
          <p:cNvPr id="206" name="Google Shape;206;p21"/>
          <p:cNvSpPr/>
          <p:nvPr/>
        </p:nvSpPr>
        <p:spPr>
          <a:xfrm>
            <a:off x="4567428" y="1861947"/>
            <a:ext cx="102870" cy="17145"/>
          </a:xfrm>
          <a:prstGeom prst="rect">
            <a:avLst/>
          </a:prstGeom>
          <a:solidFill>
            <a:srgbClr val="8A7278"/>
          </a:solidFill>
          <a:ln cap="flat" cmpd="sng" w="12700">
            <a:solidFill>
              <a:srgbClr val="8A727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7" name="Google Shape;207;p21"/>
          <p:cNvSpPr/>
          <p:nvPr/>
        </p:nvSpPr>
        <p:spPr>
          <a:xfrm>
            <a:off x="4738878" y="1405890"/>
            <a:ext cx="1906524" cy="925830"/>
          </a:xfrm>
          <a:prstGeom prst="roundRect">
            <a:avLst>
              <a:gd fmla="val 7407" name="adj"/>
            </a:avLst>
          </a:prstGeom>
          <a:solidFill>
            <a:srgbClr val="2B1F22"/>
          </a:solidFill>
          <a:ln cap="flat" cmpd="sng" w="12700">
            <a:solidFill>
              <a:srgbClr val="2B1F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8" name="Google Shape;208;p21"/>
          <p:cNvSpPr/>
          <p:nvPr/>
        </p:nvSpPr>
        <p:spPr>
          <a:xfrm>
            <a:off x="4889754" y="1515618"/>
            <a:ext cx="41148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4D"/>
              </a:buClr>
              <a:buSzPts val="800"/>
              <a:buFont typeface="Calibri"/>
              <a:buNone/>
            </a:pPr>
            <a:r>
              <a:rPr b="1" i="0" lang="en" sz="800" u="none" cap="none" strike="noStrike">
                <a:solidFill>
                  <a:srgbClr val="FFB84D"/>
                </a:solidFill>
                <a:latin typeface="Calibri"/>
                <a:ea typeface="Calibri"/>
                <a:cs typeface="Calibri"/>
                <a:sym typeface="Calibri"/>
              </a:rPr>
              <a:t>03</a:t>
            </a:r>
            <a:endParaRPr b="0" i="0" sz="800" u="none" cap="none" strike="noStrike">
              <a:solidFill>
                <a:schemeClr val="dk1"/>
              </a:solidFill>
              <a:latin typeface="Calibri"/>
              <a:ea typeface="Calibri"/>
              <a:cs typeface="Calibri"/>
              <a:sym typeface="Calibri"/>
            </a:endParaRPr>
          </a:p>
        </p:txBody>
      </p:sp>
      <p:sp>
        <p:nvSpPr>
          <p:cNvPr id="209" name="Google Shape;209;p21"/>
          <p:cNvSpPr/>
          <p:nvPr/>
        </p:nvSpPr>
        <p:spPr>
          <a:xfrm>
            <a:off x="4889754" y="1748790"/>
            <a:ext cx="1604772"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Atur keranjang</a:t>
            </a:r>
            <a:endParaRPr b="0" i="0" sz="1000" u="none" cap="none" strike="noStrike">
              <a:solidFill>
                <a:schemeClr val="dk1"/>
              </a:solidFill>
              <a:latin typeface="Calibri"/>
              <a:ea typeface="Calibri"/>
              <a:cs typeface="Calibri"/>
              <a:sym typeface="Calibri"/>
            </a:endParaRPr>
          </a:p>
        </p:txBody>
      </p:sp>
      <p:sp>
        <p:nvSpPr>
          <p:cNvPr id="210" name="Google Shape;210;p21"/>
          <p:cNvSpPr/>
          <p:nvPr/>
        </p:nvSpPr>
        <p:spPr>
          <a:xfrm>
            <a:off x="4889754" y="2009394"/>
            <a:ext cx="1604772"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B2B6"/>
              </a:buClr>
              <a:buSzPts val="800"/>
              <a:buFont typeface="Calibri"/>
              <a:buNone/>
            </a:pPr>
            <a:r>
              <a:rPr b="0" i="0" lang="en" sz="800" u="none" cap="none" strike="noStrike">
                <a:solidFill>
                  <a:srgbClr val="C4B2B6"/>
                </a:solidFill>
                <a:latin typeface="Calibri"/>
                <a:ea typeface="Calibri"/>
                <a:cs typeface="Calibri"/>
                <a:sym typeface="Calibri"/>
              </a:rPr>
              <a:t>Varian, jumlah, catatan</a:t>
            </a:r>
            <a:endParaRPr b="0" i="0" sz="800" u="none" cap="none" strike="noStrike">
              <a:solidFill>
                <a:schemeClr val="dk1"/>
              </a:solidFill>
              <a:latin typeface="Calibri"/>
              <a:ea typeface="Calibri"/>
              <a:cs typeface="Calibri"/>
              <a:sym typeface="Calibri"/>
            </a:endParaRPr>
          </a:p>
        </p:txBody>
      </p:sp>
      <p:sp>
        <p:nvSpPr>
          <p:cNvPr id="211" name="Google Shape;211;p21"/>
          <p:cNvSpPr/>
          <p:nvPr/>
        </p:nvSpPr>
        <p:spPr>
          <a:xfrm>
            <a:off x="6713982" y="1861947"/>
            <a:ext cx="102870" cy="17145"/>
          </a:xfrm>
          <a:prstGeom prst="rect">
            <a:avLst/>
          </a:prstGeom>
          <a:solidFill>
            <a:srgbClr val="8A7278"/>
          </a:solidFill>
          <a:ln cap="flat" cmpd="sng" w="12700">
            <a:solidFill>
              <a:srgbClr val="8A727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2" name="Google Shape;212;p21"/>
          <p:cNvSpPr/>
          <p:nvPr/>
        </p:nvSpPr>
        <p:spPr>
          <a:xfrm>
            <a:off x="6885432" y="1405890"/>
            <a:ext cx="1906524" cy="925830"/>
          </a:xfrm>
          <a:prstGeom prst="roundRect">
            <a:avLst>
              <a:gd fmla="val 7407" name="adj"/>
            </a:avLst>
          </a:prstGeom>
          <a:solidFill>
            <a:srgbClr val="2B1F22"/>
          </a:solidFill>
          <a:ln cap="flat" cmpd="sng" w="12700">
            <a:solidFill>
              <a:srgbClr val="2B1F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3" name="Google Shape;213;p21"/>
          <p:cNvSpPr/>
          <p:nvPr/>
        </p:nvSpPr>
        <p:spPr>
          <a:xfrm>
            <a:off x="7036308" y="1515618"/>
            <a:ext cx="41148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4D"/>
              </a:buClr>
              <a:buSzPts val="800"/>
              <a:buFont typeface="Calibri"/>
              <a:buNone/>
            </a:pPr>
            <a:r>
              <a:rPr b="1" i="0" lang="en" sz="800" u="none" cap="none" strike="noStrike">
                <a:solidFill>
                  <a:srgbClr val="FFB84D"/>
                </a:solidFill>
                <a:latin typeface="Calibri"/>
                <a:ea typeface="Calibri"/>
                <a:cs typeface="Calibri"/>
                <a:sym typeface="Calibri"/>
              </a:rPr>
              <a:t>04</a:t>
            </a:r>
            <a:endParaRPr b="0" i="0" sz="800" u="none" cap="none" strike="noStrike">
              <a:solidFill>
                <a:schemeClr val="dk1"/>
              </a:solidFill>
              <a:latin typeface="Calibri"/>
              <a:ea typeface="Calibri"/>
              <a:cs typeface="Calibri"/>
              <a:sym typeface="Calibri"/>
            </a:endParaRPr>
          </a:p>
        </p:txBody>
      </p:sp>
      <p:sp>
        <p:nvSpPr>
          <p:cNvPr id="214" name="Google Shape;214;p21"/>
          <p:cNvSpPr/>
          <p:nvPr/>
        </p:nvSpPr>
        <p:spPr>
          <a:xfrm>
            <a:off x="7036308" y="1748790"/>
            <a:ext cx="1604772"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Checkout</a:t>
            </a:r>
            <a:endParaRPr b="0" i="0" sz="1000" u="none" cap="none" strike="noStrike">
              <a:solidFill>
                <a:schemeClr val="dk1"/>
              </a:solidFill>
              <a:latin typeface="Calibri"/>
              <a:ea typeface="Calibri"/>
              <a:cs typeface="Calibri"/>
              <a:sym typeface="Calibri"/>
            </a:endParaRPr>
          </a:p>
        </p:txBody>
      </p:sp>
      <p:sp>
        <p:nvSpPr>
          <p:cNvPr id="215" name="Google Shape;215;p21"/>
          <p:cNvSpPr/>
          <p:nvPr/>
        </p:nvSpPr>
        <p:spPr>
          <a:xfrm>
            <a:off x="7036308" y="2009394"/>
            <a:ext cx="1604772"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B2B6"/>
              </a:buClr>
              <a:buSzPts val="800"/>
              <a:buFont typeface="Calibri"/>
              <a:buNone/>
            </a:pPr>
            <a:r>
              <a:rPr b="0" i="0" lang="en" sz="800" u="none" cap="none" strike="noStrike">
                <a:solidFill>
                  <a:srgbClr val="C4B2B6"/>
                </a:solidFill>
                <a:latin typeface="Calibri"/>
                <a:ea typeface="Calibri"/>
                <a:cs typeface="Calibri"/>
                <a:sym typeface="Calibri"/>
              </a:rPr>
              <a:t>Stok dikunci &amp; divalidasi</a:t>
            </a:r>
            <a:endParaRPr b="0" i="0" sz="800" u="none" cap="none" strike="noStrike">
              <a:solidFill>
                <a:schemeClr val="dk1"/>
              </a:solidFill>
              <a:latin typeface="Calibri"/>
              <a:ea typeface="Calibri"/>
              <a:cs typeface="Calibri"/>
              <a:sym typeface="Calibri"/>
            </a:endParaRPr>
          </a:p>
        </p:txBody>
      </p:sp>
      <p:sp>
        <p:nvSpPr>
          <p:cNvPr id="216" name="Google Shape;216;p21"/>
          <p:cNvSpPr/>
          <p:nvPr/>
        </p:nvSpPr>
        <p:spPr>
          <a:xfrm>
            <a:off x="445770" y="3051810"/>
            <a:ext cx="1906524" cy="925830"/>
          </a:xfrm>
          <a:prstGeom prst="roundRect">
            <a:avLst>
              <a:gd fmla="val 7407" name="adj"/>
            </a:avLst>
          </a:prstGeom>
          <a:solidFill>
            <a:srgbClr val="2B1F22"/>
          </a:solidFill>
          <a:ln cap="flat" cmpd="sng" w="12700">
            <a:solidFill>
              <a:srgbClr val="2B1F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7" name="Google Shape;217;p21"/>
          <p:cNvSpPr/>
          <p:nvPr/>
        </p:nvSpPr>
        <p:spPr>
          <a:xfrm>
            <a:off x="596646" y="3161538"/>
            <a:ext cx="41148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4D"/>
              </a:buClr>
              <a:buSzPts val="800"/>
              <a:buFont typeface="Calibri"/>
              <a:buNone/>
            </a:pPr>
            <a:r>
              <a:rPr b="1" i="0" lang="en" sz="800" u="none" cap="none" strike="noStrike">
                <a:solidFill>
                  <a:srgbClr val="FFB84D"/>
                </a:solidFill>
                <a:latin typeface="Calibri"/>
                <a:ea typeface="Calibri"/>
                <a:cs typeface="Calibri"/>
                <a:sym typeface="Calibri"/>
              </a:rPr>
              <a:t>05</a:t>
            </a:r>
            <a:endParaRPr b="0" i="0" sz="800" u="none" cap="none" strike="noStrike">
              <a:solidFill>
                <a:schemeClr val="dk1"/>
              </a:solidFill>
              <a:latin typeface="Calibri"/>
              <a:ea typeface="Calibri"/>
              <a:cs typeface="Calibri"/>
              <a:sym typeface="Calibri"/>
            </a:endParaRPr>
          </a:p>
        </p:txBody>
      </p:sp>
      <p:sp>
        <p:nvSpPr>
          <p:cNvPr id="218" name="Google Shape;218;p21"/>
          <p:cNvSpPr/>
          <p:nvPr/>
        </p:nvSpPr>
        <p:spPr>
          <a:xfrm>
            <a:off x="596646" y="3394710"/>
            <a:ext cx="1604772"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Bayar</a:t>
            </a:r>
            <a:endParaRPr b="0" i="0" sz="1000" u="none" cap="none" strike="noStrike">
              <a:solidFill>
                <a:schemeClr val="dk1"/>
              </a:solidFill>
              <a:latin typeface="Calibri"/>
              <a:ea typeface="Calibri"/>
              <a:cs typeface="Calibri"/>
              <a:sym typeface="Calibri"/>
            </a:endParaRPr>
          </a:p>
        </p:txBody>
      </p:sp>
      <p:sp>
        <p:nvSpPr>
          <p:cNvPr id="219" name="Google Shape;219;p21"/>
          <p:cNvSpPr/>
          <p:nvPr/>
        </p:nvSpPr>
        <p:spPr>
          <a:xfrm>
            <a:off x="596646" y="3655314"/>
            <a:ext cx="1604772"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B2B6"/>
              </a:buClr>
              <a:buSzPts val="800"/>
              <a:buFont typeface="Calibri"/>
              <a:buNone/>
            </a:pPr>
            <a:r>
              <a:rPr b="0" i="0" lang="en" sz="800" u="none" cap="none" strike="noStrike">
                <a:solidFill>
                  <a:srgbClr val="C4B2B6"/>
                </a:solidFill>
                <a:latin typeface="Calibri"/>
                <a:ea typeface="Calibri"/>
                <a:cs typeface="Calibri"/>
                <a:sym typeface="Calibri"/>
              </a:rPr>
              <a:t>QRIS atau tunai di kasir</a:t>
            </a:r>
            <a:endParaRPr b="0" i="0" sz="800" u="none" cap="none" strike="noStrike">
              <a:solidFill>
                <a:schemeClr val="dk1"/>
              </a:solidFill>
              <a:latin typeface="Calibri"/>
              <a:ea typeface="Calibri"/>
              <a:cs typeface="Calibri"/>
              <a:sym typeface="Calibri"/>
            </a:endParaRPr>
          </a:p>
        </p:txBody>
      </p:sp>
      <p:sp>
        <p:nvSpPr>
          <p:cNvPr id="220" name="Google Shape;220;p21"/>
          <p:cNvSpPr/>
          <p:nvPr/>
        </p:nvSpPr>
        <p:spPr>
          <a:xfrm>
            <a:off x="2420874" y="3507867"/>
            <a:ext cx="102870" cy="17145"/>
          </a:xfrm>
          <a:prstGeom prst="rect">
            <a:avLst/>
          </a:prstGeom>
          <a:solidFill>
            <a:srgbClr val="8A7278"/>
          </a:solidFill>
          <a:ln cap="flat" cmpd="sng" w="12700">
            <a:solidFill>
              <a:srgbClr val="8A727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1" name="Google Shape;221;p21"/>
          <p:cNvSpPr/>
          <p:nvPr/>
        </p:nvSpPr>
        <p:spPr>
          <a:xfrm>
            <a:off x="2592324" y="3051810"/>
            <a:ext cx="1906524" cy="925830"/>
          </a:xfrm>
          <a:prstGeom prst="roundRect">
            <a:avLst>
              <a:gd fmla="val 7407" name="adj"/>
            </a:avLst>
          </a:prstGeom>
          <a:solidFill>
            <a:srgbClr val="2B1F22"/>
          </a:solidFill>
          <a:ln cap="flat" cmpd="sng" w="12700">
            <a:solidFill>
              <a:srgbClr val="2B1F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2" name="Google Shape;222;p21"/>
          <p:cNvSpPr/>
          <p:nvPr/>
        </p:nvSpPr>
        <p:spPr>
          <a:xfrm>
            <a:off x="2743200" y="3161538"/>
            <a:ext cx="41148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4D"/>
              </a:buClr>
              <a:buSzPts val="800"/>
              <a:buFont typeface="Calibri"/>
              <a:buNone/>
            </a:pPr>
            <a:r>
              <a:rPr b="1" i="0" lang="en" sz="800" u="none" cap="none" strike="noStrike">
                <a:solidFill>
                  <a:srgbClr val="FFB84D"/>
                </a:solidFill>
                <a:latin typeface="Calibri"/>
                <a:ea typeface="Calibri"/>
                <a:cs typeface="Calibri"/>
                <a:sym typeface="Calibri"/>
              </a:rPr>
              <a:t>06</a:t>
            </a:r>
            <a:endParaRPr b="0" i="0" sz="800" u="none" cap="none" strike="noStrike">
              <a:solidFill>
                <a:schemeClr val="dk1"/>
              </a:solidFill>
              <a:latin typeface="Calibri"/>
              <a:ea typeface="Calibri"/>
              <a:cs typeface="Calibri"/>
              <a:sym typeface="Calibri"/>
            </a:endParaRPr>
          </a:p>
        </p:txBody>
      </p:sp>
      <p:sp>
        <p:nvSpPr>
          <p:cNvPr id="223" name="Google Shape;223;p21"/>
          <p:cNvSpPr/>
          <p:nvPr/>
        </p:nvSpPr>
        <p:spPr>
          <a:xfrm>
            <a:off x="2743200" y="3394710"/>
            <a:ext cx="1604772"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Terima nomor antrean</a:t>
            </a:r>
            <a:endParaRPr b="0" i="0" sz="1000" u="none" cap="none" strike="noStrike">
              <a:solidFill>
                <a:schemeClr val="dk1"/>
              </a:solidFill>
              <a:latin typeface="Calibri"/>
              <a:ea typeface="Calibri"/>
              <a:cs typeface="Calibri"/>
              <a:sym typeface="Calibri"/>
            </a:endParaRPr>
          </a:p>
        </p:txBody>
      </p:sp>
      <p:sp>
        <p:nvSpPr>
          <p:cNvPr id="224" name="Google Shape;224;p21"/>
          <p:cNvSpPr/>
          <p:nvPr/>
        </p:nvSpPr>
        <p:spPr>
          <a:xfrm>
            <a:off x="2743200" y="3655314"/>
            <a:ext cx="1604772"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B2B6"/>
              </a:buClr>
              <a:buSzPts val="800"/>
              <a:buFont typeface="Calibri"/>
              <a:buNone/>
            </a:pPr>
            <a:r>
              <a:rPr b="0" i="0" lang="en" sz="800" u="none" cap="none" strike="noStrike">
                <a:solidFill>
                  <a:srgbClr val="C4B2B6"/>
                </a:solidFill>
                <a:latin typeface="Calibri"/>
                <a:ea typeface="Calibri"/>
                <a:cs typeface="Calibri"/>
                <a:sym typeface="Calibri"/>
              </a:rPr>
              <a:t>Estimasi waktu tunggu</a:t>
            </a:r>
            <a:endParaRPr b="0" i="0" sz="800" u="none" cap="none" strike="noStrike">
              <a:solidFill>
                <a:schemeClr val="dk1"/>
              </a:solidFill>
              <a:latin typeface="Calibri"/>
              <a:ea typeface="Calibri"/>
              <a:cs typeface="Calibri"/>
              <a:sym typeface="Calibri"/>
            </a:endParaRPr>
          </a:p>
        </p:txBody>
      </p:sp>
      <p:sp>
        <p:nvSpPr>
          <p:cNvPr id="225" name="Google Shape;225;p21"/>
          <p:cNvSpPr/>
          <p:nvPr/>
        </p:nvSpPr>
        <p:spPr>
          <a:xfrm>
            <a:off x="4567428" y="3507867"/>
            <a:ext cx="102870" cy="17145"/>
          </a:xfrm>
          <a:prstGeom prst="rect">
            <a:avLst/>
          </a:prstGeom>
          <a:solidFill>
            <a:srgbClr val="8A7278"/>
          </a:solidFill>
          <a:ln cap="flat" cmpd="sng" w="12700">
            <a:solidFill>
              <a:srgbClr val="8A727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6" name="Google Shape;226;p21"/>
          <p:cNvSpPr/>
          <p:nvPr/>
        </p:nvSpPr>
        <p:spPr>
          <a:xfrm>
            <a:off x="4738878" y="3051810"/>
            <a:ext cx="1906524" cy="925830"/>
          </a:xfrm>
          <a:prstGeom prst="roundRect">
            <a:avLst>
              <a:gd fmla="val 7407" name="adj"/>
            </a:avLst>
          </a:prstGeom>
          <a:solidFill>
            <a:srgbClr val="3A2A2E"/>
          </a:solidFill>
          <a:ln cap="flat" cmpd="sng" w="12700">
            <a:solidFill>
              <a:srgbClr val="3A2A2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7" name="Google Shape;227;p21"/>
          <p:cNvSpPr/>
          <p:nvPr/>
        </p:nvSpPr>
        <p:spPr>
          <a:xfrm>
            <a:off x="4889754" y="3161538"/>
            <a:ext cx="41148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533D"/>
              </a:buClr>
              <a:buSzPts val="800"/>
              <a:buFont typeface="Calibri"/>
              <a:buNone/>
            </a:pPr>
            <a:r>
              <a:rPr b="1" i="0" lang="en" sz="800" u="none" cap="none" strike="noStrike">
                <a:solidFill>
                  <a:srgbClr val="F5533D"/>
                </a:solidFill>
                <a:latin typeface="Calibri"/>
                <a:ea typeface="Calibri"/>
                <a:cs typeface="Calibri"/>
                <a:sym typeface="Calibri"/>
              </a:rPr>
              <a:t>07</a:t>
            </a:r>
            <a:endParaRPr b="0" i="0" sz="800" u="none" cap="none" strike="noStrike">
              <a:solidFill>
                <a:schemeClr val="dk1"/>
              </a:solidFill>
              <a:latin typeface="Calibri"/>
              <a:ea typeface="Calibri"/>
              <a:cs typeface="Calibri"/>
              <a:sym typeface="Calibri"/>
            </a:endParaRPr>
          </a:p>
        </p:txBody>
      </p:sp>
      <p:sp>
        <p:nvSpPr>
          <p:cNvPr id="228" name="Google Shape;228;p21"/>
          <p:cNvSpPr/>
          <p:nvPr/>
        </p:nvSpPr>
        <p:spPr>
          <a:xfrm>
            <a:off x="4889754" y="3394710"/>
            <a:ext cx="1604772"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Dapur memproses</a:t>
            </a:r>
            <a:endParaRPr b="0" i="0" sz="1000" u="none" cap="none" strike="noStrike">
              <a:solidFill>
                <a:schemeClr val="dk1"/>
              </a:solidFill>
              <a:latin typeface="Calibri"/>
              <a:ea typeface="Calibri"/>
              <a:cs typeface="Calibri"/>
              <a:sym typeface="Calibri"/>
            </a:endParaRPr>
          </a:p>
        </p:txBody>
      </p:sp>
      <p:sp>
        <p:nvSpPr>
          <p:cNvPr id="229" name="Google Shape;229;p21"/>
          <p:cNvSpPr/>
          <p:nvPr/>
        </p:nvSpPr>
        <p:spPr>
          <a:xfrm>
            <a:off x="4889754" y="3655314"/>
            <a:ext cx="1604772"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B2B6"/>
              </a:buClr>
              <a:buSzPts val="800"/>
              <a:buFont typeface="Calibri"/>
              <a:buNone/>
            </a:pPr>
            <a:r>
              <a:rPr b="0" i="0" lang="en" sz="800" u="none" cap="none" strike="noStrike">
                <a:solidFill>
                  <a:srgbClr val="C4B2B6"/>
                </a:solidFill>
                <a:latin typeface="Calibri"/>
                <a:ea typeface="Calibri"/>
                <a:cs typeface="Calibri"/>
                <a:sym typeface="Calibri"/>
              </a:rPr>
              <a:t>Admin ubah status</a:t>
            </a:r>
            <a:endParaRPr b="0" i="0" sz="800" u="none" cap="none" strike="noStrike">
              <a:solidFill>
                <a:schemeClr val="dk1"/>
              </a:solidFill>
              <a:latin typeface="Calibri"/>
              <a:ea typeface="Calibri"/>
              <a:cs typeface="Calibri"/>
              <a:sym typeface="Calibri"/>
            </a:endParaRPr>
          </a:p>
        </p:txBody>
      </p:sp>
      <p:sp>
        <p:nvSpPr>
          <p:cNvPr id="230" name="Google Shape;230;p21"/>
          <p:cNvSpPr/>
          <p:nvPr/>
        </p:nvSpPr>
        <p:spPr>
          <a:xfrm>
            <a:off x="6713982" y="3507867"/>
            <a:ext cx="102870" cy="17145"/>
          </a:xfrm>
          <a:prstGeom prst="rect">
            <a:avLst/>
          </a:prstGeom>
          <a:solidFill>
            <a:srgbClr val="8A7278"/>
          </a:solidFill>
          <a:ln cap="flat" cmpd="sng" w="12700">
            <a:solidFill>
              <a:srgbClr val="8A727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1" name="Google Shape;231;p21"/>
          <p:cNvSpPr/>
          <p:nvPr/>
        </p:nvSpPr>
        <p:spPr>
          <a:xfrm>
            <a:off x="6885432" y="3051810"/>
            <a:ext cx="1906524" cy="925830"/>
          </a:xfrm>
          <a:prstGeom prst="roundRect">
            <a:avLst>
              <a:gd fmla="val 7407" name="adj"/>
            </a:avLst>
          </a:prstGeom>
          <a:solidFill>
            <a:srgbClr val="2B1F22"/>
          </a:solidFill>
          <a:ln cap="flat" cmpd="sng" w="12700">
            <a:solidFill>
              <a:srgbClr val="2B1F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2" name="Google Shape;232;p21"/>
          <p:cNvSpPr/>
          <p:nvPr/>
        </p:nvSpPr>
        <p:spPr>
          <a:xfrm>
            <a:off x="7036308" y="3161538"/>
            <a:ext cx="41148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4D"/>
              </a:buClr>
              <a:buSzPts val="800"/>
              <a:buFont typeface="Calibri"/>
              <a:buNone/>
            </a:pPr>
            <a:r>
              <a:rPr b="1" i="0" lang="en" sz="800" u="none" cap="none" strike="noStrike">
                <a:solidFill>
                  <a:srgbClr val="FFB84D"/>
                </a:solidFill>
                <a:latin typeface="Calibri"/>
                <a:ea typeface="Calibri"/>
                <a:cs typeface="Calibri"/>
                <a:sym typeface="Calibri"/>
              </a:rPr>
              <a:t>08</a:t>
            </a:r>
            <a:endParaRPr b="0" i="0" sz="800" u="none" cap="none" strike="noStrike">
              <a:solidFill>
                <a:schemeClr val="dk1"/>
              </a:solidFill>
              <a:latin typeface="Calibri"/>
              <a:ea typeface="Calibri"/>
              <a:cs typeface="Calibri"/>
              <a:sym typeface="Calibri"/>
            </a:endParaRPr>
          </a:p>
        </p:txBody>
      </p:sp>
      <p:sp>
        <p:nvSpPr>
          <p:cNvPr id="233" name="Google Shape;233;p21"/>
          <p:cNvSpPr/>
          <p:nvPr/>
        </p:nvSpPr>
        <p:spPr>
          <a:xfrm>
            <a:off x="7036308" y="3394710"/>
            <a:ext cx="1604772"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Siap diambil</a:t>
            </a:r>
            <a:endParaRPr b="0" i="0" sz="1000" u="none" cap="none" strike="noStrike">
              <a:solidFill>
                <a:schemeClr val="dk1"/>
              </a:solidFill>
              <a:latin typeface="Calibri"/>
              <a:ea typeface="Calibri"/>
              <a:cs typeface="Calibri"/>
              <a:sym typeface="Calibri"/>
            </a:endParaRPr>
          </a:p>
        </p:txBody>
      </p:sp>
      <p:sp>
        <p:nvSpPr>
          <p:cNvPr id="234" name="Google Shape;234;p21"/>
          <p:cNvSpPr/>
          <p:nvPr/>
        </p:nvSpPr>
        <p:spPr>
          <a:xfrm>
            <a:off x="7036308" y="3655314"/>
            <a:ext cx="1604772"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B2B6"/>
              </a:buClr>
              <a:buSzPts val="800"/>
              <a:buFont typeface="Calibri"/>
              <a:buNone/>
            </a:pPr>
            <a:r>
              <a:rPr b="0" i="0" lang="en" sz="800" u="none" cap="none" strike="noStrike">
                <a:solidFill>
                  <a:srgbClr val="C4B2B6"/>
                </a:solidFill>
                <a:latin typeface="Calibri"/>
                <a:ea typeface="Calibri"/>
                <a:cs typeface="Calibri"/>
                <a:sym typeface="Calibri"/>
              </a:rPr>
              <a:t>Struk digital</a:t>
            </a:r>
            <a:endParaRPr b="0" i="0" sz="800" u="none" cap="none" strike="noStrike">
              <a:solidFill>
                <a:schemeClr val="dk1"/>
              </a:solidFill>
              <a:latin typeface="Calibri"/>
              <a:ea typeface="Calibri"/>
              <a:cs typeface="Calibri"/>
              <a:sym typeface="Calibri"/>
            </a:endParaRPr>
          </a:p>
        </p:txBody>
      </p:sp>
      <p:sp>
        <p:nvSpPr>
          <p:cNvPr id="235" name="Google Shape;235;p21"/>
          <p:cNvSpPr/>
          <p:nvPr/>
        </p:nvSpPr>
        <p:spPr>
          <a:xfrm>
            <a:off x="445770" y="4149090"/>
            <a:ext cx="8229600" cy="548640"/>
          </a:xfrm>
          <a:prstGeom prst="roundRect">
            <a:avLst>
              <a:gd fmla="val 12500" name="adj"/>
            </a:avLst>
          </a:prstGeom>
          <a:solidFill>
            <a:srgbClr val="3A2A2E"/>
          </a:solidFill>
          <a:ln cap="flat" cmpd="sng" w="12700">
            <a:solidFill>
              <a:srgbClr val="3A2A2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6" name="Google Shape;236;p21"/>
          <p:cNvSpPr/>
          <p:nvPr/>
        </p:nvSpPr>
        <p:spPr>
          <a:xfrm>
            <a:off x="685800" y="4368546"/>
            <a:ext cx="109728" cy="109728"/>
          </a:xfrm>
          <a:prstGeom prst="ellipse">
            <a:avLst/>
          </a:prstGeom>
          <a:solidFill>
            <a:srgbClr val="FFB84D"/>
          </a:solidFill>
          <a:ln cap="flat" cmpd="sng" w="12700">
            <a:solidFill>
              <a:srgbClr val="FFB84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7" name="Google Shape;237;p21"/>
          <p:cNvSpPr/>
          <p:nvPr/>
        </p:nvSpPr>
        <p:spPr>
          <a:xfrm>
            <a:off x="857250" y="4306824"/>
            <a:ext cx="1371600"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1" i="0" lang="en" sz="900" u="none" cap="none" strike="noStrike">
                <a:solidFill>
                  <a:srgbClr val="FFFFFF"/>
                </a:solidFill>
                <a:latin typeface="Calibri"/>
                <a:ea typeface="Calibri"/>
                <a:cs typeface="Calibri"/>
                <a:sym typeface="Calibri"/>
              </a:rPr>
              <a:t>Langkah pelanggan</a:t>
            </a:r>
            <a:endParaRPr b="0" i="0" sz="900" u="none" cap="none" strike="noStrike">
              <a:solidFill>
                <a:schemeClr val="dk1"/>
              </a:solidFill>
              <a:latin typeface="Calibri"/>
              <a:ea typeface="Calibri"/>
              <a:cs typeface="Calibri"/>
              <a:sym typeface="Calibri"/>
            </a:endParaRPr>
          </a:p>
        </p:txBody>
      </p:sp>
      <p:sp>
        <p:nvSpPr>
          <p:cNvPr id="238" name="Google Shape;238;p21"/>
          <p:cNvSpPr/>
          <p:nvPr/>
        </p:nvSpPr>
        <p:spPr>
          <a:xfrm>
            <a:off x="2331720" y="4368546"/>
            <a:ext cx="109728" cy="109728"/>
          </a:xfrm>
          <a:prstGeom prst="ellipse">
            <a:avLst/>
          </a:prstGeom>
          <a:solidFill>
            <a:srgbClr val="F5533D"/>
          </a:solidFill>
          <a:ln cap="flat" cmpd="sng" w="12700">
            <a:solidFill>
              <a:srgbClr val="F5533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9" name="Google Shape;239;p21"/>
          <p:cNvSpPr/>
          <p:nvPr/>
        </p:nvSpPr>
        <p:spPr>
          <a:xfrm>
            <a:off x="2503170" y="4306824"/>
            <a:ext cx="1165860"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1" i="0" lang="en" sz="900" u="none" cap="none" strike="noStrike">
                <a:solidFill>
                  <a:srgbClr val="FFFFFF"/>
                </a:solidFill>
                <a:latin typeface="Calibri"/>
                <a:ea typeface="Calibri"/>
                <a:cs typeface="Calibri"/>
                <a:sym typeface="Calibri"/>
              </a:rPr>
              <a:t>Langkah admin</a:t>
            </a:r>
            <a:endParaRPr b="0" i="0" sz="900" u="none" cap="none" strike="noStrike">
              <a:solidFill>
                <a:schemeClr val="dk1"/>
              </a:solidFill>
              <a:latin typeface="Calibri"/>
              <a:ea typeface="Calibri"/>
              <a:cs typeface="Calibri"/>
              <a:sym typeface="Calibri"/>
            </a:endParaRPr>
          </a:p>
        </p:txBody>
      </p:sp>
      <p:sp>
        <p:nvSpPr>
          <p:cNvPr id="240" name="Google Shape;240;p21"/>
          <p:cNvSpPr/>
          <p:nvPr/>
        </p:nvSpPr>
        <p:spPr>
          <a:xfrm>
            <a:off x="3840480" y="4306824"/>
            <a:ext cx="4526280"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B2B6"/>
              </a:buClr>
              <a:buSzPts val="900"/>
              <a:buFont typeface="Calibri"/>
              <a:buNone/>
            </a:pPr>
            <a:r>
              <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214"/>
        </a:solidFill>
      </p:bgPr>
    </p:bg>
    <p:spTree>
      <p:nvGrpSpPr>
        <p:cNvPr id="245" name="Shape 245"/>
        <p:cNvGrpSpPr/>
        <p:nvPr/>
      </p:nvGrpSpPr>
      <p:grpSpPr>
        <a:xfrm>
          <a:off x="0" y="0"/>
          <a:ext cx="0" cy="0"/>
          <a:chOff x="0" y="0"/>
          <a:chExt cx="0" cy="0"/>
        </a:xfrm>
      </p:grpSpPr>
      <p:sp>
        <p:nvSpPr>
          <p:cNvPr id="246" name="Google Shape;246;p22"/>
          <p:cNvSpPr/>
          <p:nvPr/>
        </p:nvSpPr>
        <p:spPr>
          <a:xfrm>
            <a:off x="445770" y="288036"/>
            <a:ext cx="822960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4D"/>
              </a:buClr>
              <a:buSzPts val="800"/>
              <a:buFont typeface="Calibri"/>
              <a:buNone/>
            </a:pPr>
            <a:r>
              <a:rPr b="1" i="0" lang="en" sz="800" u="none" cap="none" strike="noStrike">
                <a:solidFill>
                  <a:srgbClr val="FFB84D"/>
                </a:solidFill>
                <a:latin typeface="Calibri"/>
                <a:ea typeface="Calibri"/>
                <a:cs typeface="Calibri"/>
                <a:sym typeface="Calibri"/>
              </a:rPr>
              <a:t>DETAIL WEBSITE</a:t>
            </a:r>
            <a:endParaRPr b="0" i="0" sz="800" u="none" cap="none" strike="noStrike">
              <a:solidFill>
                <a:schemeClr val="dk1"/>
              </a:solidFill>
              <a:latin typeface="Calibri"/>
              <a:ea typeface="Calibri"/>
              <a:cs typeface="Calibri"/>
              <a:sym typeface="Calibri"/>
            </a:endParaRPr>
          </a:p>
        </p:txBody>
      </p:sp>
      <p:sp>
        <p:nvSpPr>
          <p:cNvPr id="247" name="Google Shape;247;p22"/>
          <p:cNvSpPr/>
          <p:nvPr/>
        </p:nvSpPr>
        <p:spPr>
          <a:xfrm>
            <a:off x="445770" y="493776"/>
            <a:ext cx="8229600" cy="4251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300"/>
              <a:buFont typeface="Calibri"/>
              <a:buNone/>
            </a:pPr>
            <a:r>
              <a:rPr b="1" i="0" lang="en" sz="2300" u="none" cap="none" strike="noStrike">
                <a:solidFill>
                  <a:srgbClr val="FFFFFF"/>
                </a:solidFill>
                <a:latin typeface="Calibri"/>
                <a:ea typeface="Calibri"/>
                <a:cs typeface="Calibri"/>
                <a:sym typeface="Calibri"/>
              </a:rPr>
              <a:t>Core Features &amp; Tampilan Utama</a:t>
            </a:r>
            <a:endParaRPr b="0" i="0" sz="2300" u="none" cap="none" strike="noStrike">
              <a:solidFill>
                <a:schemeClr val="dk1"/>
              </a:solidFill>
              <a:latin typeface="Calibri"/>
              <a:ea typeface="Calibri"/>
              <a:cs typeface="Calibri"/>
              <a:sym typeface="Calibri"/>
            </a:endParaRPr>
          </a:p>
        </p:txBody>
      </p:sp>
      <p:sp>
        <p:nvSpPr>
          <p:cNvPr id="248" name="Google Shape;248;p22"/>
          <p:cNvSpPr/>
          <p:nvPr/>
        </p:nvSpPr>
        <p:spPr>
          <a:xfrm>
            <a:off x="445770" y="1200150"/>
            <a:ext cx="2626614" cy="720090"/>
          </a:xfrm>
          <a:prstGeom prst="roundRect">
            <a:avLst>
              <a:gd fmla="val 9524" name="adj"/>
            </a:avLst>
          </a:prstGeom>
          <a:solidFill>
            <a:srgbClr val="2B1F22"/>
          </a:solidFill>
          <a:ln cap="flat" cmpd="sng" w="12700">
            <a:solidFill>
              <a:srgbClr val="2B1F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9" name="Google Shape;249;p22"/>
          <p:cNvSpPr/>
          <p:nvPr/>
        </p:nvSpPr>
        <p:spPr>
          <a:xfrm>
            <a:off x="637794" y="1433322"/>
            <a:ext cx="109728" cy="109728"/>
          </a:xfrm>
          <a:prstGeom prst="ellipse">
            <a:avLst/>
          </a:prstGeom>
          <a:solidFill>
            <a:srgbClr val="FFB84D"/>
          </a:solidFill>
          <a:ln cap="flat" cmpd="sng" w="12700">
            <a:solidFill>
              <a:srgbClr val="FFB84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0" name="Google Shape;250;p22"/>
          <p:cNvSpPr/>
          <p:nvPr/>
        </p:nvSpPr>
        <p:spPr>
          <a:xfrm>
            <a:off x="829818" y="1337310"/>
            <a:ext cx="207797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Katalog Menu</a:t>
            </a:r>
            <a:endParaRPr b="0" i="0" sz="1000" u="none" cap="none" strike="noStrike">
              <a:solidFill>
                <a:schemeClr val="dk1"/>
              </a:solidFill>
              <a:latin typeface="Calibri"/>
              <a:ea typeface="Calibri"/>
              <a:cs typeface="Calibri"/>
              <a:sym typeface="Calibri"/>
            </a:endParaRPr>
          </a:p>
        </p:txBody>
      </p:sp>
      <p:sp>
        <p:nvSpPr>
          <p:cNvPr id="251" name="Google Shape;251;p22"/>
          <p:cNvSpPr/>
          <p:nvPr/>
        </p:nvSpPr>
        <p:spPr>
          <a:xfrm>
            <a:off x="829818" y="1556766"/>
            <a:ext cx="2077974" cy="308610"/>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C4B2B6"/>
              </a:buClr>
              <a:buSzPts val="800"/>
              <a:buFont typeface="Calibri"/>
              <a:buNone/>
            </a:pPr>
            <a:r>
              <a:rPr b="0" i="0" lang="en" sz="800" u="none" cap="none" strike="noStrike">
                <a:solidFill>
                  <a:srgbClr val="C4B2B6"/>
                </a:solidFill>
                <a:latin typeface="Calibri"/>
                <a:ea typeface="Calibri"/>
                <a:cs typeface="Calibri"/>
                <a:sym typeface="Calibri"/>
              </a:rPr>
              <a:t>Search keyword, filter kategori, indikator stok tersisa, pagination</a:t>
            </a:r>
            <a:endParaRPr b="0" i="0" sz="800" u="none" cap="none" strike="noStrike">
              <a:solidFill>
                <a:schemeClr val="dk1"/>
              </a:solidFill>
              <a:latin typeface="Calibri"/>
              <a:ea typeface="Calibri"/>
              <a:cs typeface="Calibri"/>
              <a:sym typeface="Calibri"/>
            </a:endParaRPr>
          </a:p>
        </p:txBody>
      </p:sp>
      <p:sp>
        <p:nvSpPr>
          <p:cNvPr id="252" name="Google Shape;252;p22"/>
          <p:cNvSpPr/>
          <p:nvPr/>
        </p:nvSpPr>
        <p:spPr>
          <a:xfrm>
            <a:off x="3243834" y="1200150"/>
            <a:ext cx="2626614" cy="720090"/>
          </a:xfrm>
          <a:prstGeom prst="roundRect">
            <a:avLst>
              <a:gd fmla="val 9524" name="adj"/>
            </a:avLst>
          </a:prstGeom>
          <a:solidFill>
            <a:srgbClr val="2B1F22"/>
          </a:solidFill>
          <a:ln cap="flat" cmpd="sng" w="12700">
            <a:solidFill>
              <a:srgbClr val="2B1F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3" name="Google Shape;253;p22"/>
          <p:cNvSpPr/>
          <p:nvPr/>
        </p:nvSpPr>
        <p:spPr>
          <a:xfrm>
            <a:off x="3435858" y="1433322"/>
            <a:ext cx="109728" cy="109728"/>
          </a:xfrm>
          <a:prstGeom prst="ellipse">
            <a:avLst/>
          </a:prstGeom>
          <a:solidFill>
            <a:srgbClr val="FFB84D"/>
          </a:solidFill>
          <a:ln cap="flat" cmpd="sng" w="12700">
            <a:solidFill>
              <a:srgbClr val="FFB84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4" name="Google Shape;254;p22"/>
          <p:cNvSpPr/>
          <p:nvPr/>
        </p:nvSpPr>
        <p:spPr>
          <a:xfrm>
            <a:off x="3627882" y="1337310"/>
            <a:ext cx="207797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Keranjang &amp; Varian</a:t>
            </a:r>
            <a:endParaRPr b="0" i="0" sz="1000" u="none" cap="none" strike="noStrike">
              <a:solidFill>
                <a:schemeClr val="dk1"/>
              </a:solidFill>
              <a:latin typeface="Calibri"/>
              <a:ea typeface="Calibri"/>
              <a:cs typeface="Calibri"/>
              <a:sym typeface="Calibri"/>
            </a:endParaRPr>
          </a:p>
        </p:txBody>
      </p:sp>
      <p:sp>
        <p:nvSpPr>
          <p:cNvPr id="255" name="Google Shape;255;p22"/>
          <p:cNvSpPr/>
          <p:nvPr/>
        </p:nvSpPr>
        <p:spPr>
          <a:xfrm>
            <a:off x="3627882" y="1556766"/>
            <a:ext cx="2077974" cy="308610"/>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C4B2B6"/>
              </a:buClr>
              <a:buSzPts val="800"/>
              <a:buFont typeface="Calibri"/>
              <a:buNone/>
            </a:pPr>
            <a:r>
              <a:rPr b="0" i="0" lang="en" sz="800" u="none" cap="none" strike="noStrike">
                <a:solidFill>
                  <a:srgbClr val="C4B2B6"/>
                </a:solidFill>
                <a:latin typeface="Calibri"/>
                <a:ea typeface="Calibri"/>
                <a:cs typeface="Calibri"/>
                <a:sym typeface="Calibri"/>
              </a:rPr>
              <a:t>Pilih ukuran dan level pedas, harga terhitung langsung</a:t>
            </a:r>
            <a:endParaRPr b="0" i="0" sz="800" u="none" cap="none" strike="noStrike">
              <a:solidFill>
                <a:schemeClr val="dk1"/>
              </a:solidFill>
              <a:latin typeface="Calibri"/>
              <a:ea typeface="Calibri"/>
              <a:cs typeface="Calibri"/>
              <a:sym typeface="Calibri"/>
            </a:endParaRPr>
          </a:p>
        </p:txBody>
      </p:sp>
      <p:sp>
        <p:nvSpPr>
          <p:cNvPr id="256" name="Google Shape;256;p22"/>
          <p:cNvSpPr/>
          <p:nvPr/>
        </p:nvSpPr>
        <p:spPr>
          <a:xfrm>
            <a:off x="6041898" y="1200150"/>
            <a:ext cx="2626614" cy="720090"/>
          </a:xfrm>
          <a:prstGeom prst="roundRect">
            <a:avLst>
              <a:gd fmla="val 9524" name="adj"/>
            </a:avLst>
          </a:prstGeom>
          <a:solidFill>
            <a:srgbClr val="2B1F22"/>
          </a:solidFill>
          <a:ln cap="flat" cmpd="sng" w="12700">
            <a:solidFill>
              <a:srgbClr val="2B1F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7" name="Google Shape;257;p22"/>
          <p:cNvSpPr/>
          <p:nvPr/>
        </p:nvSpPr>
        <p:spPr>
          <a:xfrm>
            <a:off x="6233922" y="1433322"/>
            <a:ext cx="109728" cy="109728"/>
          </a:xfrm>
          <a:prstGeom prst="ellipse">
            <a:avLst/>
          </a:prstGeom>
          <a:solidFill>
            <a:srgbClr val="FFB84D"/>
          </a:solidFill>
          <a:ln cap="flat" cmpd="sng" w="12700">
            <a:solidFill>
              <a:srgbClr val="FFB84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8" name="Google Shape;258;p22"/>
          <p:cNvSpPr/>
          <p:nvPr/>
        </p:nvSpPr>
        <p:spPr>
          <a:xfrm>
            <a:off x="6425946" y="1337310"/>
            <a:ext cx="207797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Antrean Digital</a:t>
            </a:r>
            <a:endParaRPr b="0" i="0" sz="1000" u="none" cap="none" strike="noStrike">
              <a:solidFill>
                <a:schemeClr val="dk1"/>
              </a:solidFill>
              <a:latin typeface="Calibri"/>
              <a:ea typeface="Calibri"/>
              <a:cs typeface="Calibri"/>
              <a:sym typeface="Calibri"/>
            </a:endParaRPr>
          </a:p>
        </p:txBody>
      </p:sp>
      <p:sp>
        <p:nvSpPr>
          <p:cNvPr id="259" name="Google Shape;259;p22"/>
          <p:cNvSpPr/>
          <p:nvPr/>
        </p:nvSpPr>
        <p:spPr>
          <a:xfrm>
            <a:off x="6425946" y="1556766"/>
            <a:ext cx="2077974" cy="308610"/>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C4B2B6"/>
              </a:buClr>
              <a:buSzPts val="800"/>
              <a:buFont typeface="Calibri"/>
              <a:buNone/>
            </a:pPr>
            <a:r>
              <a:rPr b="0" i="0" lang="en" sz="800" u="none" cap="none" strike="noStrike">
                <a:solidFill>
                  <a:srgbClr val="C4B2B6"/>
                </a:solidFill>
                <a:latin typeface="Calibri"/>
                <a:ea typeface="Calibri"/>
                <a:cs typeface="Calibri"/>
                <a:sym typeface="Calibri"/>
              </a:rPr>
              <a:t>Nomor antrean harian + estimasi waktu tunggu dari beban dapur</a:t>
            </a:r>
            <a:endParaRPr b="0" i="0" sz="800" u="none" cap="none" strike="noStrike">
              <a:solidFill>
                <a:schemeClr val="dk1"/>
              </a:solidFill>
              <a:latin typeface="Calibri"/>
              <a:ea typeface="Calibri"/>
              <a:cs typeface="Calibri"/>
              <a:sym typeface="Calibri"/>
            </a:endParaRPr>
          </a:p>
        </p:txBody>
      </p:sp>
      <p:sp>
        <p:nvSpPr>
          <p:cNvPr id="260" name="Google Shape;260;p22"/>
          <p:cNvSpPr/>
          <p:nvPr/>
        </p:nvSpPr>
        <p:spPr>
          <a:xfrm>
            <a:off x="445770" y="2057400"/>
            <a:ext cx="2626614" cy="720090"/>
          </a:xfrm>
          <a:prstGeom prst="roundRect">
            <a:avLst>
              <a:gd fmla="val 9524" name="adj"/>
            </a:avLst>
          </a:prstGeom>
          <a:solidFill>
            <a:srgbClr val="2B1F22"/>
          </a:solidFill>
          <a:ln cap="flat" cmpd="sng" w="12700">
            <a:solidFill>
              <a:srgbClr val="2B1F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1" name="Google Shape;261;p22"/>
          <p:cNvSpPr/>
          <p:nvPr/>
        </p:nvSpPr>
        <p:spPr>
          <a:xfrm>
            <a:off x="637794" y="2290572"/>
            <a:ext cx="109728" cy="109728"/>
          </a:xfrm>
          <a:prstGeom prst="ellipse">
            <a:avLst/>
          </a:prstGeom>
          <a:solidFill>
            <a:srgbClr val="FFB84D"/>
          </a:solidFill>
          <a:ln cap="flat" cmpd="sng" w="12700">
            <a:solidFill>
              <a:srgbClr val="FFB84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2" name="Google Shape;262;p22"/>
          <p:cNvSpPr/>
          <p:nvPr/>
        </p:nvSpPr>
        <p:spPr>
          <a:xfrm>
            <a:off x="829818" y="2194560"/>
            <a:ext cx="207797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Lacak Status</a:t>
            </a:r>
            <a:endParaRPr b="0" i="0" sz="1000" u="none" cap="none" strike="noStrike">
              <a:solidFill>
                <a:schemeClr val="dk1"/>
              </a:solidFill>
              <a:latin typeface="Calibri"/>
              <a:ea typeface="Calibri"/>
              <a:cs typeface="Calibri"/>
              <a:sym typeface="Calibri"/>
            </a:endParaRPr>
          </a:p>
        </p:txBody>
      </p:sp>
      <p:sp>
        <p:nvSpPr>
          <p:cNvPr id="263" name="Google Shape;263;p22"/>
          <p:cNvSpPr/>
          <p:nvPr/>
        </p:nvSpPr>
        <p:spPr>
          <a:xfrm>
            <a:off x="829818" y="2414016"/>
            <a:ext cx="2077974" cy="308610"/>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C4B2B6"/>
              </a:buClr>
              <a:buSzPts val="800"/>
              <a:buFont typeface="Calibri"/>
              <a:buNone/>
            </a:pPr>
            <a:r>
              <a:rPr b="0" i="0" lang="en" sz="800" u="none" cap="none" strike="noStrike">
                <a:solidFill>
                  <a:srgbClr val="C4B2B6"/>
                </a:solidFill>
                <a:latin typeface="Calibri"/>
                <a:ea typeface="Calibri"/>
                <a:cs typeface="Calibri"/>
                <a:sym typeface="Calibri"/>
              </a:rPr>
              <a:t>Diantre → diproses → siap, halaman ter-update otomatis</a:t>
            </a:r>
            <a:endParaRPr b="0" i="0" sz="800" u="none" cap="none" strike="noStrike">
              <a:solidFill>
                <a:schemeClr val="dk1"/>
              </a:solidFill>
              <a:latin typeface="Calibri"/>
              <a:ea typeface="Calibri"/>
              <a:cs typeface="Calibri"/>
              <a:sym typeface="Calibri"/>
            </a:endParaRPr>
          </a:p>
        </p:txBody>
      </p:sp>
      <p:sp>
        <p:nvSpPr>
          <p:cNvPr id="264" name="Google Shape;264;p22"/>
          <p:cNvSpPr/>
          <p:nvPr/>
        </p:nvSpPr>
        <p:spPr>
          <a:xfrm>
            <a:off x="3243834" y="2057400"/>
            <a:ext cx="2626614" cy="720090"/>
          </a:xfrm>
          <a:prstGeom prst="roundRect">
            <a:avLst>
              <a:gd fmla="val 9524" name="adj"/>
            </a:avLst>
          </a:prstGeom>
          <a:solidFill>
            <a:srgbClr val="2B1F22"/>
          </a:solidFill>
          <a:ln cap="flat" cmpd="sng" w="12700">
            <a:solidFill>
              <a:srgbClr val="2B1F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5" name="Google Shape;265;p22"/>
          <p:cNvSpPr/>
          <p:nvPr/>
        </p:nvSpPr>
        <p:spPr>
          <a:xfrm>
            <a:off x="3435858" y="2290572"/>
            <a:ext cx="109728" cy="109728"/>
          </a:xfrm>
          <a:prstGeom prst="ellipse">
            <a:avLst/>
          </a:prstGeom>
          <a:solidFill>
            <a:srgbClr val="FFB84D"/>
          </a:solidFill>
          <a:ln cap="flat" cmpd="sng" w="12700">
            <a:solidFill>
              <a:srgbClr val="FFB84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6" name="Google Shape;266;p22"/>
          <p:cNvSpPr/>
          <p:nvPr/>
        </p:nvSpPr>
        <p:spPr>
          <a:xfrm>
            <a:off x="3627882" y="2194560"/>
            <a:ext cx="207797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Admin — Papan Dapur</a:t>
            </a:r>
            <a:endParaRPr b="0" i="0" sz="1000" u="none" cap="none" strike="noStrike">
              <a:solidFill>
                <a:schemeClr val="dk1"/>
              </a:solidFill>
              <a:latin typeface="Calibri"/>
              <a:ea typeface="Calibri"/>
              <a:cs typeface="Calibri"/>
              <a:sym typeface="Calibri"/>
            </a:endParaRPr>
          </a:p>
        </p:txBody>
      </p:sp>
      <p:sp>
        <p:nvSpPr>
          <p:cNvPr id="267" name="Google Shape;267;p22"/>
          <p:cNvSpPr/>
          <p:nvPr/>
        </p:nvSpPr>
        <p:spPr>
          <a:xfrm>
            <a:off x="3627882" y="2414016"/>
            <a:ext cx="2077974" cy="308610"/>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C4B2B6"/>
              </a:buClr>
              <a:buSzPts val="800"/>
              <a:buFont typeface="Calibri"/>
              <a:buNone/>
            </a:pPr>
            <a:r>
              <a:rPr b="0" i="0" lang="en" sz="800" u="none" cap="none" strike="noStrike">
                <a:solidFill>
                  <a:srgbClr val="C4B2B6"/>
                </a:solidFill>
                <a:latin typeface="Calibri"/>
                <a:ea typeface="Calibri"/>
                <a:cs typeface="Calibri"/>
                <a:sym typeface="Calibri"/>
              </a:rPr>
              <a:t>Daftar pesanan berurutan, ubah status satu ketuk</a:t>
            </a:r>
            <a:endParaRPr b="0" i="0" sz="800" u="none" cap="none" strike="noStrike">
              <a:solidFill>
                <a:schemeClr val="dk1"/>
              </a:solidFill>
              <a:latin typeface="Calibri"/>
              <a:ea typeface="Calibri"/>
              <a:cs typeface="Calibri"/>
              <a:sym typeface="Calibri"/>
            </a:endParaRPr>
          </a:p>
        </p:txBody>
      </p:sp>
      <p:sp>
        <p:nvSpPr>
          <p:cNvPr id="268" name="Google Shape;268;p22"/>
          <p:cNvSpPr/>
          <p:nvPr/>
        </p:nvSpPr>
        <p:spPr>
          <a:xfrm>
            <a:off x="6041898" y="2057400"/>
            <a:ext cx="2626614" cy="720090"/>
          </a:xfrm>
          <a:prstGeom prst="roundRect">
            <a:avLst>
              <a:gd fmla="val 9524" name="adj"/>
            </a:avLst>
          </a:prstGeom>
          <a:solidFill>
            <a:srgbClr val="2B1F22"/>
          </a:solidFill>
          <a:ln cap="flat" cmpd="sng" w="12700">
            <a:solidFill>
              <a:srgbClr val="2B1F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9" name="Google Shape;269;p22"/>
          <p:cNvSpPr/>
          <p:nvPr/>
        </p:nvSpPr>
        <p:spPr>
          <a:xfrm>
            <a:off x="6233922" y="2290572"/>
            <a:ext cx="109728" cy="109728"/>
          </a:xfrm>
          <a:prstGeom prst="ellipse">
            <a:avLst/>
          </a:prstGeom>
          <a:solidFill>
            <a:srgbClr val="FFB84D"/>
          </a:solidFill>
          <a:ln cap="flat" cmpd="sng" w="12700">
            <a:solidFill>
              <a:srgbClr val="FFB84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0" name="Google Shape;270;p22"/>
          <p:cNvSpPr/>
          <p:nvPr/>
        </p:nvSpPr>
        <p:spPr>
          <a:xfrm>
            <a:off x="6425946" y="2194560"/>
            <a:ext cx="2077974"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Admin — Laporan</a:t>
            </a:r>
            <a:endParaRPr b="0" i="0" sz="1000" u="none" cap="none" strike="noStrike">
              <a:solidFill>
                <a:schemeClr val="dk1"/>
              </a:solidFill>
              <a:latin typeface="Calibri"/>
              <a:ea typeface="Calibri"/>
              <a:cs typeface="Calibri"/>
              <a:sym typeface="Calibri"/>
            </a:endParaRPr>
          </a:p>
        </p:txBody>
      </p:sp>
      <p:sp>
        <p:nvSpPr>
          <p:cNvPr id="271" name="Google Shape;271;p22"/>
          <p:cNvSpPr/>
          <p:nvPr/>
        </p:nvSpPr>
        <p:spPr>
          <a:xfrm>
            <a:off x="6425946" y="2414016"/>
            <a:ext cx="2077974" cy="308610"/>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C4B2B6"/>
              </a:buClr>
              <a:buSzPts val="800"/>
              <a:buFont typeface="Calibri"/>
              <a:buNone/>
            </a:pPr>
            <a:r>
              <a:rPr b="0" i="0" lang="en" sz="800" u="none" cap="none" strike="noStrike">
                <a:solidFill>
                  <a:srgbClr val="C4B2B6"/>
                </a:solidFill>
                <a:latin typeface="Calibri"/>
                <a:ea typeface="Calibri"/>
                <a:cs typeface="Calibri"/>
                <a:sym typeface="Calibri"/>
              </a:rPr>
              <a:t>Produk terlaris, stok rendah, jam tersibuk, tren pendapatan</a:t>
            </a:r>
            <a:endParaRPr b="0" i="0" sz="800" u="none" cap="none" strike="noStrike">
              <a:solidFill>
                <a:schemeClr val="dk1"/>
              </a:solidFill>
              <a:latin typeface="Calibri"/>
              <a:ea typeface="Calibri"/>
              <a:cs typeface="Calibri"/>
              <a:sym typeface="Calibri"/>
            </a:endParaRPr>
          </a:p>
        </p:txBody>
      </p:sp>
      <p:sp>
        <p:nvSpPr>
          <p:cNvPr id="272" name="Google Shape;272;p22"/>
          <p:cNvSpPr/>
          <p:nvPr/>
        </p:nvSpPr>
        <p:spPr>
          <a:xfrm>
            <a:off x="445770" y="3257550"/>
            <a:ext cx="8229600" cy="2880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B84D"/>
              </a:buClr>
              <a:buSzPts val="1400"/>
              <a:buFont typeface="Calibri"/>
              <a:buNone/>
            </a:pPr>
            <a:r>
              <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214"/>
        </a:solidFill>
      </p:bgPr>
    </p:bg>
    <p:spTree>
      <p:nvGrpSpPr>
        <p:cNvPr id="277" name="Shape 277"/>
        <p:cNvGrpSpPr/>
        <p:nvPr/>
      </p:nvGrpSpPr>
      <p:grpSpPr>
        <a:xfrm>
          <a:off x="0" y="0"/>
          <a:ext cx="0" cy="0"/>
          <a:chOff x="0" y="0"/>
          <a:chExt cx="0" cy="0"/>
        </a:xfrm>
      </p:grpSpPr>
      <p:sp>
        <p:nvSpPr>
          <p:cNvPr id="278" name="Google Shape;278;p23"/>
          <p:cNvSpPr/>
          <p:nvPr/>
        </p:nvSpPr>
        <p:spPr>
          <a:xfrm>
            <a:off x="445770" y="288036"/>
            <a:ext cx="822960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4D"/>
              </a:buClr>
              <a:buSzPts val="800"/>
              <a:buFont typeface="Calibri"/>
              <a:buNone/>
            </a:pPr>
            <a:r>
              <a:rPr b="1" i="0" lang="en" sz="800" u="none" cap="none" strike="noStrike">
                <a:solidFill>
                  <a:srgbClr val="FFB84D"/>
                </a:solidFill>
                <a:latin typeface="Calibri"/>
                <a:ea typeface="Calibri"/>
                <a:cs typeface="Calibri"/>
                <a:sym typeface="Calibri"/>
              </a:rPr>
              <a:t>TECHNICAL DEPTH</a:t>
            </a:r>
            <a:endParaRPr b="0" i="0" sz="800" u="none" cap="none" strike="noStrike">
              <a:solidFill>
                <a:schemeClr val="dk1"/>
              </a:solidFill>
              <a:latin typeface="Calibri"/>
              <a:ea typeface="Calibri"/>
              <a:cs typeface="Calibri"/>
              <a:sym typeface="Calibri"/>
            </a:endParaRPr>
          </a:p>
        </p:txBody>
      </p:sp>
      <p:sp>
        <p:nvSpPr>
          <p:cNvPr id="279" name="Google Shape;279;p23"/>
          <p:cNvSpPr/>
          <p:nvPr/>
        </p:nvSpPr>
        <p:spPr>
          <a:xfrm>
            <a:off x="445770" y="493776"/>
            <a:ext cx="8229600" cy="4251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300"/>
              <a:buFont typeface="Calibri"/>
              <a:buNone/>
            </a:pPr>
            <a:r>
              <a:rPr b="1" i="0" lang="en" sz="2300" u="none" cap="none" strike="noStrike">
                <a:solidFill>
                  <a:srgbClr val="FFFFFF"/>
                </a:solidFill>
                <a:latin typeface="Calibri"/>
                <a:ea typeface="Calibri"/>
                <a:cs typeface="Calibri"/>
                <a:sym typeface="Calibri"/>
              </a:rPr>
              <a:t>Tech Stack &amp; Alasan Pemilihannya</a:t>
            </a:r>
            <a:endParaRPr b="0" i="0" sz="2300" u="none" cap="none" strike="noStrike">
              <a:solidFill>
                <a:schemeClr val="dk1"/>
              </a:solidFill>
              <a:latin typeface="Calibri"/>
              <a:ea typeface="Calibri"/>
              <a:cs typeface="Calibri"/>
              <a:sym typeface="Calibri"/>
            </a:endParaRPr>
          </a:p>
        </p:txBody>
      </p:sp>
      <p:sp>
        <p:nvSpPr>
          <p:cNvPr id="280" name="Google Shape;280;p23"/>
          <p:cNvSpPr/>
          <p:nvPr/>
        </p:nvSpPr>
        <p:spPr>
          <a:xfrm>
            <a:off x="445770" y="1200150"/>
            <a:ext cx="2626614" cy="3086100"/>
          </a:xfrm>
          <a:prstGeom prst="roundRect">
            <a:avLst>
              <a:gd fmla="val 2611" name="adj"/>
            </a:avLst>
          </a:prstGeom>
          <a:solidFill>
            <a:srgbClr val="2B1F22"/>
          </a:solidFill>
          <a:ln cap="flat" cmpd="sng" w="12700">
            <a:solidFill>
              <a:srgbClr val="2B1F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1" name="Google Shape;281;p23"/>
          <p:cNvSpPr/>
          <p:nvPr/>
        </p:nvSpPr>
        <p:spPr>
          <a:xfrm>
            <a:off x="665226" y="1357884"/>
            <a:ext cx="2187702" cy="2606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4D"/>
              </a:buClr>
              <a:buSzPts val="1400"/>
              <a:buFont typeface="Calibri"/>
              <a:buNone/>
            </a:pPr>
            <a:r>
              <a:rPr b="1" i="0" lang="en" sz="1400" u="none" cap="none" strike="noStrike">
                <a:solidFill>
                  <a:srgbClr val="FFB84D"/>
                </a:solidFill>
                <a:latin typeface="Calibri"/>
                <a:ea typeface="Calibri"/>
                <a:cs typeface="Calibri"/>
                <a:sym typeface="Calibri"/>
              </a:rPr>
              <a:t>Backend</a:t>
            </a:r>
            <a:endParaRPr b="0" i="0" sz="1400" u="none" cap="none" strike="noStrike">
              <a:solidFill>
                <a:schemeClr val="dk1"/>
              </a:solidFill>
              <a:latin typeface="Calibri"/>
              <a:ea typeface="Calibri"/>
              <a:cs typeface="Calibri"/>
              <a:sym typeface="Calibri"/>
            </a:endParaRPr>
          </a:p>
        </p:txBody>
      </p:sp>
      <p:sp>
        <p:nvSpPr>
          <p:cNvPr id="282" name="Google Shape;282;p23"/>
          <p:cNvSpPr/>
          <p:nvPr/>
        </p:nvSpPr>
        <p:spPr>
          <a:xfrm>
            <a:off x="665226" y="1673352"/>
            <a:ext cx="2187702" cy="1097280"/>
          </a:xfrm>
          <a:prstGeom prst="rect">
            <a:avLst/>
          </a:prstGeom>
          <a:noFill/>
          <a:ln>
            <a:noFill/>
          </a:ln>
        </p:spPr>
        <p:txBody>
          <a:bodyPr anchorCtr="0" anchor="t" bIns="0" lIns="0" spcFirstLastPara="1" rIns="0" wrap="square" tIns="0">
            <a:noAutofit/>
          </a:bodyPr>
          <a:lstStyle/>
          <a:p>
            <a:pPr indent="-133350" lvl="0" marL="139700" marR="0" rtl="0" algn="l">
              <a:spcBef>
                <a:spcPts val="0"/>
              </a:spcBef>
              <a:spcAft>
                <a:spcPts val="0"/>
              </a:spcAft>
              <a:buClr>
                <a:srgbClr val="FFFFFF"/>
              </a:buClr>
              <a:buSzPts val="900"/>
              <a:buFont typeface="Calibri"/>
              <a:buChar char="•"/>
            </a:pPr>
            <a:r>
              <a:rPr lang="en" sz="900">
                <a:solidFill>
                  <a:srgbClr val="FFFFFF"/>
                </a:solidFill>
                <a:latin typeface="Calibri"/>
                <a:ea typeface="Calibri"/>
                <a:cs typeface="Calibri"/>
                <a:sym typeface="Calibri"/>
              </a:rPr>
              <a:t>Springboot</a:t>
            </a:r>
            <a:endParaRPr b="0" i="0" sz="900" u="none" cap="none" strike="noStrike">
              <a:solidFill>
                <a:schemeClr val="dk1"/>
              </a:solidFill>
              <a:latin typeface="Calibri"/>
              <a:ea typeface="Calibri"/>
              <a:cs typeface="Calibri"/>
              <a:sym typeface="Calibri"/>
            </a:endParaRPr>
          </a:p>
          <a:p>
            <a:pPr indent="-133350" lvl="0" marL="139700" marR="0" rtl="0" algn="l">
              <a:spcBef>
                <a:spcPts val="500"/>
              </a:spcBef>
              <a:spcAft>
                <a:spcPts val="0"/>
              </a:spcAft>
              <a:buClr>
                <a:srgbClr val="FFFFFF"/>
              </a:buClr>
              <a:buSzPts val="900"/>
              <a:buFont typeface="Calibri"/>
              <a:buChar char="•"/>
            </a:pPr>
            <a:r>
              <a:rPr b="0" i="0" lang="en" sz="900" u="none" cap="none" strike="noStrike">
                <a:solidFill>
                  <a:srgbClr val="FFFFFF"/>
                </a:solidFill>
                <a:latin typeface="Calibri"/>
                <a:ea typeface="Calibri"/>
                <a:cs typeface="Calibri"/>
                <a:sym typeface="Calibri"/>
              </a:rPr>
              <a:t>MySQL 8</a:t>
            </a:r>
            <a:endParaRPr b="0" i="0" sz="900" u="none" cap="none" strike="noStrike">
              <a:solidFill>
                <a:schemeClr val="dk1"/>
              </a:solidFill>
              <a:latin typeface="Calibri"/>
              <a:ea typeface="Calibri"/>
              <a:cs typeface="Calibri"/>
              <a:sym typeface="Calibri"/>
            </a:endParaRPr>
          </a:p>
          <a:p>
            <a:pPr indent="-133350" lvl="0" marL="139700" marR="0" rtl="0" algn="l">
              <a:spcBef>
                <a:spcPts val="500"/>
              </a:spcBef>
              <a:spcAft>
                <a:spcPts val="0"/>
              </a:spcAft>
              <a:buClr>
                <a:srgbClr val="FFFFFF"/>
              </a:buClr>
              <a:buSzPts val="900"/>
              <a:buFont typeface="Calibri"/>
              <a:buChar char="•"/>
            </a:pPr>
            <a:r>
              <a:rPr b="0" i="0" lang="en" sz="900" u="none" cap="none" strike="noStrike">
                <a:solidFill>
                  <a:srgbClr val="FFFFFF"/>
                </a:solidFill>
                <a:latin typeface="Calibri"/>
                <a:ea typeface="Calibri"/>
                <a:cs typeface="Calibri"/>
                <a:sym typeface="Calibri"/>
              </a:rPr>
              <a:t>Swagger / Postman</a:t>
            </a:r>
            <a:endParaRPr b="0" i="0" sz="900" u="none" cap="none" strike="noStrike">
              <a:solidFill>
                <a:schemeClr val="dk1"/>
              </a:solidFill>
              <a:latin typeface="Calibri"/>
              <a:ea typeface="Calibri"/>
              <a:cs typeface="Calibri"/>
              <a:sym typeface="Calibri"/>
            </a:endParaRPr>
          </a:p>
        </p:txBody>
      </p:sp>
      <p:sp>
        <p:nvSpPr>
          <p:cNvPr id="283" name="Google Shape;283;p23"/>
          <p:cNvSpPr/>
          <p:nvPr/>
        </p:nvSpPr>
        <p:spPr>
          <a:xfrm>
            <a:off x="665226" y="2846070"/>
            <a:ext cx="2187702" cy="8230"/>
          </a:xfrm>
          <a:prstGeom prst="rect">
            <a:avLst/>
          </a:prstGeom>
          <a:solidFill>
            <a:srgbClr val="4E3A3E"/>
          </a:solidFill>
          <a:ln cap="flat" cmpd="sng" w="12700">
            <a:solidFill>
              <a:srgbClr val="4E3A3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4" name="Google Shape;284;p23"/>
          <p:cNvSpPr/>
          <p:nvPr/>
        </p:nvSpPr>
        <p:spPr>
          <a:xfrm>
            <a:off x="665226" y="2935224"/>
            <a:ext cx="2187702"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4D"/>
              </a:buClr>
              <a:buSzPts val="800"/>
              <a:buFont typeface="Calibri"/>
              <a:buNone/>
            </a:pPr>
            <a:r>
              <a:rPr b="1" i="0" lang="en" sz="800" u="none" cap="none" strike="noStrike">
                <a:solidFill>
                  <a:srgbClr val="FFB84D"/>
                </a:solidFill>
                <a:latin typeface="Calibri"/>
                <a:ea typeface="Calibri"/>
                <a:cs typeface="Calibri"/>
                <a:sym typeface="Calibri"/>
              </a:rPr>
              <a:t>Kenapa</a:t>
            </a:r>
            <a:endParaRPr b="0" i="0" sz="800" u="none" cap="none" strike="noStrike">
              <a:solidFill>
                <a:schemeClr val="dk1"/>
              </a:solidFill>
              <a:latin typeface="Calibri"/>
              <a:ea typeface="Calibri"/>
              <a:cs typeface="Calibri"/>
              <a:sym typeface="Calibri"/>
            </a:endParaRPr>
          </a:p>
        </p:txBody>
      </p:sp>
      <p:sp>
        <p:nvSpPr>
          <p:cNvPr id="285" name="Google Shape;285;p23"/>
          <p:cNvSpPr/>
          <p:nvPr/>
        </p:nvSpPr>
        <p:spPr>
          <a:xfrm>
            <a:off x="665226" y="3127248"/>
            <a:ext cx="2187702" cy="1028700"/>
          </a:xfrm>
          <a:prstGeom prst="rect">
            <a:avLst/>
          </a:prstGeom>
          <a:noFill/>
          <a:ln>
            <a:noFill/>
          </a:ln>
        </p:spPr>
        <p:txBody>
          <a:bodyPr anchorCtr="0" anchor="t" bIns="0" lIns="0" spcFirstLastPara="1" rIns="0" wrap="square" tIns="0">
            <a:noAutofit/>
          </a:bodyPr>
          <a:lstStyle/>
          <a:p>
            <a:pPr indent="0" lvl="0" marL="0" marR="0" rtl="0" algn="l">
              <a:lnSpc>
                <a:spcPct val="130434"/>
              </a:lnSpc>
              <a:spcBef>
                <a:spcPts val="0"/>
              </a:spcBef>
              <a:spcAft>
                <a:spcPts val="0"/>
              </a:spcAft>
              <a:buClr>
                <a:srgbClr val="C4B2B6"/>
              </a:buClr>
              <a:buSzPts val="900"/>
              <a:buFont typeface="Calibri"/>
              <a:buNone/>
            </a:pPr>
            <a:r>
              <a:rPr b="0" i="0" lang="en" sz="900" u="none" cap="none" strike="noStrike">
                <a:solidFill>
                  <a:srgbClr val="C4B2B6"/>
                </a:solidFill>
                <a:latin typeface="Calibri"/>
                <a:ea typeface="Calibri"/>
                <a:cs typeface="Calibri"/>
                <a:sym typeface="Calibri"/>
              </a:rPr>
              <a:t>Inti aplikasi ini adalah transaksi database dengan pessimistic lock saat pengurangan stok. Laravel menyediakannya lewat query builder tanpa perlu raw SQL, sehingga logika tetap terbaca.</a:t>
            </a:r>
            <a:endParaRPr b="0" i="0" sz="900" u="none" cap="none" strike="noStrike">
              <a:solidFill>
                <a:schemeClr val="dk1"/>
              </a:solidFill>
              <a:latin typeface="Calibri"/>
              <a:ea typeface="Calibri"/>
              <a:cs typeface="Calibri"/>
              <a:sym typeface="Calibri"/>
            </a:endParaRPr>
          </a:p>
        </p:txBody>
      </p:sp>
      <p:sp>
        <p:nvSpPr>
          <p:cNvPr id="286" name="Google Shape;286;p23"/>
          <p:cNvSpPr/>
          <p:nvPr/>
        </p:nvSpPr>
        <p:spPr>
          <a:xfrm>
            <a:off x="3243834" y="1200150"/>
            <a:ext cx="2626614" cy="3086100"/>
          </a:xfrm>
          <a:prstGeom prst="roundRect">
            <a:avLst>
              <a:gd fmla="val 2611" name="adj"/>
            </a:avLst>
          </a:prstGeom>
          <a:solidFill>
            <a:srgbClr val="2B1F22"/>
          </a:solidFill>
          <a:ln cap="flat" cmpd="sng" w="12700">
            <a:solidFill>
              <a:srgbClr val="2B1F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7" name="Google Shape;287;p23"/>
          <p:cNvSpPr/>
          <p:nvPr/>
        </p:nvSpPr>
        <p:spPr>
          <a:xfrm>
            <a:off x="3463290" y="1357884"/>
            <a:ext cx="2187702" cy="2606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533D"/>
              </a:buClr>
              <a:buSzPts val="1400"/>
              <a:buFont typeface="Calibri"/>
              <a:buNone/>
            </a:pPr>
            <a:r>
              <a:rPr b="1" i="0" lang="en" sz="1400" u="none" cap="none" strike="noStrike">
                <a:solidFill>
                  <a:srgbClr val="F5533D"/>
                </a:solidFill>
                <a:latin typeface="Calibri"/>
                <a:ea typeface="Calibri"/>
                <a:cs typeface="Calibri"/>
                <a:sym typeface="Calibri"/>
              </a:rPr>
              <a:t>Frontend</a:t>
            </a:r>
            <a:endParaRPr b="0" i="0" sz="1400" u="none" cap="none" strike="noStrike">
              <a:solidFill>
                <a:schemeClr val="dk1"/>
              </a:solidFill>
              <a:latin typeface="Calibri"/>
              <a:ea typeface="Calibri"/>
              <a:cs typeface="Calibri"/>
              <a:sym typeface="Calibri"/>
            </a:endParaRPr>
          </a:p>
        </p:txBody>
      </p:sp>
      <p:sp>
        <p:nvSpPr>
          <p:cNvPr id="288" name="Google Shape;288;p23"/>
          <p:cNvSpPr/>
          <p:nvPr/>
        </p:nvSpPr>
        <p:spPr>
          <a:xfrm>
            <a:off x="3463290" y="1673352"/>
            <a:ext cx="2187702" cy="1097280"/>
          </a:xfrm>
          <a:prstGeom prst="rect">
            <a:avLst/>
          </a:prstGeom>
          <a:noFill/>
          <a:ln>
            <a:noFill/>
          </a:ln>
        </p:spPr>
        <p:txBody>
          <a:bodyPr anchorCtr="0" anchor="t" bIns="0" lIns="0" spcFirstLastPara="1" rIns="0" wrap="square" tIns="0">
            <a:noAutofit/>
          </a:bodyPr>
          <a:lstStyle/>
          <a:p>
            <a:pPr indent="-133350" lvl="0" marL="139700" marR="0" rtl="0" algn="l">
              <a:spcBef>
                <a:spcPts val="0"/>
              </a:spcBef>
              <a:spcAft>
                <a:spcPts val="0"/>
              </a:spcAft>
              <a:buClr>
                <a:srgbClr val="FFFFFF"/>
              </a:buClr>
              <a:buSzPts val="900"/>
              <a:buFont typeface="Calibri"/>
              <a:buChar char="•"/>
            </a:pPr>
            <a:r>
              <a:rPr b="0" i="0" lang="en" sz="900" u="none" cap="none" strike="noStrike">
                <a:solidFill>
                  <a:srgbClr val="FFFFFF"/>
                </a:solidFill>
                <a:latin typeface="Calibri"/>
                <a:ea typeface="Calibri"/>
                <a:cs typeface="Calibri"/>
                <a:sym typeface="Calibri"/>
              </a:rPr>
              <a:t>React + Vite</a:t>
            </a:r>
            <a:endParaRPr b="0" i="0" sz="900" u="none" cap="none" strike="noStrike">
              <a:solidFill>
                <a:schemeClr val="dk1"/>
              </a:solidFill>
              <a:latin typeface="Calibri"/>
              <a:ea typeface="Calibri"/>
              <a:cs typeface="Calibri"/>
              <a:sym typeface="Calibri"/>
            </a:endParaRPr>
          </a:p>
          <a:p>
            <a:pPr indent="-133350" lvl="0" marL="139700" marR="0" rtl="0" algn="l">
              <a:spcBef>
                <a:spcPts val="500"/>
              </a:spcBef>
              <a:spcAft>
                <a:spcPts val="0"/>
              </a:spcAft>
              <a:buClr>
                <a:srgbClr val="FFFFFF"/>
              </a:buClr>
              <a:buSzPts val="900"/>
              <a:buFont typeface="Calibri"/>
              <a:buChar char="•"/>
            </a:pPr>
            <a:r>
              <a:rPr b="0" i="0" lang="en" sz="900" u="none" cap="none" strike="noStrike">
                <a:solidFill>
                  <a:srgbClr val="FFFFFF"/>
                </a:solidFill>
                <a:latin typeface="Calibri"/>
                <a:ea typeface="Calibri"/>
                <a:cs typeface="Calibri"/>
                <a:sym typeface="Calibri"/>
              </a:rPr>
              <a:t>Tailwind CSS</a:t>
            </a:r>
            <a:endParaRPr b="0" i="0" sz="900" u="none" cap="none" strike="noStrike">
              <a:solidFill>
                <a:schemeClr val="dk1"/>
              </a:solidFill>
              <a:latin typeface="Calibri"/>
              <a:ea typeface="Calibri"/>
              <a:cs typeface="Calibri"/>
              <a:sym typeface="Calibri"/>
            </a:endParaRPr>
          </a:p>
          <a:p>
            <a:pPr indent="-133350" lvl="0" marL="139700" marR="0" rtl="0" algn="l">
              <a:spcBef>
                <a:spcPts val="500"/>
              </a:spcBef>
              <a:spcAft>
                <a:spcPts val="0"/>
              </a:spcAft>
              <a:buClr>
                <a:srgbClr val="FFFFFF"/>
              </a:buClr>
              <a:buSzPts val="900"/>
              <a:buFont typeface="Calibri"/>
              <a:buChar char="•"/>
            </a:pPr>
            <a:r>
              <a:rPr b="0" i="0" lang="en" sz="900" u="none" cap="none" strike="noStrike">
                <a:solidFill>
                  <a:srgbClr val="FFFFFF"/>
                </a:solidFill>
                <a:latin typeface="Calibri"/>
                <a:ea typeface="Calibri"/>
                <a:cs typeface="Calibri"/>
                <a:sym typeface="Calibri"/>
              </a:rPr>
              <a:t>TanStack Query</a:t>
            </a:r>
            <a:endParaRPr b="0" i="0" sz="900" u="none" cap="none" strike="noStrike">
              <a:solidFill>
                <a:schemeClr val="dk1"/>
              </a:solidFill>
              <a:latin typeface="Calibri"/>
              <a:ea typeface="Calibri"/>
              <a:cs typeface="Calibri"/>
              <a:sym typeface="Calibri"/>
            </a:endParaRPr>
          </a:p>
        </p:txBody>
      </p:sp>
      <p:sp>
        <p:nvSpPr>
          <p:cNvPr id="289" name="Google Shape;289;p23"/>
          <p:cNvSpPr/>
          <p:nvPr/>
        </p:nvSpPr>
        <p:spPr>
          <a:xfrm>
            <a:off x="3463290" y="2846070"/>
            <a:ext cx="2187702" cy="8230"/>
          </a:xfrm>
          <a:prstGeom prst="rect">
            <a:avLst/>
          </a:prstGeom>
          <a:solidFill>
            <a:srgbClr val="4E3A3E"/>
          </a:solidFill>
          <a:ln cap="flat" cmpd="sng" w="12700">
            <a:solidFill>
              <a:srgbClr val="4E3A3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0" name="Google Shape;290;p23"/>
          <p:cNvSpPr/>
          <p:nvPr/>
        </p:nvSpPr>
        <p:spPr>
          <a:xfrm>
            <a:off x="3463290" y="2935224"/>
            <a:ext cx="2187702"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533D"/>
              </a:buClr>
              <a:buSzPts val="800"/>
              <a:buFont typeface="Calibri"/>
              <a:buNone/>
            </a:pPr>
            <a:r>
              <a:rPr b="1" i="0" lang="en" sz="800" u="none" cap="none" strike="noStrike">
                <a:solidFill>
                  <a:srgbClr val="F5533D"/>
                </a:solidFill>
                <a:latin typeface="Calibri"/>
                <a:ea typeface="Calibri"/>
                <a:cs typeface="Calibri"/>
                <a:sym typeface="Calibri"/>
              </a:rPr>
              <a:t>Kenapa</a:t>
            </a:r>
            <a:endParaRPr b="0" i="0" sz="800" u="none" cap="none" strike="noStrike">
              <a:solidFill>
                <a:schemeClr val="dk1"/>
              </a:solidFill>
              <a:latin typeface="Calibri"/>
              <a:ea typeface="Calibri"/>
              <a:cs typeface="Calibri"/>
              <a:sym typeface="Calibri"/>
            </a:endParaRPr>
          </a:p>
        </p:txBody>
      </p:sp>
      <p:sp>
        <p:nvSpPr>
          <p:cNvPr id="291" name="Google Shape;291;p23"/>
          <p:cNvSpPr/>
          <p:nvPr/>
        </p:nvSpPr>
        <p:spPr>
          <a:xfrm>
            <a:off x="3463290" y="3127248"/>
            <a:ext cx="2187702" cy="1028700"/>
          </a:xfrm>
          <a:prstGeom prst="rect">
            <a:avLst/>
          </a:prstGeom>
          <a:noFill/>
          <a:ln>
            <a:noFill/>
          </a:ln>
        </p:spPr>
        <p:txBody>
          <a:bodyPr anchorCtr="0" anchor="t" bIns="0" lIns="0" spcFirstLastPara="1" rIns="0" wrap="square" tIns="0">
            <a:noAutofit/>
          </a:bodyPr>
          <a:lstStyle/>
          <a:p>
            <a:pPr indent="0" lvl="0" marL="0" marR="0" rtl="0" algn="l">
              <a:lnSpc>
                <a:spcPct val="130434"/>
              </a:lnSpc>
              <a:spcBef>
                <a:spcPts val="0"/>
              </a:spcBef>
              <a:spcAft>
                <a:spcPts val="0"/>
              </a:spcAft>
              <a:buClr>
                <a:srgbClr val="C4B2B6"/>
              </a:buClr>
              <a:buSzPts val="900"/>
              <a:buFont typeface="Calibri"/>
              <a:buNone/>
            </a:pPr>
            <a:r>
              <a:rPr b="0" i="0" lang="en" sz="900" u="none" cap="none" strike="noStrike">
                <a:solidFill>
                  <a:srgbClr val="C4B2B6"/>
                </a:solidFill>
                <a:latin typeface="Calibri"/>
                <a:ea typeface="Calibri"/>
                <a:cs typeface="Calibri"/>
                <a:sym typeface="Calibri"/>
              </a:rPr>
              <a:t>TanStack Query menangani polling status pesanan dan invalidasi cache, sehingga halaman antrean ter-update sendiri tanpa perlu WebSocket di versi awal.</a:t>
            </a:r>
            <a:endParaRPr b="0" i="0" sz="900" u="none" cap="none" strike="noStrike">
              <a:solidFill>
                <a:schemeClr val="dk1"/>
              </a:solidFill>
              <a:latin typeface="Calibri"/>
              <a:ea typeface="Calibri"/>
              <a:cs typeface="Calibri"/>
              <a:sym typeface="Calibri"/>
            </a:endParaRPr>
          </a:p>
        </p:txBody>
      </p:sp>
      <p:sp>
        <p:nvSpPr>
          <p:cNvPr id="292" name="Google Shape;292;p23"/>
          <p:cNvSpPr/>
          <p:nvPr/>
        </p:nvSpPr>
        <p:spPr>
          <a:xfrm>
            <a:off x="6041898" y="1200150"/>
            <a:ext cx="2626614" cy="3086100"/>
          </a:xfrm>
          <a:prstGeom prst="roundRect">
            <a:avLst>
              <a:gd fmla="val 2611" name="adj"/>
            </a:avLst>
          </a:prstGeom>
          <a:solidFill>
            <a:srgbClr val="2B1F22"/>
          </a:solidFill>
          <a:ln cap="flat" cmpd="sng" w="12700">
            <a:solidFill>
              <a:srgbClr val="2B1F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3" name="Google Shape;293;p23"/>
          <p:cNvSpPr/>
          <p:nvPr/>
        </p:nvSpPr>
        <p:spPr>
          <a:xfrm>
            <a:off x="6261354" y="1357884"/>
            <a:ext cx="2187702" cy="2606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CAF7D"/>
              </a:buClr>
              <a:buSzPts val="1400"/>
              <a:buFont typeface="Calibri"/>
              <a:buNone/>
            </a:pPr>
            <a:r>
              <a:rPr b="1" i="0" lang="en" sz="1400" u="none" cap="none" strike="noStrike">
                <a:solidFill>
                  <a:srgbClr val="4CAF7D"/>
                </a:solidFill>
                <a:latin typeface="Calibri"/>
                <a:ea typeface="Calibri"/>
                <a:cs typeface="Calibri"/>
                <a:sym typeface="Calibri"/>
              </a:rPr>
              <a:t>Infrastruktur</a:t>
            </a:r>
            <a:endParaRPr b="0" i="0" sz="1400" u="none" cap="none" strike="noStrike">
              <a:solidFill>
                <a:schemeClr val="dk1"/>
              </a:solidFill>
              <a:latin typeface="Calibri"/>
              <a:ea typeface="Calibri"/>
              <a:cs typeface="Calibri"/>
              <a:sym typeface="Calibri"/>
            </a:endParaRPr>
          </a:p>
        </p:txBody>
      </p:sp>
      <p:sp>
        <p:nvSpPr>
          <p:cNvPr id="294" name="Google Shape;294;p23"/>
          <p:cNvSpPr/>
          <p:nvPr/>
        </p:nvSpPr>
        <p:spPr>
          <a:xfrm>
            <a:off x="6261354" y="1673352"/>
            <a:ext cx="2187702" cy="1097280"/>
          </a:xfrm>
          <a:prstGeom prst="rect">
            <a:avLst/>
          </a:prstGeom>
          <a:noFill/>
          <a:ln>
            <a:noFill/>
          </a:ln>
        </p:spPr>
        <p:txBody>
          <a:bodyPr anchorCtr="0" anchor="t" bIns="0" lIns="0" spcFirstLastPara="1" rIns="0" wrap="square" tIns="0">
            <a:noAutofit/>
          </a:bodyPr>
          <a:lstStyle/>
          <a:p>
            <a:pPr indent="-133350" lvl="0" marL="139700" marR="0" rtl="0" algn="l">
              <a:spcBef>
                <a:spcPts val="0"/>
              </a:spcBef>
              <a:spcAft>
                <a:spcPts val="0"/>
              </a:spcAft>
              <a:buClr>
                <a:srgbClr val="FFFFFF"/>
              </a:buClr>
              <a:buSzPts val="900"/>
              <a:buFont typeface="Calibri"/>
              <a:buChar char="•"/>
            </a:pPr>
            <a:r>
              <a:rPr b="0" i="0" lang="en" sz="900" u="none" cap="none" strike="noStrike">
                <a:solidFill>
                  <a:srgbClr val="FFFFFF"/>
                </a:solidFill>
                <a:latin typeface="Calibri"/>
                <a:ea typeface="Calibri"/>
                <a:cs typeface="Calibri"/>
                <a:sym typeface="Calibri"/>
              </a:rPr>
              <a:t>Railway (API + DB)</a:t>
            </a:r>
            <a:endParaRPr b="0" i="0" sz="900" u="none" cap="none" strike="noStrike">
              <a:solidFill>
                <a:schemeClr val="dk1"/>
              </a:solidFill>
              <a:latin typeface="Calibri"/>
              <a:ea typeface="Calibri"/>
              <a:cs typeface="Calibri"/>
              <a:sym typeface="Calibri"/>
            </a:endParaRPr>
          </a:p>
          <a:p>
            <a:pPr indent="-133350" lvl="0" marL="139700" marR="0" rtl="0" algn="l">
              <a:spcBef>
                <a:spcPts val="500"/>
              </a:spcBef>
              <a:spcAft>
                <a:spcPts val="0"/>
              </a:spcAft>
              <a:buClr>
                <a:srgbClr val="FFFFFF"/>
              </a:buClr>
              <a:buSzPts val="900"/>
              <a:buFont typeface="Calibri"/>
              <a:buChar char="•"/>
            </a:pPr>
            <a:r>
              <a:rPr b="0" i="0" lang="en" sz="900" u="none" cap="none" strike="noStrike">
                <a:solidFill>
                  <a:srgbClr val="FFFFFF"/>
                </a:solidFill>
                <a:latin typeface="Calibri"/>
                <a:ea typeface="Calibri"/>
                <a:cs typeface="Calibri"/>
                <a:sym typeface="Calibri"/>
              </a:rPr>
              <a:t>Vercel (frontend)</a:t>
            </a:r>
            <a:endParaRPr b="0" i="0" sz="900" u="none" cap="none" strike="noStrike">
              <a:solidFill>
                <a:schemeClr val="dk1"/>
              </a:solidFill>
              <a:latin typeface="Calibri"/>
              <a:ea typeface="Calibri"/>
              <a:cs typeface="Calibri"/>
              <a:sym typeface="Calibri"/>
            </a:endParaRPr>
          </a:p>
          <a:p>
            <a:pPr indent="-133350" lvl="0" marL="139700" marR="0" rtl="0" algn="l">
              <a:spcBef>
                <a:spcPts val="500"/>
              </a:spcBef>
              <a:spcAft>
                <a:spcPts val="0"/>
              </a:spcAft>
              <a:buClr>
                <a:srgbClr val="FFFFFF"/>
              </a:buClr>
              <a:buSzPts val="900"/>
              <a:buFont typeface="Calibri"/>
              <a:buChar char="•"/>
            </a:pPr>
            <a:r>
              <a:rPr b="0" i="0" lang="en" sz="900" u="none" cap="none" strike="noStrike">
                <a:solidFill>
                  <a:srgbClr val="FFFFFF"/>
                </a:solidFill>
                <a:latin typeface="Calibri"/>
                <a:ea typeface="Calibri"/>
                <a:cs typeface="Calibri"/>
                <a:sym typeface="Calibri"/>
              </a:rPr>
              <a:t>Docker Compose</a:t>
            </a:r>
            <a:endParaRPr b="0" i="0" sz="900" u="none" cap="none" strike="noStrike">
              <a:solidFill>
                <a:schemeClr val="dk1"/>
              </a:solidFill>
              <a:latin typeface="Calibri"/>
              <a:ea typeface="Calibri"/>
              <a:cs typeface="Calibri"/>
              <a:sym typeface="Calibri"/>
            </a:endParaRPr>
          </a:p>
          <a:p>
            <a:pPr indent="-133350" lvl="0" marL="139700" marR="0" rtl="0" algn="l">
              <a:spcBef>
                <a:spcPts val="500"/>
              </a:spcBef>
              <a:spcAft>
                <a:spcPts val="0"/>
              </a:spcAft>
              <a:buClr>
                <a:srgbClr val="FFFFFF"/>
              </a:buClr>
              <a:buSzPts val="900"/>
              <a:buFont typeface="Calibri"/>
              <a:buChar char="•"/>
            </a:pPr>
            <a:r>
              <a:rPr b="0" i="0" lang="en" sz="900" u="none" cap="none" strike="noStrike">
                <a:solidFill>
                  <a:srgbClr val="FFFFFF"/>
                </a:solidFill>
                <a:latin typeface="Calibri"/>
                <a:ea typeface="Calibri"/>
                <a:cs typeface="Calibri"/>
                <a:sym typeface="Calibri"/>
              </a:rPr>
              <a:t>Redis (cache)</a:t>
            </a:r>
            <a:endParaRPr b="0" i="0" sz="900" u="none" cap="none" strike="noStrike">
              <a:solidFill>
                <a:schemeClr val="dk1"/>
              </a:solidFill>
              <a:latin typeface="Calibri"/>
              <a:ea typeface="Calibri"/>
              <a:cs typeface="Calibri"/>
              <a:sym typeface="Calibri"/>
            </a:endParaRPr>
          </a:p>
          <a:p>
            <a:pPr indent="-133350" lvl="0" marL="139700" marR="0" rtl="0" algn="l">
              <a:spcBef>
                <a:spcPts val="500"/>
              </a:spcBef>
              <a:spcAft>
                <a:spcPts val="0"/>
              </a:spcAft>
              <a:buClr>
                <a:srgbClr val="FFFFFF"/>
              </a:buClr>
              <a:buSzPts val="900"/>
              <a:buFont typeface="Calibri"/>
              <a:buChar char="•"/>
            </a:pPr>
            <a:r>
              <a:rPr b="0" i="0" lang="en" sz="900" u="none" cap="none" strike="noStrike">
                <a:solidFill>
                  <a:srgbClr val="FFFFFF"/>
                </a:solidFill>
                <a:latin typeface="Calibri"/>
                <a:ea typeface="Calibri"/>
                <a:cs typeface="Calibri"/>
                <a:sym typeface="Calibri"/>
              </a:rPr>
              <a:t>GitHub Actions</a:t>
            </a:r>
            <a:endParaRPr b="0" i="0" sz="900" u="none" cap="none" strike="noStrike">
              <a:solidFill>
                <a:schemeClr val="dk1"/>
              </a:solidFill>
              <a:latin typeface="Calibri"/>
              <a:ea typeface="Calibri"/>
              <a:cs typeface="Calibri"/>
              <a:sym typeface="Calibri"/>
            </a:endParaRPr>
          </a:p>
        </p:txBody>
      </p:sp>
      <p:sp>
        <p:nvSpPr>
          <p:cNvPr id="295" name="Google Shape;295;p23"/>
          <p:cNvSpPr/>
          <p:nvPr/>
        </p:nvSpPr>
        <p:spPr>
          <a:xfrm>
            <a:off x="6261354" y="2846070"/>
            <a:ext cx="2187702" cy="8230"/>
          </a:xfrm>
          <a:prstGeom prst="rect">
            <a:avLst/>
          </a:prstGeom>
          <a:solidFill>
            <a:srgbClr val="4E3A3E"/>
          </a:solidFill>
          <a:ln cap="flat" cmpd="sng" w="12700">
            <a:solidFill>
              <a:srgbClr val="4E3A3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6" name="Google Shape;296;p23"/>
          <p:cNvSpPr/>
          <p:nvPr/>
        </p:nvSpPr>
        <p:spPr>
          <a:xfrm>
            <a:off x="6261354" y="2935224"/>
            <a:ext cx="2187702" cy="1783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CAF7D"/>
              </a:buClr>
              <a:buSzPts val="800"/>
              <a:buFont typeface="Calibri"/>
              <a:buNone/>
            </a:pPr>
            <a:r>
              <a:rPr b="1" i="0" lang="en" sz="800" u="none" cap="none" strike="noStrike">
                <a:solidFill>
                  <a:srgbClr val="4CAF7D"/>
                </a:solidFill>
                <a:latin typeface="Calibri"/>
                <a:ea typeface="Calibri"/>
                <a:cs typeface="Calibri"/>
                <a:sym typeface="Calibri"/>
              </a:rPr>
              <a:t>Kenapa</a:t>
            </a:r>
            <a:endParaRPr b="0" i="0" sz="800" u="none" cap="none" strike="noStrike">
              <a:solidFill>
                <a:schemeClr val="dk1"/>
              </a:solidFill>
              <a:latin typeface="Calibri"/>
              <a:ea typeface="Calibri"/>
              <a:cs typeface="Calibri"/>
              <a:sym typeface="Calibri"/>
            </a:endParaRPr>
          </a:p>
        </p:txBody>
      </p:sp>
      <p:sp>
        <p:nvSpPr>
          <p:cNvPr id="297" name="Google Shape;297;p23"/>
          <p:cNvSpPr/>
          <p:nvPr/>
        </p:nvSpPr>
        <p:spPr>
          <a:xfrm>
            <a:off x="6261354" y="3127248"/>
            <a:ext cx="2187702" cy="1028700"/>
          </a:xfrm>
          <a:prstGeom prst="rect">
            <a:avLst/>
          </a:prstGeom>
          <a:noFill/>
          <a:ln>
            <a:noFill/>
          </a:ln>
        </p:spPr>
        <p:txBody>
          <a:bodyPr anchorCtr="0" anchor="t" bIns="0" lIns="0" spcFirstLastPara="1" rIns="0" wrap="square" tIns="0">
            <a:noAutofit/>
          </a:bodyPr>
          <a:lstStyle/>
          <a:p>
            <a:pPr indent="0" lvl="0" marL="0" marR="0" rtl="0" algn="l">
              <a:lnSpc>
                <a:spcPct val="130434"/>
              </a:lnSpc>
              <a:spcBef>
                <a:spcPts val="0"/>
              </a:spcBef>
              <a:spcAft>
                <a:spcPts val="0"/>
              </a:spcAft>
              <a:buClr>
                <a:srgbClr val="C4B2B6"/>
              </a:buClr>
              <a:buSzPts val="900"/>
              <a:buFont typeface="Calibri"/>
              <a:buNone/>
            </a:pPr>
            <a:r>
              <a:rPr b="0" i="0" lang="en" sz="900" u="none" cap="none" strike="noStrike">
                <a:solidFill>
                  <a:srgbClr val="C4B2B6"/>
                </a:solidFill>
                <a:latin typeface="Calibri"/>
                <a:ea typeface="Calibri"/>
                <a:cs typeface="Calibri"/>
                <a:sym typeface="Calibri"/>
              </a:rPr>
              <a:t>Docker Compose membuat lingkungan lokal identik dengan production, sehingga bug 'jalan di laptop saya' tidak terbawa ke tahap deployment.</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214"/>
        </a:solidFill>
      </p:bgPr>
    </p:bg>
    <p:spTree>
      <p:nvGrpSpPr>
        <p:cNvPr id="302" name="Shape 302"/>
        <p:cNvGrpSpPr/>
        <p:nvPr/>
      </p:nvGrpSpPr>
      <p:grpSpPr>
        <a:xfrm>
          <a:off x="0" y="0"/>
          <a:ext cx="0" cy="0"/>
          <a:chOff x="0" y="0"/>
          <a:chExt cx="0" cy="0"/>
        </a:xfrm>
      </p:grpSpPr>
      <p:sp>
        <p:nvSpPr>
          <p:cNvPr id="303" name="Google Shape;303;p24"/>
          <p:cNvSpPr/>
          <p:nvPr/>
        </p:nvSpPr>
        <p:spPr>
          <a:xfrm>
            <a:off x="445770" y="288036"/>
            <a:ext cx="822960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4D"/>
              </a:buClr>
              <a:buSzPts val="800"/>
              <a:buFont typeface="Calibri"/>
              <a:buNone/>
            </a:pPr>
            <a:r>
              <a:rPr b="1" i="0" lang="en" sz="800" u="none" cap="none" strike="noStrike">
                <a:solidFill>
                  <a:srgbClr val="FFB84D"/>
                </a:solidFill>
                <a:latin typeface="Calibri"/>
                <a:ea typeface="Calibri"/>
                <a:cs typeface="Calibri"/>
                <a:sym typeface="Calibri"/>
              </a:rPr>
              <a:t>TECHNICAL DEPTH</a:t>
            </a:r>
            <a:endParaRPr b="0" i="0" sz="800" u="none" cap="none" strike="noStrike">
              <a:solidFill>
                <a:schemeClr val="dk1"/>
              </a:solidFill>
              <a:latin typeface="Calibri"/>
              <a:ea typeface="Calibri"/>
              <a:cs typeface="Calibri"/>
              <a:sym typeface="Calibri"/>
            </a:endParaRPr>
          </a:p>
        </p:txBody>
      </p:sp>
      <p:sp>
        <p:nvSpPr>
          <p:cNvPr id="304" name="Google Shape;304;p24"/>
          <p:cNvSpPr/>
          <p:nvPr/>
        </p:nvSpPr>
        <p:spPr>
          <a:xfrm>
            <a:off x="445770" y="493776"/>
            <a:ext cx="8229600" cy="4251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300"/>
              <a:buFont typeface="Calibri"/>
              <a:buNone/>
            </a:pPr>
            <a:r>
              <a:rPr b="1" i="0" lang="en" sz="2300" u="none" cap="none" strike="noStrike">
                <a:solidFill>
                  <a:srgbClr val="FFFFFF"/>
                </a:solidFill>
                <a:latin typeface="Calibri"/>
                <a:ea typeface="Calibri"/>
                <a:cs typeface="Calibri"/>
                <a:sym typeface="Calibri"/>
              </a:rPr>
              <a:t>System Architecture</a:t>
            </a:r>
            <a:endParaRPr b="0" i="0" sz="2300" u="none" cap="none" strike="noStrike">
              <a:solidFill>
                <a:schemeClr val="dk1"/>
              </a:solidFill>
              <a:latin typeface="Calibri"/>
              <a:ea typeface="Calibri"/>
              <a:cs typeface="Calibri"/>
              <a:sym typeface="Calibri"/>
            </a:endParaRPr>
          </a:p>
        </p:txBody>
      </p:sp>
      <p:sp>
        <p:nvSpPr>
          <p:cNvPr id="305" name="Google Shape;305;p24"/>
          <p:cNvSpPr/>
          <p:nvPr/>
        </p:nvSpPr>
        <p:spPr>
          <a:xfrm>
            <a:off x="1062990" y="1234440"/>
            <a:ext cx="6995160" cy="651510"/>
          </a:xfrm>
          <a:prstGeom prst="roundRect">
            <a:avLst>
              <a:gd fmla="val 10526" name="adj"/>
            </a:avLst>
          </a:prstGeom>
          <a:solidFill>
            <a:srgbClr val="2B1F22"/>
          </a:solidFill>
          <a:ln cap="flat" cmpd="sng" w="12700">
            <a:solidFill>
              <a:srgbClr val="2B1F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6" name="Google Shape;306;p24"/>
          <p:cNvSpPr/>
          <p:nvPr/>
        </p:nvSpPr>
        <p:spPr>
          <a:xfrm>
            <a:off x="1268730" y="1498473"/>
            <a:ext cx="123444" cy="123444"/>
          </a:xfrm>
          <a:prstGeom prst="ellipse">
            <a:avLst/>
          </a:prstGeom>
          <a:solidFill>
            <a:srgbClr val="F5533D"/>
          </a:solidFill>
          <a:ln cap="flat" cmpd="sng" w="12700">
            <a:solidFill>
              <a:srgbClr val="F5533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7" name="Google Shape;307;p24"/>
          <p:cNvSpPr/>
          <p:nvPr/>
        </p:nvSpPr>
        <p:spPr>
          <a:xfrm>
            <a:off x="1508760" y="1357884"/>
            <a:ext cx="2948940"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Client — React 19 + Vite</a:t>
            </a:r>
            <a:endParaRPr b="0" i="0" sz="1100" u="none" cap="none" strike="noStrike">
              <a:solidFill>
                <a:schemeClr val="dk1"/>
              </a:solidFill>
              <a:latin typeface="Calibri"/>
              <a:ea typeface="Calibri"/>
              <a:cs typeface="Calibri"/>
              <a:sym typeface="Calibri"/>
            </a:endParaRPr>
          </a:p>
        </p:txBody>
      </p:sp>
      <p:sp>
        <p:nvSpPr>
          <p:cNvPr id="308" name="Google Shape;308;p24"/>
          <p:cNvSpPr/>
          <p:nvPr/>
        </p:nvSpPr>
        <p:spPr>
          <a:xfrm>
            <a:off x="1508760" y="1591056"/>
            <a:ext cx="637794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B2B6"/>
              </a:buClr>
              <a:buSzPts val="900"/>
              <a:buFont typeface="Calibri"/>
              <a:buNone/>
            </a:pPr>
            <a:r>
              <a:rPr b="0" i="0" lang="en" sz="900" u="none" cap="none" strike="noStrike">
                <a:solidFill>
                  <a:srgbClr val="C4B2B6"/>
                </a:solidFill>
                <a:latin typeface="Calibri"/>
                <a:ea typeface="Calibri"/>
                <a:cs typeface="Calibri"/>
                <a:sym typeface="Calibri"/>
              </a:rPr>
              <a:t>Katalog &amp; keranjang, halaman antrean dengan polling, admin panel dengan route guard</a:t>
            </a:r>
            <a:endParaRPr b="0" i="0" sz="900" u="none" cap="none" strike="noStrike">
              <a:solidFill>
                <a:schemeClr val="dk1"/>
              </a:solidFill>
              <a:latin typeface="Calibri"/>
              <a:ea typeface="Calibri"/>
              <a:cs typeface="Calibri"/>
              <a:sym typeface="Calibri"/>
            </a:endParaRPr>
          </a:p>
        </p:txBody>
      </p:sp>
      <p:sp>
        <p:nvSpPr>
          <p:cNvPr id="309" name="Google Shape;309;p24"/>
          <p:cNvSpPr/>
          <p:nvPr/>
        </p:nvSpPr>
        <p:spPr>
          <a:xfrm>
            <a:off x="4539996" y="1927098"/>
            <a:ext cx="17145" cy="137160"/>
          </a:xfrm>
          <a:prstGeom prst="rect">
            <a:avLst/>
          </a:prstGeom>
          <a:solidFill>
            <a:srgbClr val="8A7278"/>
          </a:solidFill>
          <a:ln cap="flat" cmpd="sng" w="12700">
            <a:solidFill>
              <a:srgbClr val="8A727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0" name="Google Shape;310;p24"/>
          <p:cNvSpPr/>
          <p:nvPr/>
        </p:nvSpPr>
        <p:spPr>
          <a:xfrm>
            <a:off x="1062990" y="2105406"/>
            <a:ext cx="6995160" cy="788670"/>
          </a:xfrm>
          <a:prstGeom prst="roundRect">
            <a:avLst>
              <a:gd fmla="val 8696" name="adj"/>
            </a:avLst>
          </a:prstGeom>
          <a:solidFill>
            <a:srgbClr val="3A2A2E"/>
          </a:solidFill>
          <a:ln cap="flat" cmpd="sng" w="12700">
            <a:solidFill>
              <a:srgbClr val="3A2A2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1" name="Google Shape;311;p24"/>
          <p:cNvSpPr/>
          <p:nvPr/>
        </p:nvSpPr>
        <p:spPr>
          <a:xfrm>
            <a:off x="1268730" y="2438019"/>
            <a:ext cx="123444" cy="123444"/>
          </a:xfrm>
          <a:prstGeom prst="ellipse">
            <a:avLst/>
          </a:prstGeom>
          <a:solidFill>
            <a:srgbClr val="FFB84D"/>
          </a:solidFill>
          <a:ln cap="flat" cmpd="sng" w="12700">
            <a:solidFill>
              <a:srgbClr val="FFB84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2" name="Google Shape;312;p24"/>
          <p:cNvSpPr/>
          <p:nvPr/>
        </p:nvSpPr>
        <p:spPr>
          <a:xfrm>
            <a:off x="1508760" y="2228850"/>
            <a:ext cx="2948940"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API Layer —</a:t>
            </a:r>
            <a:r>
              <a:rPr b="1" lang="en" sz="1100">
                <a:solidFill>
                  <a:srgbClr val="FFFFFF"/>
                </a:solidFill>
                <a:latin typeface="Calibri"/>
                <a:ea typeface="Calibri"/>
                <a:cs typeface="Calibri"/>
                <a:sym typeface="Calibri"/>
              </a:rPr>
              <a:t> Springboot</a:t>
            </a:r>
            <a:endParaRPr b="0" i="0" sz="1100" u="none" cap="none" strike="noStrike">
              <a:solidFill>
                <a:schemeClr val="dk1"/>
              </a:solidFill>
              <a:latin typeface="Calibri"/>
              <a:ea typeface="Calibri"/>
              <a:cs typeface="Calibri"/>
              <a:sym typeface="Calibri"/>
            </a:endParaRPr>
          </a:p>
        </p:txBody>
      </p:sp>
      <p:sp>
        <p:nvSpPr>
          <p:cNvPr id="313" name="Google Shape;313;p24"/>
          <p:cNvSpPr/>
          <p:nvPr/>
        </p:nvSpPr>
        <p:spPr>
          <a:xfrm>
            <a:off x="1508760" y="2462022"/>
            <a:ext cx="637794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B2B6"/>
              </a:buClr>
              <a:buSzPts val="900"/>
              <a:buFont typeface="Calibri"/>
              <a:buNone/>
            </a:pPr>
            <a:r>
              <a:rPr lang="en" sz="900">
                <a:solidFill>
                  <a:schemeClr val="lt2"/>
                </a:solidFill>
                <a:latin typeface="Calibri"/>
                <a:ea typeface="Calibri"/>
                <a:cs typeface="Calibri"/>
                <a:sym typeface="Calibri"/>
              </a:rPr>
              <a:t>Spring Security Filter Chain → Security Annotation (@PreAuthorize) → Rate Limit Filter (Bucket4j)  ·  RestController → Request DTO (@Valid) → Service → Response DTO</a:t>
            </a:r>
            <a:endParaRPr b="0" i="0" sz="900" u="none" cap="none" strike="noStrike">
              <a:solidFill>
                <a:schemeClr val="lt2"/>
              </a:solidFill>
              <a:latin typeface="Calibri"/>
              <a:ea typeface="Calibri"/>
              <a:cs typeface="Calibri"/>
              <a:sym typeface="Calibri"/>
            </a:endParaRPr>
          </a:p>
        </p:txBody>
      </p:sp>
      <p:sp>
        <p:nvSpPr>
          <p:cNvPr id="314" name="Google Shape;314;p24"/>
          <p:cNvSpPr/>
          <p:nvPr/>
        </p:nvSpPr>
        <p:spPr>
          <a:xfrm>
            <a:off x="4539996" y="2935224"/>
            <a:ext cx="17145" cy="137160"/>
          </a:xfrm>
          <a:prstGeom prst="rect">
            <a:avLst/>
          </a:prstGeom>
          <a:solidFill>
            <a:srgbClr val="8A7278"/>
          </a:solidFill>
          <a:ln cap="flat" cmpd="sng" w="12700">
            <a:solidFill>
              <a:srgbClr val="8A727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5" name="Google Shape;315;p24"/>
          <p:cNvSpPr/>
          <p:nvPr/>
        </p:nvSpPr>
        <p:spPr>
          <a:xfrm>
            <a:off x="1062990" y="3113532"/>
            <a:ext cx="6995160" cy="651510"/>
          </a:xfrm>
          <a:prstGeom prst="roundRect">
            <a:avLst>
              <a:gd fmla="val 10526" name="adj"/>
            </a:avLst>
          </a:prstGeom>
          <a:solidFill>
            <a:srgbClr val="3A2A2E"/>
          </a:solidFill>
          <a:ln cap="flat" cmpd="sng" w="12700">
            <a:solidFill>
              <a:srgbClr val="3A2A2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6" name="Google Shape;316;p24"/>
          <p:cNvSpPr/>
          <p:nvPr/>
        </p:nvSpPr>
        <p:spPr>
          <a:xfrm>
            <a:off x="1268730" y="3377565"/>
            <a:ext cx="123444" cy="123444"/>
          </a:xfrm>
          <a:prstGeom prst="ellipse">
            <a:avLst/>
          </a:prstGeom>
          <a:solidFill>
            <a:srgbClr val="FFB84D"/>
          </a:solidFill>
          <a:ln cap="flat" cmpd="sng" w="12700">
            <a:solidFill>
              <a:srgbClr val="FFB84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7" name="Google Shape;317;p24"/>
          <p:cNvSpPr/>
          <p:nvPr/>
        </p:nvSpPr>
        <p:spPr>
          <a:xfrm>
            <a:off x="1508760" y="3236976"/>
            <a:ext cx="2948940"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Business Logic — Service Layer</a:t>
            </a:r>
            <a:endParaRPr b="0" i="0" sz="1100" u="none" cap="none" strike="noStrike">
              <a:solidFill>
                <a:schemeClr val="dk1"/>
              </a:solidFill>
              <a:latin typeface="Calibri"/>
              <a:ea typeface="Calibri"/>
              <a:cs typeface="Calibri"/>
              <a:sym typeface="Calibri"/>
            </a:endParaRPr>
          </a:p>
        </p:txBody>
      </p:sp>
      <p:sp>
        <p:nvSpPr>
          <p:cNvPr id="318" name="Google Shape;318;p24"/>
          <p:cNvSpPr/>
          <p:nvPr/>
        </p:nvSpPr>
        <p:spPr>
          <a:xfrm>
            <a:off x="1508760" y="3470148"/>
            <a:ext cx="637794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B2B6"/>
              </a:buClr>
              <a:buSzPts val="900"/>
              <a:buFont typeface="Calibri"/>
              <a:buNone/>
            </a:pPr>
            <a:r>
              <a:rPr b="0" i="0" lang="en" sz="900" u="none" cap="none" strike="noStrike">
                <a:solidFill>
                  <a:srgbClr val="C4B2B6"/>
                </a:solidFill>
                <a:latin typeface="Calibri"/>
                <a:ea typeface="Calibri"/>
                <a:cs typeface="Calibri"/>
                <a:sym typeface="Calibri"/>
              </a:rPr>
              <a:t>OrderService  ·  StockService  ·  QueueService  ·  ReportService</a:t>
            </a:r>
            <a:endParaRPr b="0" i="0" sz="900" u="none" cap="none" strike="noStrike">
              <a:solidFill>
                <a:schemeClr val="dk1"/>
              </a:solidFill>
              <a:latin typeface="Calibri"/>
              <a:ea typeface="Calibri"/>
              <a:cs typeface="Calibri"/>
              <a:sym typeface="Calibri"/>
            </a:endParaRPr>
          </a:p>
        </p:txBody>
      </p:sp>
      <p:sp>
        <p:nvSpPr>
          <p:cNvPr id="319" name="Google Shape;319;p24"/>
          <p:cNvSpPr/>
          <p:nvPr/>
        </p:nvSpPr>
        <p:spPr>
          <a:xfrm>
            <a:off x="4539996" y="3806190"/>
            <a:ext cx="17145" cy="137160"/>
          </a:xfrm>
          <a:prstGeom prst="rect">
            <a:avLst/>
          </a:prstGeom>
          <a:solidFill>
            <a:srgbClr val="8A7278"/>
          </a:solidFill>
          <a:ln cap="flat" cmpd="sng" w="12700">
            <a:solidFill>
              <a:srgbClr val="8A7278"/>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20" name="Google Shape;320;p24"/>
          <p:cNvSpPr/>
          <p:nvPr/>
        </p:nvSpPr>
        <p:spPr>
          <a:xfrm>
            <a:off x="1062990" y="3984498"/>
            <a:ext cx="6995160" cy="651510"/>
          </a:xfrm>
          <a:prstGeom prst="roundRect">
            <a:avLst>
              <a:gd fmla="val 10526" name="adj"/>
            </a:avLst>
          </a:prstGeom>
          <a:solidFill>
            <a:srgbClr val="2B1F22"/>
          </a:solidFill>
          <a:ln cap="flat" cmpd="sng" w="12700">
            <a:solidFill>
              <a:srgbClr val="2B1F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21" name="Google Shape;321;p24"/>
          <p:cNvSpPr/>
          <p:nvPr/>
        </p:nvSpPr>
        <p:spPr>
          <a:xfrm>
            <a:off x="1268730" y="4248531"/>
            <a:ext cx="123444" cy="123444"/>
          </a:xfrm>
          <a:prstGeom prst="ellipse">
            <a:avLst/>
          </a:prstGeom>
          <a:solidFill>
            <a:srgbClr val="4CAF7D"/>
          </a:solidFill>
          <a:ln cap="flat" cmpd="sng" w="12700">
            <a:solidFill>
              <a:srgbClr val="4CAF7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22" name="Google Shape;322;p24"/>
          <p:cNvSpPr/>
          <p:nvPr/>
        </p:nvSpPr>
        <p:spPr>
          <a:xfrm>
            <a:off x="1508760" y="4107942"/>
            <a:ext cx="2948940"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Data — MySQL 8 + Redis</a:t>
            </a:r>
            <a:endParaRPr b="0" i="0" sz="1100" u="none" cap="none" strike="noStrike">
              <a:solidFill>
                <a:schemeClr val="dk1"/>
              </a:solidFill>
              <a:latin typeface="Calibri"/>
              <a:ea typeface="Calibri"/>
              <a:cs typeface="Calibri"/>
              <a:sym typeface="Calibri"/>
            </a:endParaRPr>
          </a:p>
        </p:txBody>
      </p:sp>
      <p:sp>
        <p:nvSpPr>
          <p:cNvPr id="323" name="Google Shape;323;p24"/>
          <p:cNvSpPr/>
          <p:nvPr/>
        </p:nvSpPr>
        <p:spPr>
          <a:xfrm>
            <a:off x="1508760" y="4341114"/>
            <a:ext cx="6377940" cy="34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B2B6"/>
              </a:buClr>
              <a:buSzPts val="900"/>
              <a:buFont typeface="Calibri"/>
              <a:buNone/>
            </a:pPr>
            <a:r>
              <a:rPr b="0" i="0" lang="en" sz="900" u="none" cap="none" strike="noStrike">
                <a:solidFill>
                  <a:srgbClr val="C4B2B6"/>
                </a:solidFill>
                <a:latin typeface="Calibri"/>
                <a:ea typeface="Calibri"/>
                <a:cs typeface="Calibri"/>
                <a:sym typeface="Calibri"/>
              </a:rPr>
              <a:t>Transaksi dengan lockForUpdate saat checkout  ·  Cache katalog &amp; laporan</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214"/>
        </a:solidFill>
      </p:bgPr>
    </p:bg>
    <p:spTree>
      <p:nvGrpSpPr>
        <p:cNvPr id="328" name="Shape 328"/>
        <p:cNvGrpSpPr/>
        <p:nvPr/>
      </p:nvGrpSpPr>
      <p:grpSpPr>
        <a:xfrm>
          <a:off x="0" y="0"/>
          <a:ext cx="0" cy="0"/>
          <a:chOff x="0" y="0"/>
          <a:chExt cx="0" cy="0"/>
        </a:xfrm>
      </p:grpSpPr>
      <p:sp>
        <p:nvSpPr>
          <p:cNvPr id="329" name="Google Shape;329;p25"/>
          <p:cNvSpPr/>
          <p:nvPr/>
        </p:nvSpPr>
        <p:spPr>
          <a:xfrm>
            <a:off x="445770" y="288036"/>
            <a:ext cx="822960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4D"/>
              </a:buClr>
              <a:buSzPts val="800"/>
              <a:buFont typeface="Calibri"/>
              <a:buNone/>
            </a:pPr>
            <a:r>
              <a:rPr b="1" i="0" lang="en" sz="800" u="none" cap="none" strike="noStrike">
                <a:solidFill>
                  <a:srgbClr val="FFB84D"/>
                </a:solidFill>
                <a:latin typeface="Calibri"/>
                <a:ea typeface="Calibri"/>
                <a:cs typeface="Calibri"/>
                <a:sym typeface="Calibri"/>
              </a:rPr>
              <a:t>TECHNICAL DEPTH</a:t>
            </a:r>
            <a:endParaRPr b="0" i="0" sz="800" u="none" cap="none" strike="noStrike">
              <a:solidFill>
                <a:schemeClr val="dk1"/>
              </a:solidFill>
              <a:latin typeface="Calibri"/>
              <a:ea typeface="Calibri"/>
              <a:cs typeface="Calibri"/>
              <a:sym typeface="Calibri"/>
            </a:endParaRPr>
          </a:p>
        </p:txBody>
      </p:sp>
      <p:sp>
        <p:nvSpPr>
          <p:cNvPr id="330" name="Google Shape;330;p25"/>
          <p:cNvSpPr/>
          <p:nvPr/>
        </p:nvSpPr>
        <p:spPr>
          <a:xfrm>
            <a:off x="445770" y="493776"/>
            <a:ext cx="8229600" cy="4251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300"/>
              <a:buFont typeface="Calibri"/>
              <a:buNone/>
            </a:pPr>
            <a:r>
              <a:rPr b="1" i="0" lang="en" sz="2300" u="none" cap="none" strike="noStrike">
                <a:solidFill>
                  <a:srgbClr val="FFFFFF"/>
                </a:solidFill>
                <a:latin typeface="Calibri"/>
                <a:ea typeface="Calibri"/>
                <a:cs typeface="Calibri"/>
                <a:sym typeface="Calibri"/>
              </a:rPr>
              <a:t>Database Design</a:t>
            </a:r>
            <a:endParaRPr b="0" i="0" sz="2300" u="none" cap="none" strike="noStrike">
              <a:solidFill>
                <a:schemeClr val="dk1"/>
              </a:solidFill>
              <a:latin typeface="Calibri"/>
              <a:ea typeface="Calibri"/>
              <a:cs typeface="Calibri"/>
              <a:sym typeface="Calibri"/>
            </a:endParaRPr>
          </a:p>
        </p:txBody>
      </p:sp>
      <p:sp>
        <p:nvSpPr>
          <p:cNvPr id="331" name="Google Shape;331;p25"/>
          <p:cNvSpPr/>
          <p:nvPr/>
        </p:nvSpPr>
        <p:spPr>
          <a:xfrm>
            <a:off x="445775" y="1200150"/>
            <a:ext cx="4786800" cy="3086100"/>
          </a:xfrm>
          <a:prstGeom prst="roundRect">
            <a:avLst>
              <a:gd fmla="val 2222" name="adj"/>
            </a:avLst>
          </a:prstGeom>
          <a:solidFill>
            <a:srgbClr val="3A2A2E"/>
          </a:solidFill>
          <a:ln cap="flat" cmpd="sng" w="12700">
            <a:solidFill>
              <a:srgbClr val="3A2A2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2" name="Google Shape;332;p25"/>
          <p:cNvSpPr/>
          <p:nvPr/>
        </p:nvSpPr>
        <p:spPr>
          <a:xfrm>
            <a:off x="5795010" y="1220724"/>
            <a:ext cx="2880360" cy="24003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10 tabel inti</a:t>
            </a:r>
            <a:endParaRPr b="0" i="0" sz="1200" u="none" cap="none" strike="noStrike">
              <a:solidFill>
                <a:schemeClr val="dk1"/>
              </a:solidFill>
              <a:latin typeface="Calibri"/>
              <a:ea typeface="Calibri"/>
              <a:cs typeface="Calibri"/>
              <a:sym typeface="Calibri"/>
            </a:endParaRPr>
          </a:p>
        </p:txBody>
      </p:sp>
      <p:sp>
        <p:nvSpPr>
          <p:cNvPr id="333" name="Google Shape;333;p25"/>
          <p:cNvSpPr/>
          <p:nvPr/>
        </p:nvSpPr>
        <p:spPr>
          <a:xfrm>
            <a:off x="5795010" y="1508760"/>
            <a:ext cx="2880360" cy="1028700"/>
          </a:xfrm>
          <a:prstGeom prst="rect">
            <a:avLst/>
          </a:prstGeom>
          <a:noFill/>
          <a:ln>
            <a:noFill/>
          </a:ln>
        </p:spPr>
        <p:txBody>
          <a:bodyPr anchorCtr="0" anchor="t" bIns="0" lIns="0" spcFirstLastPara="1" rIns="0" wrap="square" tIns="0">
            <a:noAutofit/>
          </a:bodyPr>
          <a:lstStyle/>
          <a:p>
            <a:pPr indent="-146050" lvl="0" marL="139700" marR="0" rtl="0" algn="l">
              <a:spcBef>
                <a:spcPts val="0"/>
              </a:spcBef>
              <a:spcAft>
                <a:spcPts val="0"/>
              </a:spcAft>
              <a:buClr>
                <a:srgbClr val="C4B2B6"/>
              </a:buClr>
              <a:buSzPts val="900"/>
              <a:buFont typeface="Calibri"/>
              <a:buChar char="•"/>
            </a:pPr>
            <a:r>
              <a:rPr b="0" i="0" lang="en" sz="900" u="none" cap="none" strike="noStrike">
                <a:solidFill>
                  <a:srgbClr val="C4B2B6"/>
                </a:solidFill>
                <a:latin typeface="Calibri"/>
                <a:ea typeface="Calibri"/>
                <a:cs typeface="Calibri"/>
                <a:sym typeface="Calibri"/>
              </a:rPr>
              <a:t>users  ·  categories  ·  products</a:t>
            </a:r>
            <a:endParaRPr b="0" i="0" sz="900" u="none" cap="none" strike="noStrike">
              <a:solidFill>
                <a:schemeClr val="dk1"/>
              </a:solidFill>
              <a:latin typeface="Calibri"/>
              <a:ea typeface="Calibri"/>
              <a:cs typeface="Calibri"/>
              <a:sym typeface="Calibri"/>
            </a:endParaRPr>
          </a:p>
          <a:p>
            <a:pPr indent="-146050" lvl="0" marL="139700" marR="0" rtl="0" algn="l">
              <a:spcBef>
                <a:spcPts val="500"/>
              </a:spcBef>
              <a:spcAft>
                <a:spcPts val="0"/>
              </a:spcAft>
              <a:buClr>
                <a:srgbClr val="C4B2B6"/>
              </a:buClr>
              <a:buSzPts val="900"/>
              <a:buFont typeface="Calibri"/>
              <a:buChar char="•"/>
            </a:pPr>
            <a:r>
              <a:rPr b="0" i="0" lang="en" sz="900" u="none" cap="none" strike="noStrike">
                <a:solidFill>
                  <a:srgbClr val="C4B2B6"/>
                </a:solidFill>
                <a:latin typeface="Calibri"/>
                <a:ea typeface="Calibri"/>
                <a:cs typeface="Calibri"/>
                <a:sym typeface="Calibri"/>
              </a:rPr>
              <a:t>product_variants</a:t>
            </a:r>
            <a:endParaRPr b="0" i="0" sz="900" u="none" cap="none" strike="noStrike">
              <a:solidFill>
                <a:schemeClr val="dk1"/>
              </a:solidFill>
              <a:latin typeface="Calibri"/>
              <a:ea typeface="Calibri"/>
              <a:cs typeface="Calibri"/>
              <a:sym typeface="Calibri"/>
            </a:endParaRPr>
          </a:p>
          <a:p>
            <a:pPr indent="-146050" lvl="0" marL="139700" marR="0" rtl="0" algn="l">
              <a:spcBef>
                <a:spcPts val="500"/>
              </a:spcBef>
              <a:spcAft>
                <a:spcPts val="0"/>
              </a:spcAft>
              <a:buClr>
                <a:srgbClr val="C4B2B6"/>
              </a:buClr>
              <a:buSzPts val="900"/>
              <a:buFont typeface="Calibri"/>
              <a:buChar char="•"/>
            </a:pPr>
            <a:r>
              <a:rPr b="0" i="0" lang="en" sz="900" u="none" cap="none" strike="noStrike">
                <a:solidFill>
                  <a:srgbClr val="C4B2B6"/>
                </a:solidFill>
                <a:latin typeface="Calibri"/>
                <a:ea typeface="Calibri"/>
                <a:cs typeface="Calibri"/>
                <a:sym typeface="Calibri"/>
              </a:rPr>
              <a:t>orders  ·  order_items  ·  payments</a:t>
            </a:r>
            <a:endParaRPr b="0" i="0" sz="900" u="none" cap="none" strike="noStrike">
              <a:solidFill>
                <a:schemeClr val="dk1"/>
              </a:solidFill>
              <a:latin typeface="Calibri"/>
              <a:ea typeface="Calibri"/>
              <a:cs typeface="Calibri"/>
              <a:sym typeface="Calibri"/>
            </a:endParaRPr>
          </a:p>
          <a:p>
            <a:pPr indent="-146050" lvl="0" marL="139700" marR="0" rtl="0" algn="l">
              <a:spcBef>
                <a:spcPts val="500"/>
              </a:spcBef>
              <a:spcAft>
                <a:spcPts val="0"/>
              </a:spcAft>
              <a:buClr>
                <a:srgbClr val="C4B2B6"/>
              </a:buClr>
              <a:buSzPts val="900"/>
              <a:buFont typeface="Calibri"/>
              <a:buChar char="•"/>
            </a:pPr>
            <a:r>
              <a:rPr b="0" i="0" lang="en" sz="900" u="none" cap="none" strike="noStrike">
                <a:solidFill>
                  <a:srgbClr val="C4B2B6"/>
                </a:solidFill>
                <a:latin typeface="Calibri"/>
                <a:ea typeface="Calibri"/>
                <a:cs typeface="Calibri"/>
                <a:sym typeface="Calibri"/>
              </a:rPr>
              <a:t>order_status_logs  ·  stock_movements</a:t>
            </a:r>
            <a:endParaRPr b="0" i="0" sz="900" u="none" cap="none" strike="noStrike">
              <a:solidFill>
                <a:schemeClr val="dk1"/>
              </a:solidFill>
              <a:latin typeface="Calibri"/>
              <a:ea typeface="Calibri"/>
              <a:cs typeface="Calibri"/>
              <a:sym typeface="Calibri"/>
            </a:endParaRPr>
          </a:p>
          <a:p>
            <a:pPr indent="-146050" lvl="0" marL="139700" marR="0" rtl="0" algn="l">
              <a:spcBef>
                <a:spcPts val="500"/>
              </a:spcBef>
              <a:spcAft>
                <a:spcPts val="0"/>
              </a:spcAft>
              <a:buClr>
                <a:srgbClr val="C4B2B6"/>
              </a:buClr>
              <a:buSzPts val="900"/>
              <a:buFont typeface="Calibri"/>
              <a:buChar char="•"/>
            </a:pPr>
            <a:r>
              <a:rPr b="0" i="0" lang="en" sz="900" u="none" cap="none" strike="noStrike">
                <a:solidFill>
                  <a:srgbClr val="C4B2B6"/>
                </a:solidFill>
                <a:latin typeface="Calibri"/>
                <a:ea typeface="Calibri"/>
                <a:cs typeface="Calibri"/>
                <a:sym typeface="Calibri"/>
              </a:rPr>
              <a:t>store_settings</a:t>
            </a:r>
            <a:endParaRPr b="0" i="0" sz="900" u="none" cap="none" strike="noStrike">
              <a:solidFill>
                <a:schemeClr val="dk1"/>
              </a:solidFill>
              <a:latin typeface="Calibri"/>
              <a:ea typeface="Calibri"/>
              <a:cs typeface="Calibri"/>
              <a:sym typeface="Calibri"/>
            </a:endParaRPr>
          </a:p>
        </p:txBody>
      </p:sp>
      <p:sp>
        <p:nvSpPr>
          <p:cNvPr id="334" name="Google Shape;334;p25"/>
          <p:cNvSpPr/>
          <p:nvPr/>
        </p:nvSpPr>
        <p:spPr>
          <a:xfrm>
            <a:off x="5795010" y="2708910"/>
            <a:ext cx="28803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Keputusan desain</a:t>
            </a:r>
            <a:endParaRPr b="0" i="0" sz="1200" u="none" cap="none" strike="noStrike">
              <a:solidFill>
                <a:schemeClr val="dk1"/>
              </a:solidFill>
              <a:latin typeface="Calibri"/>
              <a:ea typeface="Calibri"/>
              <a:cs typeface="Calibri"/>
              <a:sym typeface="Calibri"/>
            </a:endParaRPr>
          </a:p>
        </p:txBody>
      </p:sp>
      <p:sp>
        <p:nvSpPr>
          <p:cNvPr id="335" name="Google Shape;335;p25"/>
          <p:cNvSpPr/>
          <p:nvPr/>
        </p:nvSpPr>
        <p:spPr>
          <a:xfrm>
            <a:off x="5795010" y="2983230"/>
            <a:ext cx="2880360" cy="1303020"/>
          </a:xfrm>
          <a:prstGeom prst="rect">
            <a:avLst/>
          </a:prstGeom>
          <a:noFill/>
          <a:ln>
            <a:noFill/>
          </a:ln>
        </p:spPr>
        <p:txBody>
          <a:bodyPr anchorCtr="0" anchor="t" bIns="0" lIns="0" spcFirstLastPara="1" rIns="0" wrap="square" tIns="0">
            <a:noAutofit/>
          </a:bodyPr>
          <a:lstStyle/>
          <a:p>
            <a:pPr indent="-139700" lvl="0" marL="139700" marR="0" rtl="0" algn="l">
              <a:spcBef>
                <a:spcPts val="0"/>
              </a:spcBef>
              <a:spcAft>
                <a:spcPts val="0"/>
              </a:spcAft>
              <a:buClr>
                <a:srgbClr val="C4B2B6"/>
              </a:buClr>
              <a:buSzPts val="800"/>
              <a:buFont typeface="Calibri"/>
              <a:buChar char="•"/>
            </a:pPr>
            <a:r>
              <a:rPr b="0" i="0" lang="en" sz="800" u="none" cap="none" strike="noStrike">
                <a:solidFill>
                  <a:srgbClr val="C4B2B6"/>
                </a:solidFill>
                <a:latin typeface="Calibri"/>
                <a:ea typeface="Calibri"/>
                <a:cs typeface="Calibri"/>
                <a:sym typeface="Calibri"/>
              </a:rPr>
              <a:t>order_items menyimpan nama &amp; harga sebagai snapshot — perubahan menu tidak mengubah riwayat transaksi</a:t>
            </a:r>
            <a:endParaRPr b="0" i="0" sz="800" u="none" cap="none" strike="noStrike">
              <a:solidFill>
                <a:schemeClr val="dk1"/>
              </a:solidFill>
              <a:latin typeface="Calibri"/>
              <a:ea typeface="Calibri"/>
              <a:cs typeface="Calibri"/>
              <a:sym typeface="Calibri"/>
            </a:endParaRPr>
          </a:p>
          <a:p>
            <a:pPr indent="-139700" lvl="0" marL="139700" marR="0" rtl="0" algn="l">
              <a:spcBef>
                <a:spcPts val="500"/>
              </a:spcBef>
              <a:spcAft>
                <a:spcPts val="0"/>
              </a:spcAft>
              <a:buClr>
                <a:srgbClr val="C4B2B6"/>
              </a:buClr>
              <a:buSzPts val="800"/>
              <a:buFont typeface="Calibri"/>
              <a:buChar char="•"/>
            </a:pPr>
            <a:r>
              <a:rPr b="0" i="0" lang="en" sz="800" u="none" cap="none" strike="noStrike">
                <a:solidFill>
                  <a:srgbClr val="C4B2B6"/>
                </a:solidFill>
                <a:latin typeface="Calibri"/>
                <a:ea typeface="Calibri"/>
                <a:cs typeface="Calibri"/>
                <a:sym typeface="Calibri"/>
              </a:rPr>
              <a:t>stock_movements adalah ledger; kolom products.stock hanya cache yang bisa direkonsiliasi</a:t>
            </a:r>
            <a:endParaRPr b="0" i="0" sz="800" u="none" cap="none" strike="noStrike">
              <a:solidFill>
                <a:schemeClr val="dk1"/>
              </a:solidFill>
              <a:latin typeface="Calibri"/>
              <a:ea typeface="Calibri"/>
              <a:cs typeface="Calibri"/>
              <a:sym typeface="Calibri"/>
            </a:endParaRPr>
          </a:p>
          <a:p>
            <a:pPr indent="-139700" lvl="0" marL="139700" marR="0" rtl="0" algn="l">
              <a:spcBef>
                <a:spcPts val="500"/>
              </a:spcBef>
              <a:spcAft>
                <a:spcPts val="0"/>
              </a:spcAft>
              <a:buClr>
                <a:srgbClr val="C4B2B6"/>
              </a:buClr>
              <a:buSzPts val="800"/>
              <a:buFont typeface="Calibri"/>
              <a:buChar char="•"/>
            </a:pPr>
            <a:r>
              <a:rPr b="0" i="0" lang="en" sz="800" u="none" cap="none" strike="noStrike">
                <a:solidFill>
                  <a:srgbClr val="C4B2B6"/>
                </a:solidFill>
                <a:latin typeface="Calibri"/>
                <a:ea typeface="Calibri"/>
                <a:cs typeface="Calibri"/>
                <a:sym typeface="Calibri"/>
              </a:rPr>
              <a:t>Unique index (business_date, queue_number) menjamin nomor antrean tidak pernah ganda</a:t>
            </a:r>
            <a:endParaRPr b="0" i="0" sz="800" u="none" cap="none" strike="noStrike">
              <a:solidFill>
                <a:schemeClr val="dk1"/>
              </a:solidFill>
              <a:latin typeface="Calibri"/>
              <a:ea typeface="Calibri"/>
              <a:cs typeface="Calibri"/>
              <a:sym typeface="Calibri"/>
            </a:endParaRPr>
          </a:p>
        </p:txBody>
      </p:sp>
      <p:pic>
        <p:nvPicPr>
          <p:cNvPr id="336" name="Google Shape;336;p25" title="Untitled.png"/>
          <p:cNvPicPr preferRelativeResize="0"/>
          <p:nvPr/>
        </p:nvPicPr>
        <p:blipFill>
          <a:blip r:embed="rId3">
            <a:alphaModFix/>
          </a:blip>
          <a:stretch>
            <a:fillRect/>
          </a:stretch>
        </p:blipFill>
        <p:spPr>
          <a:xfrm>
            <a:off x="445777" y="1022517"/>
            <a:ext cx="4786876" cy="384855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214"/>
        </a:solidFill>
      </p:bgPr>
    </p:bg>
    <p:spTree>
      <p:nvGrpSpPr>
        <p:cNvPr id="341" name="Shape 341"/>
        <p:cNvGrpSpPr/>
        <p:nvPr/>
      </p:nvGrpSpPr>
      <p:grpSpPr>
        <a:xfrm>
          <a:off x="0" y="0"/>
          <a:ext cx="0" cy="0"/>
          <a:chOff x="0" y="0"/>
          <a:chExt cx="0" cy="0"/>
        </a:xfrm>
      </p:grpSpPr>
      <p:sp>
        <p:nvSpPr>
          <p:cNvPr id="342" name="Google Shape;342;p26"/>
          <p:cNvSpPr/>
          <p:nvPr/>
        </p:nvSpPr>
        <p:spPr>
          <a:xfrm>
            <a:off x="445770" y="288036"/>
            <a:ext cx="822960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4D"/>
              </a:buClr>
              <a:buSzPts val="800"/>
              <a:buFont typeface="Calibri"/>
              <a:buNone/>
            </a:pPr>
            <a:r>
              <a:rPr b="1" i="0" lang="en" sz="800" u="none" cap="none" strike="noStrike">
                <a:solidFill>
                  <a:srgbClr val="FFB84D"/>
                </a:solidFill>
                <a:latin typeface="Calibri"/>
                <a:ea typeface="Calibri"/>
                <a:cs typeface="Calibri"/>
                <a:sym typeface="Calibri"/>
              </a:rPr>
              <a:t>TECHNICAL DEPTH</a:t>
            </a:r>
            <a:endParaRPr b="0" i="0" sz="800" u="none" cap="none" strike="noStrike">
              <a:solidFill>
                <a:schemeClr val="dk1"/>
              </a:solidFill>
              <a:latin typeface="Calibri"/>
              <a:ea typeface="Calibri"/>
              <a:cs typeface="Calibri"/>
              <a:sym typeface="Calibri"/>
            </a:endParaRPr>
          </a:p>
        </p:txBody>
      </p:sp>
      <p:sp>
        <p:nvSpPr>
          <p:cNvPr id="343" name="Google Shape;343;p26"/>
          <p:cNvSpPr/>
          <p:nvPr/>
        </p:nvSpPr>
        <p:spPr>
          <a:xfrm>
            <a:off x="445770" y="493776"/>
            <a:ext cx="8229600" cy="4251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300"/>
              <a:buFont typeface="Calibri"/>
              <a:buNone/>
            </a:pPr>
            <a:r>
              <a:rPr b="1" i="0" lang="en" sz="2300" u="none" cap="none" strike="noStrike">
                <a:solidFill>
                  <a:srgbClr val="FFFFFF"/>
                </a:solidFill>
                <a:latin typeface="Calibri"/>
                <a:ea typeface="Calibri"/>
                <a:cs typeface="Calibri"/>
                <a:sym typeface="Calibri"/>
              </a:rPr>
              <a:t>API Design &amp; Best Practices</a:t>
            </a:r>
            <a:endParaRPr b="0" i="0" sz="2300" u="none" cap="none" strike="noStrike">
              <a:solidFill>
                <a:schemeClr val="dk1"/>
              </a:solidFill>
              <a:latin typeface="Calibri"/>
              <a:ea typeface="Calibri"/>
              <a:cs typeface="Calibri"/>
              <a:sym typeface="Calibri"/>
            </a:endParaRPr>
          </a:p>
        </p:txBody>
      </p:sp>
      <p:sp>
        <p:nvSpPr>
          <p:cNvPr id="344" name="Google Shape;344;p26"/>
          <p:cNvSpPr/>
          <p:nvPr/>
        </p:nvSpPr>
        <p:spPr>
          <a:xfrm>
            <a:off x="445770" y="1200150"/>
            <a:ext cx="4389120" cy="3086100"/>
          </a:xfrm>
          <a:prstGeom prst="roundRect">
            <a:avLst>
              <a:gd fmla="val 2222" name="adj"/>
            </a:avLst>
          </a:prstGeom>
          <a:solidFill>
            <a:srgbClr val="2B1F22"/>
          </a:solidFill>
          <a:ln cap="flat" cmpd="sng" w="12700">
            <a:solidFill>
              <a:srgbClr val="2B1F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45" name="Google Shape;345;p26"/>
          <p:cNvSpPr/>
          <p:nvPr/>
        </p:nvSpPr>
        <p:spPr>
          <a:xfrm>
            <a:off x="665226" y="1357884"/>
            <a:ext cx="3977640"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4D"/>
              </a:buClr>
              <a:buSzPts val="1200"/>
              <a:buFont typeface="Calibri"/>
              <a:buNone/>
            </a:pPr>
            <a:r>
              <a:rPr b="1" i="0" lang="en" sz="1200" u="none" cap="none" strike="noStrike">
                <a:solidFill>
                  <a:srgbClr val="FFB84D"/>
                </a:solidFill>
                <a:latin typeface="Calibri"/>
                <a:ea typeface="Calibri"/>
                <a:cs typeface="Calibri"/>
                <a:sym typeface="Calibri"/>
              </a:rPr>
              <a:t>Struktur RESTful</a:t>
            </a:r>
            <a:endParaRPr b="0" i="0" sz="1200" u="none" cap="none" strike="noStrike">
              <a:solidFill>
                <a:schemeClr val="dk1"/>
              </a:solidFill>
              <a:latin typeface="Calibri"/>
              <a:ea typeface="Calibri"/>
              <a:cs typeface="Calibri"/>
              <a:sym typeface="Calibri"/>
            </a:endParaRPr>
          </a:p>
        </p:txBody>
      </p:sp>
      <p:sp>
        <p:nvSpPr>
          <p:cNvPr id="346" name="Google Shape;346;p26"/>
          <p:cNvSpPr/>
          <p:nvPr/>
        </p:nvSpPr>
        <p:spPr>
          <a:xfrm>
            <a:off x="665226" y="1680210"/>
            <a:ext cx="58293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CAF7D"/>
              </a:buClr>
              <a:buSzPts val="800"/>
              <a:buFont typeface="Courier New"/>
              <a:buNone/>
            </a:pPr>
            <a:r>
              <a:rPr b="1" i="0" lang="en" sz="800" u="none" cap="none" strike="noStrike">
                <a:solidFill>
                  <a:srgbClr val="4CAF7D"/>
                </a:solidFill>
                <a:latin typeface="Courier New"/>
                <a:ea typeface="Courier New"/>
                <a:cs typeface="Courier New"/>
                <a:sym typeface="Courier New"/>
              </a:rPr>
              <a:t>GET</a:t>
            </a:r>
            <a:endParaRPr b="0" i="0" sz="800" u="none" cap="none" strike="noStrike">
              <a:solidFill>
                <a:schemeClr val="dk1"/>
              </a:solidFill>
              <a:latin typeface="Calibri"/>
              <a:ea typeface="Calibri"/>
              <a:cs typeface="Calibri"/>
              <a:sym typeface="Calibri"/>
            </a:endParaRPr>
          </a:p>
        </p:txBody>
      </p:sp>
      <p:sp>
        <p:nvSpPr>
          <p:cNvPr id="347" name="Google Shape;347;p26"/>
          <p:cNvSpPr/>
          <p:nvPr/>
        </p:nvSpPr>
        <p:spPr>
          <a:xfrm>
            <a:off x="1268730" y="1680210"/>
            <a:ext cx="336042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B2B6"/>
              </a:buClr>
              <a:buSzPts val="800"/>
              <a:buFont typeface="Courier New"/>
              <a:buNone/>
            </a:pPr>
            <a:r>
              <a:rPr b="0" i="0" lang="en" sz="800" u="none" cap="none" strike="noStrike">
                <a:solidFill>
                  <a:srgbClr val="C4B2B6"/>
                </a:solidFill>
                <a:latin typeface="Courier New"/>
                <a:ea typeface="Courier New"/>
                <a:cs typeface="Courier New"/>
                <a:sym typeface="Courier New"/>
              </a:rPr>
              <a:t>/api/v1/products?search=&amp;page=</a:t>
            </a:r>
            <a:endParaRPr b="0" i="0" sz="800" u="none" cap="none" strike="noStrike">
              <a:solidFill>
                <a:schemeClr val="dk1"/>
              </a:solidFill>
              <a:latin typeface="Calibri"/>
              <a:ea typeface="Calibri"/>
              <a:cs typeface="Calibri"/>
              <a:sym typeface="Calibri"/>
            </a:endParaRPr>
          </a:p>
        </p:txBody>
      </p:sp>
      <p:sp>
        <p:nvSpPr>
          <p:cNvPr id="348" name="Google Shape;348;p26"/>
          <p:cNvSpPr/>
          <p:nvPr/>
        </p:nvSpPr>
        <p:spPr>
          <a:xfrm>
            <a:off x="665226" y="1940814"/>
            <a:ext cx="58293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4D"/>
              </a:buClr>
              <a:buSzPts val="800"/>
              <a:buFont typeface="Courier New"/>
              <a:buNone/>
            </a:pPr>
            <a:r>
              <a:rPr b="1" i="0" lang="en" sz="800" u="none" cap="none" strike="noStrike">
                <a:solidFill>
                  <a:srgbClr val="FFB84D"/>
                </a:solidFill>
                <a:latin typeface="Courier New"/>
                <a:ea typeface="Courier New"/>
                <a:cs typeface="Courier New"/>
                <a:sym typeface="Courier New"/>
              </a:rPr>
              <a:t>POST</a:t>
            </a:r>
            <a:endParaRPr b="0" i="0" sz="800" u="none" cap="none" strike="noStrike">
              <a:solidFill>
                <a:schemeClr val="dk1"/>
              </a:solidFill>
              <a:latin typeface="Calibri"/>
              <a:ea typeface="Calibri"/>
              <a:cs typeface="Calibri"/>
              <a:sym typeface="Calibri"/>
            </a:endParaRPr>
          </a:p>
        </p:txBody>
      </p:sp>
      <p:sp>
        <p:nvSpPr>
          <p:cNvPr id="349" name="Google Shape;349;p26"/>
          <p:cNvSpPr/>
          <p:nvPr/>
        </p:nvSpPr>
        <p:spPr>
          <a:xfrm>
            <a:off x="1268730" y="1940814"/>
            <a:ext cx="336042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B2B6"/>
              </a:buClr>
              <a:buSzPts val="800"/>
              <a:buFont typeface="Courier New"/>
              <a:buNone/>
            </a:pPr>
            <a:r>
              <a:rPr b="0" i="0" lang="en" sz="800" u="none" cap="none" strike="noStrike">
                <a:solidFill>
                  <a:srgbClr val="C4B2B6"/>
                </a:solidFill>
                <a:latin typeface="Courier New"/>
                <a:ea typeface="Courier New"/>
                <a:cs typeface="Courier New"/>
                <a:sym typeface="Courier New"/>
              </a:rPr>
              <a:t>/api/v1/orders</a:t>
            </a:r>
            <a:endParaRPr b="0" i="0" sz="800" u="none" cap="none" strike="noStrike">
              <a:solidFill>
                <a:schemeClr val="dk1"/>
              </a:solidFill>
              <a:latin typeface="Calibri"/>
              <a:ea typeface="Calibri"/>
              <a:cs typeface="Calibri"/>
              <a:sym typeface="Calibri"/>
            </a:endParaRPr>
          </a:p>
        </p:txBody>
      </p:sp>
      <p:sp>
        <p:nvSpPr>
          <p:cNvPr id="350" name="Google Shape;350;p26"/>
          <p:cNvSpPr/>
          <p:nvPr/>
        </p:nvSpPr>
        <p:spPr>
          <a:xfrm>
            <a:off x="665226" y="2201418"/>
            <a:ext cx="58293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CAF7D"/>
              </a:buClr>
              <a:buSzPts val="800"/>
              <a:buFont typeface="Courier New"/>
              <a:buNone/>
            </a:pPr>
            <a:r>
              <a:rPr b="1" i="0" lang="en" sz="800" u="none" cap="none" strike="noStrike">
                <a:solidFill>
                  <a:srgbClr val="4CAF7D"/>
                </a:solidFill>
                <a:latin typeface="Courier New"/>
                <a:ea typeface="Courier New"/>
                <a:cs typeface="Courier New"/>
                <a:sym typeface="Courier New"/>
              </a:rPr>
              <a:t>GET</a:t>
            </a:r>
            <a:endParaRPr b="0" i="0" sz="800" u="none" cap="none" strike="noStrike">
              <a:solidFill>
                <a:schemeClr val="dk1"/>
              </a:solidFill>
              <a:latin typeface="Calibri"/>
              <a:ea typeface="Calibri"/>
              <a:cs typeface="Calibri"/>
              <a:sym typeface="Calibri"/>
            </a:endParaRPr>
          </a:p>
        </p:txBody>
      </p:sp>
      <p:sp>
        <p:nvSpPr>
          <p:cNvPr id="351" name="Google Shape;351;p26"/>
          <p:cNvSpPr/>
          <p:nvPr/>
        </p:nvSpPr>
        <p:spPr>
          <a:xfrm>
            <a:off x="1268730" y="2201418"/>
            <a:ext cx="336042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B2B6"/>
              </a:buClr>
              <a:buSzPts val="800"/>
              <a:buFont typeface="Courier New"/>
              <a:buNone/>
            </a:pPr>
            <a:r>
              <a:rPr b="0" i="0" lang="en" sz="800" u="none" cap="none" strike="noStrike">
                <a:solidFill>
                  <a:srgbClr val="C4B2B6"/>
                </a:solidFill>
                <a:latin typeface="Courier New"/>
                <a:ea typeface="Courier New"/>
                <a:cs typeface="Courier New"/>
                <a:sym typeface="Courier New"/>
              </a:rPr>
              <a:t>/api/v1/orders/{number}/status</a:t>
            </a:r>
            <a:endParaRPr b="0" i="0" sz="800" u="none" cap="none" strike="noStrike">
              <a:solidFill>
                <a:schemeClr val="dk1"/>
              </a:solidFill>
              <a:latin typeface="Calibri"/>
              <a:ea typeface="Calibri"/>
              <a:cs typeface="Calibri"/>
              <a:sym typeface="Calibri"/>
            </a:endParaRPr>
          </a:p>
        </p:txBody>
      </p:sp>
      <p:sp>
        <p:nvSpPr>
          <p:cNvPr id="352" name="Google Shape;352;p26"/>
          <p:cNvSpPr/>
          <p:nvPr/>
        </p:nvSpPr>
        <p:spPr>
          <a:xfrm>
            <a:off x="665226" y="2462022"/>
            <a:ext cx="58293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533D"/>
              </a:buClr>
              <a:buSzPts val="800"/>
              <a:buFont typeface="Courier New"/>
              <a:buNone/>
            </a:pPr>
            <a:r>
              <a:rPr b="1" i="0" lang="en" sz="800" u="none" cap="none" strike="noStrike">
                <a:solidFill>
                  <a:srgbClr val="F5533D"/>
                </a:solidFill>
                <a:latin typeface="Courier New"/>
                <a:ea typeface="Courier New"/>
                <a:cs typeface="Courier New"/>
                <a:sym typeface="Courier New"/>
              </a:rPr>
              <a:t>PATCH</a:t>
            </a:r>
            <a:endParaRPr b="0" i="0" sz="800" u="none" cap="none" strike="noStrike">
              <a:solidFill>
                <a:schemeClr val="dk1"/>
              </a:solidFill>
              <a:latin typeface="Calibri"/>
              <a:ea typeface="Calibri"/>
              <a:cs typeface="Calibri"/>
              <a:sym typeface="Calibri"/>
            </a:endParaRPr>
          </a:p>
        </p:txBody>
      </p:sp>
      <p:sp>
        <p:nvSpPr>
          <p:cNvPr id="353" name="Google Shape;353;p26"/>
          <p:cNvSpPr/>
          <p:nvPr/>
        </p:nvSpPr>
        <p:spPr>
          <a:xfrm>
            <a:off x="1268730" y="2462022"/>
            <a:ext cx="336042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B2B6"/>
              </a:buClr>
              <a:buSzPts val="800"/>
              <a:buFont typeface="Courier New"/>
              <a:buNone/>
            </a:pPr>
            <a:r>
              <a:rPr b="0" i="0" lang="en" sz="800" u="none" cap="none" strike="noStrike">
                <a:solidFill>
                  <a:srgbClr val="C4B2B6"/>
                </a:solidFill>
                <a:latin typeface="Courier New"/>
                <a:ea typeface="Courier New"/>
                <a:cs typeface="Courier New"/>
                <a:sym typeface="Courier New"/>
              </a:rPr>
              <a:t>/api/v1/orders/{number}/cancel</a:t>
            </a:r>
            <a:endParaRPr b="0" i="0" sz="800" u="none" cap="none" strike="noStrike">
              <a:solidFill>
                <a:schemeClr val="dk1"/>
              </a:solidFill>
              <a:latin typeface="Calibri"/>
              <a:ea typeface="Calibri"/>
              <a:cs typeface="Calibri"/>
              <a:sym typeface="Calibri"/>
            </a:endParaRPr>
          </a:p>
        </p:txBody>
      </p:sp>
      <p:sp>
        <p:nvSpPr>
          <p:cNvPr id="354" name="Google Shape;354;p26"/>
          <p:cNvSpPr/>
          <p:nvPr/>
        </p:nvSpPr>
        <p:spPr>
          <a:xfrm>
            <a:off x="665226" y="2722626"/>
            <a:ext cx="58293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CAF7D"/>
              </a:buClr>
              <a:buSzPts val="800"/>
              <a:buFont typeface="Courier New"/>
              <a:buNone/>
            </a:pPr>
            <a:r>
              <a:rPr b="1" i="0" lang="en" sz="800" u="none" cap="none" strike="noStrike">
                <a:solidFill>
                  <a:srgbClr val="4CAF7D"/>
                </a:solidFill>
                <a:latin typeface="Courier New"/>
                <a:ea typeface="Courier New"/>
                <a:cs typeface="Courier New"/>
                <a:sym typeface="Courier New"/>
              </a:rPr>
              <a:t>GET</a:t>
            </a:r>
            <a:endParaRPr b="0" i="0" sz="800" u="none" cap="none" strike="noStrike">
              <a:solidFill>
                <a:schemeClr val="dk1"/>
              </a:solidFill>
              <a:latin typeface="Calibri"/>
              <a:ea typeface="Calibri"/>
              <a:cs typeface="Calibri"/>
              <a:sym typeface="Calibri"/>
            </a:endParaRPr>
          </a:p>
        </p:txBody>
      </p:sp>
      <p:sp>
        <p:nvSpPr>
          <p:cNvPr id="355" name="Google Shape;355;p26"/>
          <p:cNvSpPr/>
          <p:nvPr/>
        </p:nvSpPr>
        <p:spPr>
          <a:xfrm>
            <a:off x="1268730" y="2722626"/>
            <a:ext cx="336042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B2B6"/>
              </a:buClr>
              <a:buSzPts val="800"/>
              <a:buFont typeface="Courier New"/>
              <a:buNone/>
            </a:pPr>
            <a:r>
              <a:rPr b="0" i="0" lang="en" sz="800" u="none" cap="none" strike="noStrike">
                <a:solidFill>
                  <a:srgbClr val="C4B2B6"/>
                </a:solidFill>
                <a:latin typeface="Courier New"/>
                <a:ea typeface="Courier New"/>
                <a:cs typeface="Courier New"/>
                <a:sym typeface="Courier New"/>
              </a:rPr>
              <a:t>/api/v1/admin/orders/board</a:t>
            </a:r>
            <a:endParaRPr b="0" i="0" sz="800" u="none" cap="none" strike="noStrike">
              <a:solidFill>
                <a:schemeClr val="dk1"/>
              </a:solidFill>
              <a:latin typeface="Calibri"/>
              <a:ea typeface="Calibri"/>
              <a:cs typeface="Calibri"/>
              <a:sym typeface="Calibri"/>
            </a:endParaRPr>
          </a:p>
        </p:txBody>
      </p:sp>
      <p:sp>
        <p:nvSpPr>
          <p:cNvPr id="356" name="Google Shape;356;p26"/>
          <p:cNvSpPr/>
          <p:nvPr/>
        </p:nvSpPr>
        <p:spPr>
          <a:xfrm>
            <a:off x="665226" y="2983230"/>
            <a:ext cx="58293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CAF7D"/>
              </a:buClr>
              <a:buSzPts val="800"/>
              <a:buFont typeface="Courier New"/>
              <a:buNone/>
            </a:pPr>
            <a:r>
              <a:rPr b="1" i="0" lang="en" sz="800" u="none" cap="none" strike="noStrike">
                <a:solidFill>
                  <a:srgbClr val="4CAF7D"/>
                </a:solidFill>
                <a:latin typeface="Courier New"/>
                <a:ea typeface="Courier New"/>
                <a:cs typeface="Courier New"/>
                <a:sym typeface="Courier New"/>
              </a:rPr>
              <a:t>GET</a:t>
            </a:r>
            <a:endParaRPr b="0" i="0" sz="800" u="none" cap="none" strike="noStrike">
              <a:solidFill>
                <a:schemeClr val="dk1"/>
              </a:solidFill>
              <a:latin typeface="Calibri"/>
              <a:ea typeface="Calibri"/>
              <a:cs typeface="Calibri"/>
              <a:sym typeface="Calibri"/>
            </a:endParaRPr>
          </a:p>
        </p:txBody>
      </p:sp>
      <p:sp>
        <p:nvSpPr>
          <p:cNvPr id="357" name="Google Shape;357;p26"/>
          <p:cNvSpPr/>
          <p:nvPr/>
        </p:nvSpPr>
        <p:spPr>
          <a:xfrm>
            <a:off x="1268730" y="2983230"/>
            <a:ext cx="336042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B2B6"/>
              </a:buClr>
              <a:buSzPts val="800"/>
              <a:buFont typeface="Courier New"/>
              <a:buNone/>
            </a:pPr>
            <a:r>
              <a:rPr b="0" i="0" lang="en" sz="800" u="none" cap="none" strike="noStrike">
                <a:solidFill>
                  <a:srgbClr val="C4B2B6"/>
                </a:solidFill>
                <a:latin typeface="Courier New"/>
                <a:ea typeface="Courier New"/>
                <a:cs typeface="Courier New"/>
                <a:sym typeface="Courier New"/>
              </a:rPr>
              <a:t>/api/v1/admin/reports/low-stock</a:t>
            </a:r>
            <a:endParaRPr b="0" i="0" sz="800" u="none" cap="none" strike="noStrike">
              <a:solidFill>
                <a:schemeClr val="dk1"/>
              </a:solidFill>
              <a:latin typeface="Calibri"/>
              <a:ea typeface="Calibri"/>
              <a:cs typeface="Calibri"/>
              <a:sym typeface="Calibri"/>
            </a:endParaRPr>
          </a:p>
        </p:txBody>
      </p:sp>
      <p:sp>
        <p:nvSpPr>
          <p:cNvPr id="358" name="Google Shape;358;p26"/>
          <p:cNvSpPr/>
          <p:nvPr/>
        </p:nvSpPr>
        <p:spPr>
          <a:xfrm>
            <a:off x="665226" y="3394710"/>
            <a:ext cx="3977640" cy="617220"/>
          </a:xfrm>
          <a:prstGeom prst="rect">
            <a:avLst/>
          </a:prstGeom>
          <a:noFill/>
          <a:ln>
            <a:noFill/>
          </a:ln>
        </p:spPr>
        <p:txBody>
          <a:bodyPr anchorCtr="0" anchor="t" bIns="0" lIns="0" spcFirstLastPara="1" rIns="0" wrap="square" tIns="0">
            <a:noAutofit/>
          </a:bodyPr>
          <a:lstStyle/>
          <a:p>
            <a:pPr indent="0" lvl="0" marL="0" marR="0" rtl="0" algn="l">
              <a:lnSpc>
                <a:spcPct val="130434"/>
              </a:lnSpc>
              <a:spcBef>
                <a:spcPts val="0"/>
              </a:spcBef>
              <a:spcAft>
                <a:spcPts val="0"/>
              </a:spcAft>
              <a:buClr>
                <a:srgbClr val="8A7278"/>
              </a:buClr>
              <a:buSzPts val="900"/>
              <a:buFont typeface="Calibri"/>
              <a:buNone/>
            </a:pPr>
            <a:r>
              <a:rPr b="0" i="1" lang="en" sz="900" u="none" cap="none" strike="noStrike">
                <a:solidFill>
                  <a:srgbClr val="8A7278"/>
                </a:solidFill>
                <a:latin typeface="Calibri"/>
                <a:ea typeface="Calibri"/>
                <a:cs typeface="Calibri"/>
                <a:sym typeface="Calibri"/>
              </a:rPr>
              <a:t>Harga tidak pernah diterima dari request — payload hanya berisi product_id, quantity, dan variant_ids. Seluruh nilai dihitung ulang di server.</a:t>
            </a:r>
            <a:endParaRPr b="0" i="0" sz="900" u="none" cap="none" strike="noStrike">
              <a:solidFill>
                <a:schemeClr val="dk1"/>
              </a:solidFill>
              <a:latin typeface="Calibri"/>
              <a:ea typeface="Calibri"/>
              <a:cs typeface="Calibri"/>
              <a:sym typeface="Calibri"/>
            </a:endParaRPr>
          </a:p>
        </p:txBody>
      </p:sp>
      <p:sp>
        <p:nvSpPr>
          <p:cNvPr id="359" name="Google Shape;359;p26"/>
          <p:cNvSpPr/>
          <p:nvPr/>
        </p:nvSpPr>
        <p:spPr>
          <a:xfrm>
            <a:off x="5109210" y="1200150"/>
            <a:ext cx="3566160" cy="1474470"/>
          </a:xfrm>
          <a:prstGeom prst="roundRect">
            <a:avLst>
              <a:gd fmla="val 4651" name="adj"/>
            </a:avLst>
          </a:prstGeom>
          <a:solidFill>
            <a:srgbClr val="3A2A2E"/>
          </a:solidFill>
          <a:ln cap="flat" cmpd="sng" w="12700">
            <a:solidFill>
              <a:srgbClr val="3A2A2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60" name="Google Shape;360;p26"/>
          <p:cNvSpPr/>
          <p:nvPr/>
        </p:nvSpPr>
        <p:spPr>
          <a:xfrm>
            <a:off x="5314950" y="1337310"/>
            <a:ext cx="31546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533D"/>
              </a:buClr>
              <a:buSzPts val="1100"/>
              <a:buFont typeface="Calibri"/>
              <a:buNone/>
            </a:pPr>
            <a:r>
              <a:rPr b="1" i="0" lang="en" sz="1100" u="none" cap="none" strike="noStrike">
                <a:solidFill>
                  <a:srgbClr val="F5533D"/>
                </a:solidFill>
                <a:latin typeface="Calibri"/>
                <a:ea typeface="Calibri"/>
                <a:cs typeface="Calibri"/>
                <a:sym typeface="Calibri"/>
              </a:rPr>
              <a:t>HTTP Status Code</a:t>
            </a:r>
            <a:endParaRPr b="0" i="0" sz="1100" u="none" cap="none" strike="noStrike">
              <a:solidFill>
                <a:schemeClr val="dk1"/>
              </a:solidFill>
              <a:latin typeface="Calibri"/>
              <a:ea typeface="Calibri"/>
              <a:cs typeface="Calibri"/>
              <a:sym typeface="Calibri"/>
            </a:endParaRPr>
          </a:p>
        </p:txBody>
      </p:sp>
      <p:sp>
        <p:nvSpPr>
          <p:cNvPr id="361" name="Google Shape;361;p26"/>
          <p:cNvSpPr/>
          <p:nvPr/>
        </p:nvSpPr>
        <p:spPr>
          <a:xfrm>
            <a:off x="5314950" y="1611630"/>
            <a:ext cx="41148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4D"/>
              </a:buClr>
              <a:buSzPts val="900"/>
              <a:buFont typeface="Courier New"/>
              <a:buNone/>
            </a:pPr>
            <a:r>
              <a:rPr b="1" i="0" lang="en" sz="900" u="none" cap="none" strike="noStrike">
                <a:solidFill>
                  <a:srgbClr val="FFB84D"/>
                </a:solidFill>
                <a:latin typeface="Courier New"/>
                <a:ea typeface="Courier New"/>
                <a:cs typeface="Courier New"/>
                <a:sym typeface="Courier New"/>
              </a:rPr>
              <a:t>201</a:t>
            </a:r>
            <a:endParaRPr b="0" i="0" sz="900" u="none" cap="none" strike="noStrike">
              <a:solidFill>
                <a:schemeClr val="dk1"/>
              </a:solidFill>
              <a:latin typeface="Calibri"/>
              <a:ea typeface="Calibri"/>
              <a:cs typeface="Calibri"/>
              <a:sym typeface="Calibri"/>
            </a:endParaRPr>
          </a:p>
        </p:txBody>
      </p:sp>
      <p:sp>
        <p:nvSpPr>
          <p:cNvPr id="362" name="Google Shape;362;p26"/>
          <p:cNvSpPr/>
          <p:nvPr/>
        </p:nvSpPr>
        <p:spPr>
          <a:xfrm>
            <a:off x="5795010" y="1611630"/>
            <a:ext cx="267462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B2B6"/>
              </a:buClr>
              <a:buSzPts val="900"/>
              <a:buFont typeface="Calibri"/>
              <a:buNone/>
            </a:pPr>
            <a:r>
              <a:rPr b="0" i="0" lang="en" sz="900" u="none" cap="none" strike="noStrike">
                <a:solidFill>
                  <a:srgbClr val="C4B2B6"/>
                </a:solidFill>
                <a:latin typeface="Calibri"/>
                <a:ea typeface="Calibri"/>
                <a:cs typeface="Calibri"/>
                <a:sym typeface="Calibri"/>
              </a:rPr>
              <a:t>Pesanan dibuat</a:t>
            </a:r>
            <a:endParaRPr b="0" i="0" sz="900" u="none" cap="none" strike="noStrike">
              <a:solidFill>
                <a:schemeClr val="dk1"/>
              </a:solidFill>
              <a:latin typeface="Calibri"/>
              <a:ea typeface="Calibri"/>
              <a:cs typeface="Calibri"/>
              <a:sym typeface="Calibri"/>
            </a:endParaRPr>
          </a:p>
        </p:txBody>
      </p:sp>
      <p:sp>
        <p:nvSpPr>
          <p:cNvPr id="363" name="Google Shape;363;p26"/>
          <p:cNvSpPr/>
          <p:nvPr/>
        </p:nvSpPr>
        <p:spPr>
          <a:xfrm>
            <a:off x="5314950" y="1858518"/>
            <a:ext cx="41148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4D"/>
              </a:buClr>
              <a:buSzPts val="900"/>
              <a:buFont typeface="Courier New"/>
              <a:buNone/>
            </a:pPr>
            <a:r>
              <a:rPr b="1" i="0" lang="en" sz="900" u="none" cap="none" strike="noStrike">
                <a:solidFill>
                  <a:srgbClr val="FFB84D"/>
                </a:solidFill>
                <a:latin typeface="Courier New"/>
                <a:ea typeface="Courier New"/>
                <a:cs typeface="Courier New"/>
                <a:sym typeface="Courier New"/>
              </a:rPr>
              <a:t>403</a:t>
            </a:r>
            <a:endParaRPr b="0" i="0" sz="900" u="none" cap="none" strike="noStrike">
              <a:solidFill>
                <a:schemeClr val="dk1"/>
              </a:solidFill>
              <a:latin typeface="Calibri"/>
              <a:ea typeface="Calibri"/>
              <a:cs typeface="Calibri"/>
              <a:sym typeface="Calibri"/>
            </a:endParaRPr>
          </a:p>
        </p:txBody>
      </p:sp>
      <p:sp>
        <p:nvSpPr>
          <p:cNvPr id="364" name="Google Shape;364;p26"/>
          <p:cNvSpPr/>
          <p:nvPr/>
        </p:nvSpPr>
        <p:spPr>
          <a:xfrm>
            <a:off x="5795010" y="1858518"/>
            <a:ext cx="267462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B2B6"/>
              </a:buClr>
              <a:buSzPts val="900"/>
              <a:buFont typeface="Calibri"/>
              <a:buNone/>
            </a:pPr>
            <a:r>
              <a:rPr b="0" i="0" lang="en" sz="900" u="none" cap="none" strike="noStrike">
                <a:solidFill>
                  <a:srgbClr val="C4B2B6"/>
                </a:solidFill>
                <a:latin typeface="Calibri"/>
                <a:ea typeface="Calibri"/>
                <a:cs typeface="Calibri"/>
                <a:sym typeface="Calibri"/>
              </a:rPr>
              <a:t>Role tidak berhak</a:t>
            </a:r>
            <a:endParaRPr b="0" i="0" sz="900" u="none" cap="none" strike="noStrike">
              <a:solidFill>
                <a:schemeClr val="dk1"/>
              </a:solidFill>
              <a:latin typeface="Calibri"/>
              <a:ea typeface="Calibri"/>
              <a:cs typeface="Calibri"/>
              <a:sym typeface="Calibri"/>
            </a:endParaRPr>
          </a:p>
        </p:txBody>
      </p:sp>
      <p:sp>
        <p:nvSpPr>
          <p:cNvPr id="365" name="Google Shape;365;p26"/>
          <p:cNvSpPr/>
          <p:nvPr/>
        </p:nvSpPr>
        <p:spPr>
          <a:xfrm>
            <a:off x="5314950" y="2105406"/>
            <a:ext cx="41148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4D"/>
              </a:buClr>
              <a:buSzPts val="900"/>
              <a:buFont typeface="Courier New"/>
              <a:buNone/>
            </a:pPr>
            <a:r>
              <a:rPr b="1" i="0" lang="en" sz="900" u="none" cap="none" strike="noStrike">
                <a:solidFill>
                  <a:srgbClr val="FFB84D"/>
                </a:solidFill>
                <a:latin typeface="Courier New"/>
                <a:ea typeface="Courier New"/>
                <a:cs typeface="Courier New"/>
                <a:sym typeface="Courier New"/>
              </a:rPr>
              <a:t>409</a:t>
            </a:r>
            <a:endParaRPr b="0" i="0" sz="900" u="none" cap="none" strike="noStrike">
              <a:solidFill>
                <a:schemeClr val="dk1"/>
              </a:solidFill>
              <a:latin typeface="Calibri"/>
              <a:ea typeface="Calibri"/>
              <a:cs typeface="Calibri"/>
              <a:sym typeface="Calibri"/>
            </a:endParaRPr>
          </a:p>
        </p:txBody>
      </p:sp>
      <p:sp>
        <p:nvSpPr>
          <p:cNvPr id="366" name="Google Shape;366;p26"/>
          <p:cNvSpPr/>
          <p:nvPr/>
        </p:nvSpPr>
        <p:spPr>
          <a:xfrm>
            <a:off x="5795010" y="2105406"/>
            <a:ext cx="267462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B2B6"/>
              </a:buClr>
              <a:buSzPts val="900"/>
              <a:buFont typeface="Calibri"/>
              <a:buNone/>
            </a:pPr>
            <a:r>
              <a:rPr b="0" i="0" lang="en" sz="900" u="none" cap="none" strike="noStrike">
                <a:solidFill>
                  <a:srgbClr val="C4B2B6"/>
                </a:solidFill>
                <a:latin typeface="Calibri"/>
                <a:ea typeface="Calibri"/>
                <a:cs typeface="Calibri"/>
                <a:sym typeface="Calibri"/>
              </a:rPr>
              <a:t>Transisi status tidak valid</a:t>
            </a:r>
            <a:endParaRPr b="0" i="0" sz="900" u="none" cap="none" strike="noStrike">
              <a:solidFill>
                <a:schemeClr val="dk1"/>
              </a:solidFill>
              <a:latin typeface="Calibri"/>
              <a:ea typeface="Calibri"/>
              <a:cs typeface="Calibri"/>
              <a:sym typeface="Calibri"/>
            </a:endParaRPr>
          </a:p>
        </p:txBody>
      </p:sp>
      <p:sp>
        <p:nvSpPr>
          <p:cNvPr id="367" name="Google Shape;367;p26"/>
          <p:cNvSpPr/>
          <p:nvPr/>
        </p:nvSpPr>
        <p:spPr>
          <a:xfrm>
            <a:off x="5314950" y="2352294"/>
            <a:ext cx="41148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4D"/>
              </a:buClr>
              <a:buSzPts val="900"/>
              <a:buFont typeface="Courier New"/>
              <a:buNone/>
            </a:pPr>
            <a:r>
              <a:rPr b="1" i="0" lang="en" sz="900" u="none" cap="none" strike="noStrike">
                <a:solidFill>
                  <a:srgbClr val="FFB84D"/>
                </a:solidFill>
                <a:latin typeface="Courier New"/>
                <a:ea typeface="Courier New"/>
                <a:cs typeface="Courier New"/>
                <a:sym typeface="Courier New"/>
              </a:rPr>
              <a:t>422</a:t>
            </a:r>
            <a:endParaRPr b="0" i="0" sz="900" u="none" cap="none" strike="noStrike">
              <a:solidFill>
                <a:schemeClr val="dk1"/>
              </a:solidFill>
              <a:latin typeface="Calibri"/>
              <a:ea typeface="Calibri"/>
              <a:cs typeface="Calibri"/>
              <a:sym typeface="Calibri"/>
            </a:endParaRPr>
          </a:p>
        </p:txBody>
      </p:sp>
      <p:sp>
        <p:nvSpPr>
          <p:cNvPr id="368" name="Google Shape;368;p26"/>
          <p:cNvSpPr/>
          <p:nvPr/>
        </p:nvSpPr>
        <p:spPr>
          <a:xfrm>
            <a:off x="5795010" y="2352294"/>
            <a:ext cx="267462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B2B6"/>
              </a:buClr>
              <a:buSzPts val="900"/>
              <a:buFont typeface="Calibri"/>
              <a:buNone/>
            </a:pPr>
            <a:r>
              <a:rPr b="0" i="0" lang="en" sz="900" u="none" cap="none" strike="noStrike">
                <a:solidFill>
                  <a:srgbClr val="C4B2B6"/>
                </a:solidFill>
                <a:latin typeface="Calibri"/>
                <a:ea typeface="Calibri"/>
                <a:cs typeface="Calibri"/>
                <a:sym typeface="Calibri"/>
              </a:rPr>
              <a:t>Stok tidak mencukupi</a:t>
            </a:r>
            <a:endParaRPr b="0" i="0" sz="900" u="none" cap="none" strike="noStrike">
              <a:solidFill>
                <a:schemeClr val="dk1"/>
              </a:solidFill>
              <a:latin typeface="Calibri"/>
              <a:ea typeface="Calibri"/>
              <a:cs typeface="Calibri"/>
              <a:sym typeface="Calibri"/>
            </a:endParaRPr>
          </a:p>
        </p:txBody>
      </p:sp>
      <p:sp>
        <p:nvSpPr>
          <p:cNvPr id="369" name="Google Shape;369;p26"/>
          <p:cNvSpPr/>
          <p:nvPr/>
        </p:nvSpPr>
        <p:spPr>
          <a:xfrm>
            <a:off x="5109210" y="2811780"/>
            <a:ext cx="3566160" cy="1474470"/>
          </a:xfrm>
          <a:prstGeom prst="roundRect">
            <a:avLst>
              <a:gd fmla="val 4651" name="adj"/>
            </a:avLst>
          </a:prstGeom>
          <a:solidFill>
            <a:srgbClr val="3A2A2E"/>
          </a:solidFill>
          <a:ln cap="flat" cmpd="sng" w="12700">
            <a:solidFill>
              <a:srgbClr val="3A2A2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70" name="Google Shape;370;p26"/>
          <p:cNvSpPr/>
          <p:nvPr/>
        </p:nvSpPr>
        <p:spPr>
          <a:xfrm>
            <a:off x="5314950" y="2948940"/>
            <a:ext cx="31546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533D"/>
              </a:buClr>
              <a:buSzPts val="1100"/>
              <a:buFont typeface="Calibri"/>
              <a:buNone/>
            </a:pPr>
            <a:r>
              <a:rPr b="1" i="0" lang="en" sz="1100" u="none" cap="none" strike="noStrike">
                <a:solidFill>
                  <a:srgbClr val="F5533D"/>
                </a:solidFill>
                <a:latin typeface="Calibri"/>
                <a:ea typeface="Calibri"/>
                <a:cs typeface="Calibri"/>
                <a:sym typeface="Calibri"/>
              </a:rPr>
              <a:t>Validasi &amp; Konsistensi</a:t>
            </a:r>
            <a:endParaRPr b="0" i="0" sz="1100" u="none" cap="none" strike="noStrike">
              <a:solidFill>
                <a:schemeClr val="dk1"/>
              </a:solidFill>
              <a:latin typeface="Calibri"/>
              <a:ea typeface="Calibri"/>
              <a:cs typeface="Calibri"/>
              <a:sym typeface="Calibri"/>
            </a:endParaRPr>
          </a:p>
        </p:txBody>
      </p:sp>
      <p:sp>
        <p:nvSpPr>
          <p:cNvPr id="371" name="Google Shape;371;p26"/>
          <p:cNvSpPr/>
          <p:nvPr/>
        </p:nvSpPr>
        <p:spPr>
          <a:xfrm>
            <a:off x="5314950" y="3209544"/>
            <a:ext cx="3154680" cy="960120"/>
          </a:xfrm>
          <a:prstGeom prst="rect">
            <a:avLst/>
          </a:prstGeom>
          <a:noFill/>
          <a:ln>
            <a:noFill/>
          </a:ln>
        </p:spPr>
        <p:txBody>
          <a:bodyPr anchorCtr="0" anchor="t" bIns="0" lIns="0" spcFirstLastPara="1" rIns="0" wrap="square" tIns="0">
            <a:noAutofit/>
          </a:bodyPr>
          <a:lstStyle/>
          <a:p>
            <a:pPr indent="-146050" lvl="0" marL="139700" marR="0" rtl="0" algn="l">
              <a:spcBef>
                <a:spcPts val="0"/>
              </a:spcBef>
              <a:spcAft>
                <a:spcPts val="0"/>
              </a:spcAft>
              <a:buClr>
                <a:srgbClr val="C4B2B6"/>
              </a:buClr>
              <a:buSzPts val="900"/>
              <a:buFont typeface="Calibri"/>
              <a:buChar char="•"/>
            </a:pPr>
            <a:r>
              <a:rPr b="0" i="0" lang="en" sz="900" u="none" cap="none" strike="noStrike">
                <a:solidFill>
                  <a:srgbClr val="C4B2B6"/>
                </a:solidFill>
                <a:latin typeface="Calibri"/>
                <a:ea typeface="Calibri"/>
                <a:cs typeface="Calibri"/>
                <a:sym typeface="Calibri"/>
              </a:rPr>
              <a:t>FormRequest di setiap endpoint bermuatan body</a:t>
            </a:r>
            <a:endParaRPr b="0" i="0" sz="900" u="none" cap="none" strike="noStrike">
              <a:solidFill>
                <a:schemeClr val="dk1"/>
              </a:solidFill>
              <a:latin typeface="Calibri"/>
              <a:ea typeface="Calibri"/>
              <a:cs typeface="Calibri"/>
              <a:sym typeface="Calibri"/>
            </a:endParaRPr>
          </a:p>
          <a:p>
            <a:pPr indent="-146050" lvl="0" marL="139700" marR="0" rtl="0" algn="l">
              <a:spcBef>
                <a:spcPts val="500"/>
              </a:spcBef>
              <a:spcAft>
                <a:spcPts val="0"/>
              </a:spcAft>
              <a:buClr>
                <a:srgbClr val="C4B2B6"/>
              </a:buClr>
              <a:buSzPts val="900"/>
              <a:buFont typeface="Calibri"/>
              <a:buChar char="•"/>
            </a:pPr>
            <a:r>
              <a:rPr b="0" i="0" lang="en" sz="900" u="none" cap="none" strike="noStrike">
                <a:solidFill>
                  <a:srgbClr val="C4B2B6"/>
                </a:solidFill>
                <a:latin typeface="Calibri"/>
                <a:ea typeface="Calibri"/>
                <a:cs typeface="Calibri"/>
                <a:sym typeface="Calibri"/>
              </a:rPr>
              <a:t>API Resource menyeragamkan bentuk response</a:t>
            </a:r>
            <a:endParaRPr b="0" i="0" sz="900" u="none" cap="none" strike="noStrike">
              <a:solidFill>
                <a:schemeClr val="dk1"/>
              </a:solidFill>
              <a:latin typeface="Calibri"/>
              <a:ea typeface="Calibri"/>
              <a:cs typeface="Calibri"/>
              <a:sym typeface="Calibri"/>
            </a:endParaRPr>
          </a:p>
          <a:p>
            <a:pPr indent="-146050" lvl="0" marL="139700" marR="0" rtl="0" algn="l">
              <a:spcBef>
                <a:spcPts val="500"/>
              </a:spcBef>
              <a:spcAft>
                <a:spcPts val="0"/>
              </a:spcAft>
              <a:buClr>
                <a:srgbClr val="C4B2B6"/>
              </a:buClr>
              <a:buSzPts val="900"/>
              <a:buFont typeface="Calibri"/>
              <a:buChar char="•"/>
            </a:pPr>
            <a:r>
              <a:rPr b="0" i="0" lang="en" sz="900" u="none" cap="none" strike="noStrike">
                <a:solidFill>
                  <a:srgbClr val="C4B2B6"/>
                </a:solidFill>
                <a:latin typeface="Calibri"/>
                <a:ea typeface="Calibri"/>
                <a:cs typeface="Calibri"/>
                <a:sym typeface="Calibri"/>
              </a:rPr>
              <a:t>Global exception handler → format error tunggal</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214"/>
        </a:solidFill>
      </p:bgPr>
    </p:bg>
    <p:spTree>
      <p:nvGrpSpPr>
        <p:cNvPr id="376" name="Shape 376"/>
        <p:cNvGrpSpPr/>
        <p:nvPr/>
      </p:nvGrpSpPr>
      <p:grpSpPr>
        <a:xfrm>
          <a:off x="0" y="0"/>
          <a:ext cx="0" cy="0"/>
          <a:chOff x="0" y="0"/>
          <a:chExt cx="0" cy="0"/>
        </a:xfrm>
      </p:grpSpPr>
      <p:sp>
        <p:nvSpPr>
          <p:cNvPr id="377" name="Google Shape;377;p27"/>
          <p:cNvSpPr/>
          <p:nvPr/>
        </p:nvSpPr>
        <p:spPr>
          <a:xfrm>
            <a:off x="445770" y="288036"/>
            <a:ext cx="822960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4D"/>
              </a:buClr>
              <a:buSzPts val="800"/>
              <a:buFont typeface="Calibri"/>
              <a:buNone/>
            </a:pPr>
            <a:r>
              <a:rPr b="1" i="0" lang="en" sz="800" u="none" cap="none" strike="noStrike">
                <a:solidFill>
                  <a:srgbClr val="FFB84D"/>
                </a:solidFill>
                <a:latin typeface="Calibri"/>
                <a:ea typeface="Calibri"/>
                <a:cs typeface="Calibri"/>
                <a:sym typeface="Calibri"/>
              </a:rPr>
              <a:t>ISSUE &amp; PROBLEM SOLVING</a:t>
            </a:r>
            <a:endParaRPr b="0" i="0" sz="800" u="none" cap="none" strike="noStrike">
              <a:solidFill>
                <a:schemeClr val="dk1"/>
              </a:solidFill>
              <a:latin typeface="Calibri"/>
              <a:ea typeface="Calibri"/>
              <a:cs typeface="Calibri"/>
              <a:sym typeface="Calibri"/>
            </a:endParaRPr>
          </a:p>
        </p:txBody>
      </p:sp>
      <p:sp>
        <p:nvSpPr>
          <p:cNvPr id="378" name="Google Shape;378;p27"/>
          <p:cNvSpPr/>
          <p:nvPr/>
        </p:nvSpPr>
        <p:spPr>
          <a:xfrm>
            <a:off x="445770" y="493776"/>
            <a:ext cx="8229600" cy="4251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300"/>
              <a:buFont typeface="Calibri"/>
              <a:buNone/>
            </a:pPr>
            <a:r>
              <a:rPr b="1" i="0" lang="en" sz="2300" u="none" cap="none" strike="noStrike">
                <a:solidFill>
                  <a:srgbClr val="FFFFFF"/>
                </a:solidFill>
                <a:latin typeface="Calibri"/>
                <a:ea typeface="Calibri"/>
                <a:cs typeface="Calibri"/>
                <a:sym typeface="Calibri"/>
              </a:rPr>
              <a:t>Challenge → Solution → Impact</a:t>
            </a:r>
            <a:endParaRPr b="0" i="0" sz="2300" u="none" cap="none" strike="noStrike">
              <a:solidFill>
                <a:schemeClr val="dk1"/>
              </a:solidFill>
              <a:latin typeface="Calibri"/>
              <a:ea typeface="Calibri"/>
              <a:cs typeface="Calibri"/>
              <a:sym typeface="Calibri"/>
            </a:endParaRPr>
          </a:p>
        </p:txBody>
      </p:sp>
      <p:sp>
        <p:nvSpPr>
          <p:cNvPr id="379" name="Google Shape;379;p27"/>
          <p:cNvSpPr/>
          <p:nvPr/>
        </p:nvSpPr>
        <p:spPr>
          <a:xfrm>
            <a:off x="665226" y="1179576"/>
            <a:ext cx="2331720"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7278"/>
              </a:buClr>
              <a:buSzPts val="800"/>
              <a:buFont typeface="Calibri"/>
              <a:buNone/>
            </a:pPr>
            <a:r>
              <a:rPr b="1" i="0" lang="en" sz="800" u="none" cap="none" strike="noStrike">
                <a:solidFill>
                  <a:srgbClr val="8A7278"/>
                </a:solidFill>
                <a:latin typeface="Calibri"/>
                <a:ea typeface="Calibri"/>
                <a:cs typeface="Calibri"/>
                <a:sym typeface="Calibri"/>
              </a:rPr>
              <a:t>CHALLENGE</a:t>
            </a:r>
            <a:endParaRPr b="0" i="0" sz="800" u="none" cap="none" strike="noStrike">
              <a:solidFill>
                <a:schemeClr val="dk1"/>
              </a:solidFill>
              <a:latin typeface="Calibri"/>
              <a:ea typeface="Calibri"/>
              <a:cs typeface="Calibri"/>
              <a:sym typeface="Calibri"/>
            </a:endParaRPr>
          </a:p>
        </p:txBody>
      </p:sp>
      <p:sp>
        <p:nvSpPr>
          <p:cNvPr id="380" name="Google Shape;380;p27"/>
          <p:cNvSpPr/>
          <p:nvPr/>
        </p:nvSpPr>
        <p:spPr>
          <a:xfrm>
            <a:off x="3291840" y="1179576"/>
            <a:ext cx="3154680"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7278"/>
              </a:buClr>
              <a:buSzPts val="800"/>
              <a:buFont typeface="Calibri"/>
              <a:buNone/>
            </a:pPr>
            <a:r>
              <a:rPr b="1" i="0" lang="en" sz="800" u="none" cap="none" strike="noStrike">
                <a:solidFill>
                  <a:srgbClr val="8A7278"/>
                </a:solidFill>
                <a:latin typeface="Calibri"/>
                <a:ea typeface="Calibri"/>
                <a:cs typeface="Calibri"/>
                <a:sym typeface="Calibri"/>
              </a:rPr>
              <a:t>SOLUTION</a:t>
            </a:r>
            <a:endParaRPr b="0" i="0" sz="800" u="none" cap="none" strike="noStrike">
              <a:solidFill>
                <a:schemeClr val="dk1"/>
              </a:solidFill>
              <a:latin typeface="Calibri"/>
              <a:ea typeface="Calibri"/>
              <a:cs typeface="Calibri"/>
              <a:sym typeface="Calibri"/>
            </a:endParaRPr>
          </a:p>
        </p:txBody>
      </p:sp>
      <p:sp>
        <p:nvSpPr>
          <p:cNvPr id="381" name="Google Shape;381;p27"/>
          <p:cNvSpPr/>
          <p:nvPr/>
        </p:nvSpPr>
        <p:spPr>
          <a:xfrm>
            <a:off x="6652260" y="1179576"/>
            <a:ext cx="1783080" cy="1714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7278"/>
              </a:buClr>
              <a:buSzPts val="800"/>
              <a:buFont typeface="Calibri"/>
              <a:buNone/>
            </a:pPr>
            <a:r>
              <a:rPr b="1" i="0" lang="en" sz="800" u="none" cap="none" strike="noStrike">
                <a:solidFill>
                  <a:srgbClr val="8A7278"/>
                </a:solidFill>
                <a:latin typeface="Calibri"/>
                <a:ea typeface="Calibri"/>
                <a:cs typeface="Calibri"/>
                <a:sym typeface="Calibri"/>
              </a:rPr>
              <a:t>IMPACT</a:t>
            </a:r>
            <a:endParaRPr b="0" i="0" sz="800" u="none" cap="none" strike="noStrike">
              <a:solidFill>
                <a:schemeClr val="dk1"/>
              </a:solidFill>
              <a:latin typeface="Calibri"/>
              <a:ea typeface="Calibri"/>
              <a:cs typeface="Calibri"/>
              <a:sym typeface="Calibri"/>
            </a:endParaRPr>
          </a:p>
        </p:txBody>
      </p:sp>
      <p:sp>
        <p:nvSpPr>
          <p:cNvPr id="382" name="Google Shape;382;p27"/>
          <p:cNvSpPr/>
          <p:nvPr/>
        </p:nvSpPr>
        <p:spPr>
          <a:xfrm>
            <a:off x="445770" y="1385316"/>
            <a:ext cx="8229600" cy="720090"/>
          </a:xfrm>
          <a:prstGeom prst="roundRect">
            <a:avLst>
              <a:gd fmla="val 9524" name="adj"/>
            </a:avLst>
          </a:prstGeom>
          <a:solidFill>
            <a:srgbClr val="2B1F22"/>
          </a:solidFill>
          <a:ln cap="flat" cmpd="sng" w="12700">
            <a:solidFill>
              <a:srgbClr val="2B1F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3" name="Google Shape;383;p27"/>
          <p:cNvSpPr/>
          <p:nvPr/>
        </p:nvSpPr>
        <p:spPr>
          <a:xfrm>
            <a:off x="665226" y="1385316"/>
            <a:ext cx="2468880" cy="72009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FFFFFF"/>
              </a:buClr>
              <a:buSzPts val="900"/>
              <a:buFont typeface="Calibri"/>
              <a:buNone/>
            </a:pPr>
            <a:r>
              <a:rPr b="1" i="0" lang="en" sz="900" u="none" cap="none" strike="noStrike">
                <a:solidFill>
                  <a:srgbClr val="FFFFFF"/>
                </a:solidFill>
                <a:latin typeface="Calibri"/>
                <a:ea typeface="Calibri"/>
                <a:cs typeface="Calibri"/>
                <a:sym typeface="Calibri"/>
              </a:rPr>
              <a:t>Dua pelanggan memesan porsi terakhir bersamaan</a:t>
            </a:r>
            <a:endParaRPr b="0" i="0" sz="900" u="none" cap="none" strike="noStrike">
              <a:solidFill>
                <a:schemeClr val="dk1"/>
              </a:solidFill>
              <a:latin typeface="Calibri"/>
              <a:ea typeface="Calibri"/>
              <a:cs typeface="Calibri"/>
              <a:sym typeface="Calibri"/>
            </a:endParaRPr>
          </a:p>
        </p:txBody>
      </p:sp>
      <p:sp>
        <p:nvSpPr>
          <p:cNvPr id="384" name="Google Shape;384;p27"/>
          <p:cNvSpPr/>
          <p:nvPr/>
        </p:nvSpPr>
        <p:spPr>
          <a:xfrm>
            <a:off x="3291840" y="1385316"/>
            <a:ext cx="3223260" cy="72009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C4B2B6"/>
              </a:buClr>
              <a:buSzPts val="900"/>
              <a:buFont typeface="Calibri"/>
              <a:buNone/>
            </a:pPr>
            <a:r>
              <a:rPr b="0" i="0" lang="en" sz="900" u="none" cap="none" strike="noStrike">
                <a:solidFill>
                  <a:srgbClr val="C4B2B6"/>
                </a:solidFill>
                <a:latin typeface="Calibri"/>
                <a:ea typeface="Calibri"/>
                <a:cs typeface="Calibri"/>
                <a:sym typeface="Calibri"/>
              </a:rPr>
              <a:t>DB transaction + lockForUpdate pada baris produk, dikunci berurutan menurut id agar tidak terjadi deadlock</a:t>
            </a:r>
            <a:endParaRPr b="0" i="0" sz="900" u="none" cap="none" strike="noStrike">
              <a:solidFill>
                <a:schemeClr val="dk1"/>
              </a:solidFill>
              <a:latin typeface="Calibri"/>
              <a:ea typeface="Calibri"/>
              <a:cs typeface="Calibri"/>
              <a:sym typeface="Calibri"/>
            </a:endParaRPr>
          </a:p>
        </p:txBody>
      </p:sp>
      <p:sp>
        <p:nvSpPr>
          <p:cNvPr id="385" name="Google Shape;385;p27"/>
          <p:cNvSpPr/>
          <p:nvPr/>
        </p:nvSpPr>
        <p:spPr>
          <a:xfrm>
            <a:off x="6652260" y="1385316"/>
            <a:ext cx="1851660" cy="72009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FFB84D"/>
              </a:buClr>
              <a:buSzPts val="900"/>
              <a:buFont typeface="Calibri"/>
              <a:buNone/>
            </a:pPr>
            <a:r>
              <a:rPr b="0" i="0" lang="en" sz="900" u="none" cap="none" strike="noStrike">
                <a:solidFill>
                  <a:srgbClr val="FFB84D"/>
                </a:solidFill>
                <a:latin typeface="Calibri"/>
                <a:ea typeface="Calibri"/>
                <a:cs typeface="Calibri"/>
                <a:sym typeface="Calibri"/>
              </a:rPr>
              <a:t>Stok tidak pernah minus</a:t>
            </a:r>
            <a:endParaRPr b="0" i="0" sz="900" u="none" cap="none" strike="noStrike">
              <a:solidFill>
                <a:schemeClr val="dk1"/>
              </a:solidFill>
              <a:latin typeface="Calibri"/>
              <a:ea typeface="Calibri"/>
              <a:cs typeface="Calibri"/>
              <a:sym typeface="Calibri"/>
            </a:endParaRPr>
          </a:p>
        </p:txBody>
      </p:sp>
      <p:sp>
        <p:nvSpPr>
          <p:cNvPr id="386" name="Google Shape;386;p27"/>
          <p:cNvSpPr/>
          <p:nvPr/>
        </p:nvSpPr>
        <p:spPr>
          <a:xfrm>
            <a:off x="445770" y="2173986"/>
            <a:ext cx="8229600" cy="720090"/>
          </a:xfrm>
          <a:prstGeom prst="roundRect">
            <a:avLst>
              <a:gd fmla="val 9524" name="adj"/>
            </a:avLst>
          </a:prstGeom>
          <a:solidFill>
            <a:srgbClr val="3A2A2E"/>
          </a:solidFill>
          <a:ln cap="flat" cmpd="sng" w="12700">
            <a:solidFill>
              <a:srgbClr val="3A2A2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7" name="Google Shape;387;p27"/>
          <p:cNvSpPr/>
          <p:nvPr/>
        </p:nvSpPr>
        <p:spPr>
          <a:xfrm>
            <a:off x="665226" y="2173986"/>
            <a:ext cx="2468880" cy="72009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FFFFFF"/>
              </a:buClr>
              <a:buSzPts val="900"/>
              <a:buFont typeface="Calibri"/>
              <a:buNone/>
            </a:pPr>
            <a:r>
              <a:rPr b="1" i="0" lang="en" sz="900" u="none" cap="none" strike="noStrike">
                <a:solidFill>
                  <a:srgbClr val="FFFFFF"/>
                </a:solidFill>
                <a:latin typeface="Calibri"/>
                <a:ea typeface="Calibri"/>
                <a:cs typeface="Calibri"/>
                <a:sym typeface="Calibri"/>
              </a:rPr>
              <a:t>Nomor antrean harus unik dan reset tiap hari operasional</a:t>
            </a:r>
            <a:endParaRPr b="0" i="0" sz="900" u="none" cap="none" strike="noStrike">
              <a:solidFill>
                <a:schemeClr val="dk1"/>
              </a:solidFill>
              <a:latin typeface="Calibri"/>
              <a:ea typeface="Calibri"/>
              <a:cs typeface="Calibri"/>
              <a:sym typeface="Calibri"/>
            </a:endParaRPr>
          </a:p>
        </p:txBody>
      </p:sp>
      <p:sp>
        <p:nvSpPr>
          <p:cNvPr id="388" name="Google Shape;388;p27"/>
          <p:cNvSpPr/>
          <p:nvPr/>
        </p:nvSpPr>
        <p:spPr>
          <a:xfrm>
            <a:off x="3291840" y="2173986"/>
            <a:ext cx="3223260" cy="72009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C4B2B6"/>
              </a:buClr>
              <a:buSzPts val="900"/>
              <a:buFont typeface="Calibri"/>
              <a:buNone/>
            </a:pPr>
            <a:r>
              <a:rPr b="0" i="0" lang="en" sz="900" u="none" cap="none" strike="noStrike">
                <a:solidFill>
                  <a:srgbClr val="C4B2B6"/>
                </a:solidFill>
                <a:latin typeface="Calibri"/>
                <a:ea typeface="Calibri"/>
                <a:cs typeface="Calibri"/>
                <a:sym typeface="Calibri"/>
              </a:rPr>
              <a:t>Nomor digenerate di dalam transaksi yang sama, dijamin unique index (business_date, queue_number)</a:t>
            </a:r>
            <a:endParaRPr b="0" i="0" sz="900" u="none" cap="none" strike="noStrike">
              <a:solidFill>
                <a:schemeClr val="dk1"/>
              </a:solidFill>
              <a:latin typeface="Calibri"/>
              <a:ea typeface="Calibri"/>
              <a:cs typeface="Calibri"/>
              <a:sym typeface="Calibri"/>
            </a:endParaRPr>
          </a:p>
        </p:txBody>
      </p:sp>
      <p:sp>
        <p:nvSpPr>
          <p:cNvPr id="389" name="Google Shape;389;p27"/>
          <p:cNvSpPr/>
          <p:nvPr/>
        </p:nvSpPr>
        <p:spPr>
          <a:xfrm>
            <a:off x="6652260" y="2173986"/>
            <a:ext cx="1851660" cy="72009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FFB84D"/>
              </a:buClr>
              <a:buSzPts val="900"/>
              <a:buFont typeface="Calibri"/>
              <a:buNone/>
            </a:pPr>
            <a:r>
              <a:rPr b="0" i="0" lang="en" sz="900" u="none" cap="none" strike="noStrike">
                <a:solidFill>
                  <a:srgbClr val="FFB84D"/>
                </a:solidFill>
                <a:latin typeface="Calibri"/>
                <a:ea typeface="Calibri"/>
                <a:cs typeface="Calibri"/>
                <a:sym typeface="Calibri"/>
              </a:rPr>
              <a:t>Tidak ada nomor ganda di jam ramai</a:t>
            </a:r>
            <a:endParaRPr b="0" i="0" sz="900" u="none" cap="none" strike="noStrike">
              <a:solidFill>
                <a:schemeClr val="dk1"/>
              </a:solidFill>
              <a:latin typeface="Calibri"/>
              <a:ea typeface="Calibri"/>
              <a:cs typeface="Calibri"/>
              <a:sym typeface="Calibri"/>
            </a:endParaRPr>
          </a:p>
        </p:txBody>
      </p:sp>
      <p:sp>
        <p:nvSpPr>
          <p:cNvPr id="390" name="Google Shape;390;p27"/>
          <p:cNvSpPr/>
          <p:nvPr/>
        </p:nvSpPr>
        <p:spPr>
          <a:xfrm>
            <a:off x="445770" y="2962656"/>
            <a:ext cx="8229600" cy="720090"/>
          </a:xfrm>
          <a:prstGeom prst="roundRect">
            <a:avLst>
              <a:gd fmla="val 9524" name="adj"/>
            </a:avLst>
          </a:prstGeom>
          <a:solidFill>
            <a:srgbClr val="2B1F22"/>
          </a:solidFill>
          <a:ln cap="flat" cmpd="sng" w="12700">
            <a:solidFill>
              <a:srgbClr val="2B1F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91" name="Google Shape;391;p27"/>
          <p:cNvSpPr/>
          <p:nvPr/>
        </p:nvSpPr>
        <p:spPr>
          <a:xfrm>
            <a:off x="665226" y="2962656"/>
            <a:ext cx="2468880" cy="72009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FFFFFF"/>
              </a:buClr>
              <a:buSzPts val="900"/>
              <a:buFont typeface="Calibri"/>
              <a:buNone/>
            </a:pPr>
            <a:r>
              <a:rPr b="1" i="0" lang="en" sz="900" u="none" cap="none" strike="noStrike">
                <a:solidFill>
                  <a:srgbClr val="FFFFFF"/>
                </a:solidFill>
                <a:latin typeface="Calibri"/>
                <a:ea typeface="Calibri"/>
                <a:cs typeface="Calibri"/>
                <a:sym typeface="Calibri"/>
              </a:rPr>
              <a:t>Pembatalan pesanan membuat stok tidak sinkron</a:t>
            </a:r>
            <a:endParaRPr b="0" i="0" sz="900" u="none" cap="none" strike="noStrike">
              <a:solidFill>
                <a:schemeClr val="dk1"/>
              </a:solidFill>
              <a:latin typeface="Calibri"/>
              <a:ea typeface="Calibri"/>
              <a:cs typeface="Calibri"/>
              <a:sym typeface="Calibri"/>
            </a:endParaRPr>
          </a:p>
        </p:txBody>
      </p:sp>
      <p:sp>
        <p:nvSpPr>
          <p:cNvPr id="392" name="Google Shape;392;p27"/>
          <p:cNvSpPr/>
          <p:nvPr/>
        </p:nvSpPr>
        <p:spPr>
          <a:xfrm>
            <a:off x="3291840" y="2962656"/>
            <a:ext cx="3223260" cy="72009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C4B2B6"/>
              </a:buClr>
              <a:buSzPts val="900"/>
              <a:buFont typeface="Calibri"/>
              <a:buNone/>
            </a:pPr>
            <a:r>
              <a:rPr b="0" i="0" lang="en" sz="900" u="none" cap="none" strike="noStrike">
                <a:solidFill>
                  <a:srgbClr val="C4B2B6"/>
                </a:solidFill>
                <a:latin typeface="Calibri"/>
                <a:ea typeface="Calibri"/>
                <a:cs typeface="Calibri"/>
                <a:sym typeface="Calibri"/>
              </a:rPr>
              <a:t>stock_movements sebagai ledger; kolom stock hanya cache yang bisa direkonsiliasi kapan saja</a:t>
            </a:r>
            <a:endParaRPr b="0" i="0" sz="900" u="none" cap="none" strike="noStrike">
              <a:solidFill>
                <a:schemeClr val="dk1"/>
              </a:solidFill>
              <a:latin typeface="Calibri"/>
              <a:ea typeface="Calibri"/>
              <a:cs typeface="Calibri"/>
              <a:sym typeface="Calibri"/>
            </a:endParaRPr>
          </a:p>
        </p:txBody>
      </p:sp>
      <p:sp>
        <p:nvSpPr>
          <p:cNvPr id="393" name="Google Shape;393;p27"/>
          <p:cNvSpPr/>
          <p:nvPr/>
        </p:nvSpPr>
        <p:spPr>
          <a:xfrm>
            <a:off x="6652260" y="2962656"/>
            <a:ext cx="1851660" cy="72009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FFB84D"/>
              </a:buClr>
              <a:buSzPts val="900"/>
              <a:buFont typeface="Calibri"/>
              <a:buNone/>
            </a:pPr>
            <a:r>
              <a:rPr b="0" i="0" lang="en" sz="900" u="none" cap="none" strike="noStrike">
                <a:solidFill>
                  <a:srgbClr val="FFB84D"/>
                </a:solidFill>
                <a:latin typeface="Calibri"/>
                <a:ea typeface="Calibri"/>
                <a:cs typeface="Calibri"/>
                <a:sym typeface="Calibri"/>
              </a:rPr>
              <a:t>Setiap perubahan stok bisa ditelusuri</a:t>
            </a:r>
            <a:endParaRPr b="0" i="0" sz="900" u="none" cap="none" strike="noStrike">
              <a:solidFill>
                <a:schemeClr val="dk1"/>
              </a:solidFill>
              <a:latin typeface="Calibri"/>
              <a:ea typeface="Calibri"/>
              <a:cs typeface="Calibri"/>
              <a:sym typeface="Calibri"/>
            </a:endParaRPr>
          </a:p>
        </p:txBody>
      </p:sp>
      <p:sp>
        <p:nvSpPr>
          <p:cNvPr id="394" name="Google Shape;394;p27"/>
          <p:cNvSpPr/>
          <p:nvPr/>
        </p:nvSpPr>
        <p:spPr>
          <a:xfrm>
            <a:off x="445770" y="3751326"/>
            <a:ext cx="8229600" cy="720090"/>
          </a:xfrm>
          <a:prstGeom prst="roundRect">
            <a:avLst>
              <a:gd fmla="val 9524" name="adj"/>
            </a:avLst>
          </a:prstGeom>
          <a:solidFill>
            <a:srgbClr val="3A2A2E"/>
          </a:solidFill>
          <a:ln cap="flat" cmpd="sng" w="12700">
            <a:solidFill>
              <a:srgbClr val="3A2A2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95" name="Google Shape;395;p27"/>
          <p:cNvSpPr/>
          <p:nvPr/>
        </p:nvSpPr>
        <p:spPr>
          <a:xfrm>
            <a:off x="665226" y="3751326"/>
            <a:ext cx="2468880" cy="72009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FFFFFF"/>
              </a:buClr>
              <a:buSzPts val="900"/>
              <a:buFont typeface="Calibri"/>
              <a:buNone/>
            </a:pPr>
            <a:r>
              <a:rPr b="1" i="0" lang="en" sz="900" u="none" cap="none" strike="noStrike">
                <a:solidFill>
                  <a:srgbClr val="FFFFFF"/>
                </a:solidFill>
                <a:latin typeface="Calibri"/>
                <a:ea typeface="Calibri"/>
                <a:cs typeface="Calibri"/>
                <a:sym typeface="Calibri"/>
              </a:rPr>
              <a:t>Pelanggan harus tahu pesanannya siap tanpa refresh manual</a:t>
            </a:r>
            <a:endParaRPr b="0" i="0" sz="900" u="none" cap="none" strike="noStrike">
              <a:solidFill>
                <a:schemeClr val="dk1"/>
              </a:solidFill>
              <a:latin typeface="Calibri"/>
              <a:ea typeface="Calibri"/>
              <a:cs typeface="Calibri"/>
              <a:sym typeface="Calibri"/>
            </a:endParaRPr>
          </a:p>
        </p:txBody>
      </p:sp>
      <p:sp>
        <p:nvSpPr>
          <p:cNvPr id="396" name="Google Shape;396;p27"/>
          <p:cNvSpPr/>
          <p:nvPr/>
        </p:nvSpPr>
        <p:spPr>
          <a:xfrm>
            <a:off x="3291840" y="3751326"/>
            <a:ext cx="3223260" cy="72009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C4B2B6"/>
              </a:buClr>
              <a:buSzPts val="900"/>
              <a:buFont typeface="Calibri"/>
              <a:buNone/>
            </a:pPr>
            <a:r>
              <a:rPr b="0" i="0" lang="en" sz="900" u="none" cap="none" strike="noStrike">
                <a:solidFill>
                  <a:srgbClr val="C4B2B6"/>
                </a:solidFill>
                <a:latin typeface="Calibri"/>
                <a:ea typeface="Calibri"/>
                <a:cs typeface="Calibri"/>
                <a:sym typeface="Calibri"/>
              </a:rPr>
              <a:t>Polling terjadwal via TanStack Query + endpoint status ringan, invalidasi cache saat status berubah</a:t>
            </a:r>
            <a:endParaRPr b="0" i="0" sz="900" u="none" cap="none" strike="noStrike">
              <a:solidFill>
                <a:schemeClr val="dk1"/>
              </a:solidFill>
              <a:latin typeface="Calibri"/>
              <a:ea typeface="Calibri"/>
              <a:cs typeface="Calibri"/>
              <a:sym typeface="Calibri"/>
            </a:endParaRPr>
          </a:p>
        </p:txBody>
      </p:sp>
      <p:sp>
        <p:nvSpPr>
          <p:cNvPr id="397" name="Google Shape;397;p27"/>
          <p:cNvSpPr/>
          <p:nvPr/>
        </p:nvSpPr>
        <p:spPr>
          <a:xfrm>
            <a:off x="6652260" y="3751326"/>
            <a:ext cx="1851660" cy="72009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FFB84D"/>
              </a:buClr>
              <a:buSzPts val="900"/>
              <a:buFont typeface="Calibri"/>
              <a:buNone/>
            </a:pPr>
            <a:r>
              <a:rPr b="0" i="0" lang="en" sz="900" u="none" cap="none" strike="noStrike">
                <a:solidFill>
                  <a:srgbClr val="FFB84D"/>
                </a:solidFill>
                <a:latin typeface="Calibri"/>
                <a:ea typeface="Calibri"/>
                <a:cs typeface="Calibri"/>
                <a:sym typeface="Calibri"/>
              </a:rPr>
              <a:t>Status terlihat tanpa aksi pelanggan</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214"/>
        </a:solidFill>
      </p:bgPr>
    </p:bg>
    <p:spTree>
      <p:nvGrpSpPr>
        <p:cNvPr id="402" name="Shape 402"/>
        <p:cNvGrpSpPr/>
        <p:nvPr/>
      </p:nvGrpSpPr>
      <p:grpSpPr>
        <a:xfrm>
          <a:off x="0" y="0"/>
          <a:ext cx="0" cy="0"/>
          <a:chOff x="0" y="0"/>
          <a:chExt cx="0" cy="0"/>
        </a:xfrm>
      </p:grpSpPr>
      <p:sp>
        <p:nvSpPr>
          <p:cNvPr id="403" name="Google Shape;403;p28"/>
          <p:cNvSpPr/>
          <p:nvPr/>
        </p:nvSpPr>
        <p:spPr>
          <a:xfrm>
            <a:off x="445770" y="288036"/>
            <a:ext cx="822960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4D"/>
              </a:buClr>
              <a:buSzPts val="800"/>
              <a:buFont typeface="Calibri"/>
              <a:buNone/>
            </a:pPr>
            <a:r>
              <a:rPr b="1" i="0" lang="en" sz="800" u="none" cap="none" strike="noStrike">
                <a:solidFill>
                  <a:srgbClr val="FFB84D"/>
                </a:solidFill>
                <a:latin typeface="Calibri"/>
                <a:ea typeface="Calibri"/>
                <a:cs typeface="Calibri"/>
                <a:sym typeface="Calibri"/>
              </a:rPr>
              <a:t>PROSES DEVELOPMENT</a:t>
            </a:r>
            <a:endParaRPr b="0" i="0" sz="800" u="none" cap="none" strike="noStrike">
              <a:solidFill>
                <a:schemeClr val="dk1"/>
              </a:solidFill>
              <a:latin typeface="Calibri"/>
              <a:ea typeface="Calibri"/>
              <a:cs typeface="Calibri"/>
              <a:sym typeface="Calibri"/>
            </a:endParaRPr>
          </a:p>
        </p:txBody>
      </p:sp>
      <p:sp>
        <p:nvSpPr>
          <p:cNvPr id="404" name="Google Shape;404;p28"/>
          <p:cNvSpPr/>
          <p:nvPr/>
        </p:nvSpPr>
        <p:spPr>
          <a:xfrm>
            <a:off x="445770" y="493776"/>
            <a:ext cx="8229600" cy="4251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300"/>
              <a:buFont typeface="Calibri"/>
              <a:buNone/>
            </a:pPr>
            <a:r>
              <a:rPr b="1" i="0" lang="en" sz="2300" u="none" cap="none" strike="noStrike">
                <a:solidFill>
                  <a:srgbClr val="FFFFFF"/>
                </a:solidFill>
                <a:latin typeface="Calibri"/>
                <a:ea typeface="Calibri"/>
                <a:cs typeface="Calibri"/>
                <a:sym typeface="Calibri"/>
              </a:rPr>
              <a:t>Empat Fase Pengerjaan</a:t>
            </a:r>
            <a:endParaRPr b="0" i="0" sz="2300" u="none" cap="none" strike="noStrike">
              <a:solidFill>
                <a:schemeClr val="dk1"/>
              </a:solidFill>
              <a:latin typeface="Calibri"/>
              <a:ea typeface="Calibri"/>
              <a:cs typeface="Calibri"/>
              <a:sym typeface="Calibri"/>
            </a:endParaRPr>
          </a:p>
        </p:txBody>
      </p:sp>
      <p:sp>
        <p:nvSpPr>
          <p:cNvPr id="405" name="Google Shape;405;p28"/>
          <p:cNvSpPr/>
          <p:nvPr/>
        </p:nvSpPr>
        <p:spPr>
          <a:xfrm>
            <a:off x="445770" y="1474470"/>
            <a:ext cx="1954530" cy="2331720"/>
          </a:xfrm>
          <a:prstGeom prst="roundRect">
            <a:avLst>
              <a:gd fmla="val 3509" name="adj"/>
            </a:avLst>
          </a:prstGeom>
          <a:solidFill>
            <a:srgbClr val="2B1F22"/>
          </a:solidFill>
          <a:ln cap="flat" cmpd="sng" w="12700">
            <a:solidFill>
              <a:srgbClr val="2B1F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6" name="Google Shape;406;p28"/>
          <p:cNvSpPr/>
          <p:nvPr/>
        </p:nvSpPr>
        <p:spPr>
          <a:xfrm>
            <a:off x="1258443" y="1303020"/>
            <a:ext cx="329184" cy="329184"/>
          </a:xfrm>
          <a:prstGeom prst="ellipse">
            <a:avLst/>
          </a:prstGeom>
          <a:solidFill>
            <a:srgbClr val="FFB84D"/>
          </a:solidFill>
          <a:ln cap="flat" cmpd="sng" w="38100">
            <a:solidFill>
              <a:srgbClr val="1A121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7" name="Google Shape;407;p28"/>
          <p:cNvSpPr/>
          <p:nvPr/>
        </p:nvSpPr>
        <p:spPr>
          <a:xfrm>
            <a:off x="1258443" y="1303020"/>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214"/>
              </a:buClr>
              <a:buSzPts val="1100"/>
              <a:buFont typeface="Calibri"/>
              <a:buNone/>
            </a:pPr>
            <a:r>
              <a:rPr b="1" i="0" lang="en" sz="1100" u="none" cap="none" strike="noStrike">
                <a:solidFill>
                  <a:srgbClr val="1A1214"/>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
        <p:nvSpPr>
          <p:cNvPr id="408" name="Google Shape;408;p28"/>
          <p:cNvSpPr/>
          <p:nvPr/>
        </p:nvSpPr>
        <p:spPr>
          <a:xfrm>
            <a:off x="637794" y="1783080"/>
            <a:ext cx="1570482"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4D"/>
              </a:buClr>
              <a:buSzPts val="800"/>
              <a:buFont typeface="Calibri"/>
              <a:buNone/>
            </a:pPr>
            <a:r>
              <a:rPr b="1" i="0" lang="en" sz="800" u="none" cap="none" strike="noStrike">
                <a:solidFill>
                  <a:srgbClr val="FFB84D"/>
                </a:solidFill>
                <a:latin typeface="Calibri"/>
                <a:ea typeface="Calibri"/>
                <a:cs typeface="Calibri"/>
                <a:sym typeface="Calibri"/>
              </a:rPr>
              <a:t>Minggu 1</a:t>
            </a:r>
            <a:endParaRPr b="0" i="0" sz="800" u="none" cap="none" strike="noStrike">
              <a:solidFill>
                <a:schemeClr val="dk1"/>
              </a:solidFill>
              <a:latin typeface="Calibri"/>
              <a:ea typeface="Calibri"/>
              <a:cs typeface="Calibri"/>
              <a:sym typeface="Calibri"/>
            </a:endParaRPr>
          </a:p>
        </p:txBody>
      </p:sp>
      <p:sp>
        <p:nvSpPr>
          <p:cNvPr id="409" name="Google Shape;409;p28"/>
          <p:cNvSpPr/>
          <p:nvPr/>
        </p:nvSpPr>
        <p:spPr>
          <a:xfrm>
            <a:off x="637794" y="1988820"/>
            <a:ext cx="1570482" cy="2606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Fondasi</a:t>
            </a:r>
            <a:endParaRPr b="0" i="0" sz="1100" u="none" cap="none" strike="noStrike">
              <a:solidFill>
                <a:schemeClr val="dk1"/>
              </a:solidFill>
              <a:latin typeface="Calibri"/>
              <a:ea typeface="Calibri"/>
              <a:cs typeface="Calibri"/>
              <a:sym typeface="Calibri"/>
            </a:endParaRPr>
          </a:p>
        </p:txBody>
      </p:sp>
      <p:sp>
        <p:nvSpPr>
          <p:cNvPr id="410" name="Google Shape;410;p28"/>
          <p:cNvSpPr/>
          <p:nvPr/>
        </p:nvSpPr>
        <p:spPr>
          <a:xfrm>
            <a:off x="637794" y="2297430"/>
            <a:ext cx="1570482" cy="1303020"/>
          </a:xfrm>
          <a:prstGeom prst="rect">
            <a:avLst/>
          </a:prstGeom>
          <a:noFill/>
          <a:ln>
            <a:noFill/>
          </a:ln>
        </p:spPr>
        <p:txBody>
          <a:bodyPr anchorCtr="0" anchor="t" bIns="0" lIns="0" spcFirstLastPara="1" rIns="0" wrap="square" tIns="0">
            <a:noAutofit/>
          </a:bodyPr>
          <a:lstStyle/>
          <a:p>
            <a:pPr indent="0" lvl="0" marL="0" marR="0" rtl="0" algn="l">
              <a:lnSpc>
                <a:spcPct val="130434"/>
              </a:lnSpc>
              <a:spcBef>
                <a:spcPts val="0"/>
              </a:spcBef>
              <a:spcAft>
                <a:spcPts val="0"/>
              </a:spcAft>
              <a:buClr>
                <a:srgbClr val="C4B2B6"/>
              </a:buClr>
              <a:buSzPts val="900"/>
              <a:buFont typeface="Calibri"/>
              <a:buNone/>
            </a:pPr>
            <a:r>
              <a:rPr lang="en" sz="900">
                <a:solidFill>
                  <a:srgbClr val="C4B2B6"/>
                </a:solidFill>
                <a:latin typeface="Calibri"/>
                <a:ea typeface="Calibri"/>
                <a:cs typeface="Calibri"/>
                <a:sym typeface="Calibri"/>
              </a:rPr>
              <a:t>Database Migration / Schema Versioning, Database Migration / Schema Versioning, Stateless Security / JWT Authentication, Method Security / RBAC Guard, Spring MVC + Spring Data JPA CRUD Service</a:t>
            </a:r>
            <a:endParaRPr b="0" i="0" sz="900" u="none" cap="none" strike="noStrike">
              <a:solidFill>
                <a:schemeClr val="dk1"/>
              </a:solidFill>
              <a:latin typeface="Calibri"/>
              <a:ea typeface="Calibri"/>
              <a:cs typeface="Calibri"/>
              <a:sym typeface="Calibri"/>
            </a:endParaRPr>
          </a:p>
        </p:txBody>
      </p:sp>
      <p:sp>
        <p:nvSpPr>
          <p:cNvPr id="411" name="Google Shape;411;p28"/>
          <p:cNvSpPr/>
          <p:nvPr/>
        </p:nvSpPr>
        <p:spPr>
          <a:xfrm>
            <a:off x="2537460" y="1474470"/>
            <a:ext cx="1954530" cy="2331720"/>
          </a:xfrm>
          <a:prstGeom prst="roundRect">
            <a:avLst>
              <a:gd fmla="val 3509" name="adj"/>
            </a:avLst>
          </a:prstGeom>
          <a:solidFill>
            <a:srgbClr val="2B1F22"/>
          </a:solidFill>
          <a:ln cap="flat" cmpd="sng" w="12700">
            <a:solidFill>
              <a:srgbClr val="2B1F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12" name="Google Shape;412;p28"/>
          <p:cNvSpPr/>
          <p:nvPr/>
        </p:nvSpPr>
        <p:spPr>
          <a:xfrm>
            <a:off x="3350133" y="1303020"/>
            <a:ext cx="329184" cy="329184"/>
          </a:xfrm>
          <a:prstGeom prst="ellipse">
            <a:avLst/>
          </a:prstGeom>
          <a:solidFill>
            <a:srgbClr val="FFB84D"/>
          </a:solidFill>
          <a:ln cap="flat" cmpd="sng" w="38100">
            <a:solidFill>
              <a:srgbClr val="1A121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13" name="Google Shape;413;p28"/>
          <p:cNvSpPr/>
          <p:nvPr/>
        </p:nvSpPr>
        <p:spPr>
          <a:xfrm>
            <a:off x="3350133" y="1303020"/>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214"/>
              </a:buClr>
              <a:buSzPts val="1100"/>
              <a:buFont typeface="Calibri"/>
              <a:buNone/>
            </a:pPr>
            <a:r>
              <a:rPr b="1" i="0" lang="en" sz="1100" u="none" cap="none" strike="noStrike">
                <a:solidFill>
                  <a:srgbClr val="1A1214"/>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sp>
        <p:nvSpPr>
          <p:cNvPr id="414" name="Google Shape;414;p28"/>
          <p:cNvSpPr/>
          <p:nvPr/>
        </p:nvSpPr>
        <p:spPr>
          <a:xfrm>
            <a:off x="2729484" y="1783080"/>
            <a:ext cx="1570482"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4D"/>
              </a:buClr>
              <a:buSzPts val="800"/>
              <a:buFont typeface="Calibri"/>
              <a:buNone/>
            </a:pPr>
            <a:r>
              <a:rPr b="1" i="0" lang="en" sz="800" u="none" cap="none" strike="noStrike">
                <a:solidFill>
                  <a:srgbClr val="FFB84D"/>
                </a:solidFill>
                <a:latin typeface="Calibri"/>
                <a:ea typeface="Calibri"/>
                <a:cs typeface="Calibri"/>
                <a:sym typeface="Calibri"/>
              </a:rPr>
              <a:t>Minggu 2</a:t>
            </a:r>
            <a:endParaRPr b="0" i="0" sz="800" u="none" cap="none" strike="noStrike">
              <a:solidFill>
                <a:schemeClr val="dk1"/>
              </a:solidFill>
              <a:latin typeface="Calibri"/>
              <a:ea typeface="Calibri"/>
              <a:cs typeface="Calibri"/>
              <a:sym typeface="Calibri"/>
            </a:endParaRPr>
          </a:p>
        </p:txBody>
      </p:sp>
      <p:sp>
        <p:nvSpPr>
          <p:cNvPr id="415" name="Google Shape;415;p28"/>
          <p:cNvSpPr/>
          <p:nvPr/>
        </p:nvSpPr>
        <p:spPr>
          <a:xfrm>
            <a:off x="2729484" y="1988820"/>
            <a:ext cx="1570482" cy="2606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Transaksi</a:t>
            </a:r>
            <a:endParaRPr b="0" i="0" sz="1100" u="none" cap="none" strike="noStrike">
              <a:solidFill>
                <a:schemeClr val="dk1"/>
              </a:solidFill>
              <a:latin typeface="Calibri"/>
              <a:ea typeface="Calibri"/>
              <a:cs typeface="Calibri"/>
              <a:sym typeface="Calibri"/>
            </a:endParaRPr>
          </a:p>
        </p:txBody>
      </p:sp>
      <p:sp>
        <p:nvSpPr>
          <p:cNvPr id="416" name="Google Shape;416;p28"/>
          <p:cNvSpPr/>
          <p:nvPr/>
        </p:nvSpPr>
        <p:spPr>
          <a:xfrm>
            <a:off x="2729484" y="2297430"/>
            <a:ext cx="1570482" cy="1303020"/>
          </a:xfrm>
          <a:prstGeom prst="rect">
            <a:avLst/>
          </a:prstGeom>
          <a:noFill/>
          <a:ln>
            <a:noFill/>
          </a:ln>
        </p:spPr>
        <p:txBody>
          <a:bodyPr anchorCtr="0" anchor="t" bIns="0" lIns="0" spcFirstLastPara="1" rIns="0" wrap="square" tIns="0">
            <a:noAutofit/>
          </a:bodyPr>
          <a:lstStyle/>
          <a:p>
            <a:pPr indent="0" lvl="0" marL="0" marR="0" rtl="0" algn="l">
              <a:lnSpc>
                <a:spcPct val="130434"/>
              </a:lnSpc>
              <a:spcBef>
                <a:spcPts val="0"/>
              </a:spcBef>
              <a:spcAft>
                <a:spcPts val="0"/>
              </a:spcAft>
              <a:buClr>
                <a:srgbClr val="C4B2B6"/>
              </a:buClr>
              <a:buSzPts val="900"/>
              <a:buFont typeface="Calibri"/>
              <a:buNone/>
            </a:pPr>
            <a:r>
              <a:rPr b="0" i="0" lang="en" sz="900" u="none" cap="none" strike="noStrike">
                <a:solidFill>
                  <a:srgbClr val="C4B2B6"/>
                </a:solidFill>
                <a:latin typeface="Calibri"/>
                <a:ea typeface="Calibri"/>
                <a:cs typeface="Calibri"/>
                <a:sym typeface="Calibri"/>
              </a:rPr>
              <a:t>StockService + ledger, QueueService, OrderService dengan lock, endpoint checkout &amp; status, unit test stok</a:t>
            </a:r>
            <a:endParaRPr b="0" i="0" sz="900" u="none" cap="none" strike="noStrike">
              <a:solidFill>
                <a:schemeClr val="dk1"/>
              </a:solidFill>
              <a:latin typeface="Calibri"/>
              <a:ea typeface="Calibri"/>
              <a:cs typeface="Calibri"/>
              <a:sym typeface="Calibri"/>
            </a:endParaRPr>
          </a:p>
        </p:txBody>
      </p:sp>
      <p:sp>
        <p:nvSpPr>
          <p:cNvPr id="417" name="Google Shape;417;p28"/>
          <p:cNvSpPr/>
          <p:nvPr/>
        </p:nvSpPr>
        <p:spPr>
          <a:xfrm>
            <a:off x="4629150" y="1474470"/>
            <a:ext cx="1954530" cy="2331720"/>
          </a:xfrm>
          <a:prstGeom prst="roundRect">
            <a:avLst>
              <a:gd fmla="val 3509" name="adj"/>
            </a:avLst>
          </a:prstGeom>
          <a:solidFill>
            <a:srgbClr val="2B1F22"/>
          </a:solidFill>
          <a:ln cap="flat" cmpd="sng" w="12700">
            <a:solidFill>
              <a:srgbClr val="2B1F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18" name="Google Shape;418;p28"/>
          <p:cNvSpPr/>
          <p:nvPr/>
        </p:nvSpPr>
        <p:spPr>
          <a:xfrm>
            <a:off x="5441823" y="1303020"/>
            <a:ext cx="329184" cy="329184"/>
          </a:xfrm>
          <a:prstGeom prst="ellipse">
            <a:avLst/>
          </a:prstGeom>
          <a:solidFill>
            <a:srgbClr val="FFB84D"/>
          </a:solidFill>
          <a:ln cap="flat" cmpd="sng" w="38100">
            <a:solidFill>
              <a:srgbClr val="1A121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19" name="Google Shape;419;p28"/>
          <p:cNvSpPr/>
          <p:nvPr/>
        </p:nvSpPr>
        <p:spPr>
          <a:xfrm>
            <a:off x="5441823" y="1303020"/>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214"/>
              </a:buClr>
              <a:buSzPts val="1100"/>
              <a:buFont typeface="Calibri"/>
              <a:buNone/>
            </a:pPr>
            <a:r>
              <a:rPr b="1" i="0" lang="en" sz="1100" u="none" cap="none" strike="noStrike">
                <a:solidFill>
                  <a:srgbClr val="1A1214"/>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
        <p:nvSpPr>
          <p:cNvPr id="420" name="Google Shape;420;p28"/>
          <p:cNvSpPr/>
          <p:nvPr/>
        </p:nvSpPr>
        <p:spPr>
          <a:xfrm>
            <a:off x="4821174" y="1783080"/>
            <a:ext cx="1570482"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4D"/>
              </a:buClr>
              <a:buSzPts val="800"/>
              <a:buFont typeface="Calibri"/>
              <a:buNone/>
            </a:pPr>
            <a:r>
              <a:rPr b="1" i="0" lang="en" sz="800" u="none" cap="none" strike="noStrike">
                <a:solidFill>
                  <a:srgbClr val="FFB84D"/>
                </a:solidFill>
                <a:latin typeface="Calibri"/>
                <a:ea typeface="Calibri"/>
                <a:cs typeface="Calibri"/>
                <a:sym typeface="Calibri"/>
              </a:rPr>
              <a:t>Minggu 3</a:t>
            </a:r>
            <a:endParaRPr b="0" i="0" sz="800" u="none" cap="none" strike="noStrike">
              <a:solidFill>
                <a:schemeClr val="dk1"/>
              </a:solidFill>
              <a:latin typeface="Calibri"/>
              <a:ea typeface="Calibri"/>
              <a:cs typeface="Calibri"/>
              <a:sym typeface="Calibri"/>
            </a:endParaRPr>
          </a:p>
        </p:txBody>
      </p:sp>
      <p:sp>
        <p:nvSpPr>
          <p:cNvPr id="421" name="Google Shape;421;p28"/>
          <p:cNvSpPr/>
          <p:nvPr/>
        </p:nvSpPr>
        <p:spPr>
          <a:xfrm>
            <a:off x="4821174" y="1988820"/>
            <a:ext cx="1570482" cy="2606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Frontend Pelanggan</a:t>
            </a:r>
            <a:endParaRPr b="0" i="0" sz="1100" u="none" cap="none" strike="noStrike">
              <a:solidFill>
                <a:schemeClr val="dk1"/>
              </a:solidFill>
              <a:latin typeface="Calibri"/>
              <a:ea typeface="Calibri"/>
              <a:cs typeface="Calibri"/>
              <a:sym typeface="Calibri"/>
            </a:endParaRPr>
          </a:p>
        </p:txBody>
      </p:sp>
      <p:sp>
        <p:nvSpPr>
          <p:cNvPr id="422" name="Google Shape;422;p28"/>
          <p:cNvSpPr/>
          <p:nvPr/>
        </p:nvSpPr>
        <p:spPr>
          <a:xfrm>
            <a:off x="4821174" y="2297430"/>
            <a:ext cx="1570482" cy="1303020"/>
          </a:xfrm>
          <a:prstGeom prst="rect">
            <a:avLst/>
          </a:prstGeom>
          <a:noFill/>
          <a:ln>
            <a:noFill/>
          </a:ln>
        </p:spPr>
        <p:txBody>
          <a:bodyPr anchorCtr="0" anchor="t" bIns="0" lIns="0" spcFirstLastPara="1" rIns="0" wrap="square" tIns="0">
            <a:noAutofit/>
          </a:bodyPr>
          <a:lstStyle/>
          <a:p>
            <a:pPr indent="0" lvl="0" marL="0" marR="0" rtl="0" algn="l">
              <a:lnSpc>
                <a:spcPct val="130434"/>
              </a:lnSpc>
              <a:spcBef>
                <a:spcPts val="0"/>
              </a:spcBef>
              <a:spcAft>
                <a:spcPts val="0"/>
              </a:spcAft>
              <a:buClr>
                <a:srgbClr val="C4B2B6"/>
              </a:buClr>
              <a:buSzPts val="900"/>
              <a:buFont typeface="Calibri"/>
              <a:buNone/>
            </a:pPr>
            <a:r>
              <a:rPr b="0" i="0" lang="en" sz="900" u="none" cap="none" strike="noStrike">
                <a:solidFill>
                  <a:srgbClr val="C4B2B6"/>
                </a:solidFill>
                <a:latin typeface="Calibri"/>
                <a:ea typeface="Calibri"/>
                <a:cs typeface="Calibri"/>
                <a:sym typeface="Calibri"/>
              </a:rPr>
              <a:t>Setup Vite + Tailwind, katalog + filter, keranjang persist, checkout, halaman antrean dengan polling</a:t>
            </a:r>
            <a:endParaRPr b="0" i="0" sz="900" u="none" cap="none" strike="noStrike">
              <a:solidFill>
                <a:schemeClr val="dk1"/>
              </a:solidFill>
              <a:latin typeface="Calibri"/>
              <a:ea typeface="Calibri"/>
              <a:cs typeface="Calibri"/>
              <a:sym typeface="Calibri"/>
            </a:endParaRPr>
          </a:p>
        </p:txBody>
      </p:sp>
      <p:sp>
        <p:nvSpPr>
          <p:cNvPr id="423" name="Google Shape;423;p28"/>
          <p:cNvSpPr/>
          <p:nvPr/>
        </p:nvSpPr>
        <p:spPr>
          <a:xfrm>
            <a:off x="6720840" y="1474470"/>
            <a:ext cx="1954530" cy="2331720"/>
          </a:xfrm>
          <a:prstGeom prst="roundRect">
            <a:avLst>
              <a:gd fmla="val 3509" name="adj"/>
            </a:avLst>
          </a:prstGeom>
          <a:solidFill>
            <a:srgbClr val="2B1F22"/>
          </a:solidFill>
          <a:ln cap="flat" cmpd="sng" w="12700">
            <a:solidFill>
              <a:srgbClr val="2B1F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24" name="Google Shape;424;p28"/>
          <p:cNvSpPr/>
          <p:nvPr/>
        </p:nvSpPr>
        <p:spPr>
          <a:xfrm>
            <a:off x="7533513" y="1303020"/>
            <a:ext cx="329184" cy="329184"/>
          </a:xfrm>
          <a:prstGeom prst="ellipse">
            <a:avLst/>
          </a:prstGeom>
          <a:solidFill>
            <a:srgbClr val="FFB84D"/>
          </a:solidFill>
          <a:ln cap="flat" cmpd="sng" w="38100">
            <a:solidFill>
              <a:srgbClr val="1A1214"/>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25" name="Google Shape;425;p28"/>
          <p:cNvSpPr/>
          <p:nvPr/>
        </p:nvSpPr>
        <p:spPr>
          <a:xfrm>
            <a:off x="7533513" y="1303020"/>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214"/>
              </a:buClr>
              <a:buSzPts val="1100"/>
              <a:buFont typeface="Calibri"/>
              <a:buNone/>
            </a:pPr>
            <a:r>
              <a:rPr b="1" i="0" lang="en" sz="1100" u="none" cap="none" strike="noStrike">
                <a:solidFill>
                  <a:srgbClr val="1A1214"/>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
        <p:nvSpPr>
          <p:cNvPr id="426" name="Google Shape;426;p28"/>
          <p:cNvSpPr/>
          <p:nvPr/>
        </p:nvSpPr>
        <p:spPr>
          <a:xfrm>
            <a:off x="6912864" y="1783080"/>
            <a:ext cx="1570482"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4D"/>
              </a:buClr>
              <a:buSzPts val="800"/>
              <a:buFont typeface="Calibri"/>
              <a:buNone/>
            </a:pPr>
            <a:r>
              <a:rPr b="1" i="0" lang="en" sz="800" u="none" cap="none" strike="noStrike">
                <a:solidFill>
                  <a:srgbClr val="FFB84D"/>
                </a:solidFill>
                <a:latin typeface="Calibri"/>
                <a:ea typeface="Calibri"/>
                <a:cs typeface="Calibri"/>
                <a:sym typeface="Calibri"/>
              </a:rPr>
              <a:t>Minggu 4</a:t>
            </a:r>
            <a:endParaRPr b="0" i="0" sz="800" u="none" cap="none" strike="noStrike">
              <a:solidFill>
                <a:schemeClr val="dk1"/>
              </a:solidFill>
              <a:latin typeface="Calibri"/>
              <a:ea typeface="Calibri"/>
              <a:cs typeface="Calibri"/>
              <a:sym typeface="Calibri"/>
            </a:endParaRPr>
          </a:p>
        </p:txBody>
      </p:sp>
      <p:sp>
        <p:nvSpPr>
          <p:cNvPr id="427" name="Google Shape;427;p28"/>
          <p:cNvSpPr/>
          <p:nvPr/>
        </p:nvSpPr>
        <p:spPr>
          <a:xfrm>
            <a:off x="6912864" y="1988820"/>
            <a:ext cx="1570482" cy="2606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Admin &amp; Rilis</a:t>
            </a:r>
            <a:endParaRPr b="0" i="0" sz="1100" u="none" cap="none" strike="noStrike">
              <a:solidFill>
                <a:schemeClr val="dk1"/>
              </a:solidFill>
              <a:latin typeface="Calibri"/>
              <a:ea typeface="Calibri"/>
              <a:cs typeface="Calibri"/>
              <a:sym typeface="Calibri"/>
            </a:endParaRPr>
          </a:p>
        </p:txBody>
      </p:sp>
      <p:sp>
        <p:nvSpPr>
          <p:cNvPr id="428" name="Google Shape;428;p28"/>
          <p:cNvSpPr/>
          <p:nvPr/>
        </p:nvSpPr>
        <p:spPr>
          <a:xfrm>
            <a:off x="6912864" y="2297430"/>
            <a:ext cx="1570482" cy="1303020"/>
          </a:xfrm>
          <a:prstGeom prst="rect">
            <a:avLst/>
          </a:prstGeom>
          <a:noFill/>
          <a:ln>
            <a:noFill/>
          </a:ln>
        </p:spPr>
        <p:txBody>
          <a:bodyPr anchorCtr="0" anchor="t" bIns="0" lIns="0" spcFirstLastPara="1" rIns="0" wrap="square" tIns="0">
            <a:noAutofit/>
          </a:bodyPr>
          <a:lstStyle/>
          <a:p>
            <a:pPr indent="0" lvl="0" marL="0" marR="0" rtl="0" algn="l">
              <a:lnSpc>
                <a:spcPct val="130434"/>
              </a:lnSpc>
              <a:spcBef>
                <a:spcPts val="0"/>
              </a:spcBef>
              <a:spcAft>
                <a:spcPts val="0"/>
              </a:spcAft>
              <a:buClr>
                <a:srgbClr val="C4B2B6"/>
              </a:buClr>
              <a:buSzPts val="900"/>
              <a:buFont typeface="Calibri"/>
              <a:buNone/>
            </a:pPr>
            <a:r>
              <a:rPr b="0" i="0" lang="en" sz="900" u="none" cap="none" strike="noStrike">
                <a:solidFill>
                  <a:srgbClr val="C4B2B6"/>
                </a:solidFill>
                <a:latin typeface="Calibri"/>
                <a:ea typeface="Calibri"/>
                <a:cs typeface="Calibri"/>
                <a:sym typeface="Calibri"/>
              </a:rPr>
              <a:t>Papan dapur, penyesuaian stok, dashboard laporan, deployment, Swagger, README</a:t>
            </a:r>
            <a:endParaRPr b="0" i="0" sz="900" u="none" cap="none" strike="noStrike">
              <a:solidFill>
                <a:schemeClr val="dk1"/>
              </a:solidFill>
              <a:latin typeface="Calibri"/>
              <a:ea typeface="Calibri"/>
              <a:cs typeface="Calibri"/>
              <a:sym typeface="Calibri"/>
            </a:endParaRPr>
          </a:p>
        </p:txBody>
      </p:sp>
      <p:sp>
        <p:nvSpPr>
          <p:cNvPr id="429" name="Google Shape;429;p28"/>
          <p:cNvSpPr/>
          <p:nvPr/>
        </p:nvSpPr>
        <p:spPr>
          <a:xfrm>
            <a:off x="445770" y="3943350"/>
            <a:ext cx="8229600" cy="514350"/>
          </a:xfrm>
          <a:prstGeom prst="roundRect">
            <a:avLst>
              <a:gd fmla="val 13333" name="adj"/>
            </a:avLst>
          </a:prstGeom>
          <a:solidFill>
            <a:srgbClr val="3A2A2E"/>
          </a:solidFill>
          <a:ln cap="flat" cmpd="sng" w="12700">
            <a:solidFill>
              <a:srgbClr val="3A2A2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0" name="Google Shape;430;p28"/>
          <p:cNvSpPr/>
          <p:nvPr/>
        </p:nvSpPr>
        <p:spPr>
          <a:xfrm>
            <a:off x="685800" y="3943350"/>
            <a:ext cx="7749540" cy="51435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B2B6"/>
              </a:buClr>
              <a:buSzPts val="900"/>
              <a:buFont typeface="Calibri"/>
              <a:buNone/>
            </a:pPr>
            <a:r>
              <a:rPr b="0" i="0" lang="en" sz="900" u="none" cap="none" strike="noStrike">
                <a:solidFill>
                  <a:srgbClr val="C4B2B6"/>
                </a:solidFill>
                <a:latin typeface="Calibri"/>
                <a:ea typeface="Calibri"/>
                <a:cs typeface="Calibri"/>
                <a:sym typeface="Calibri"/>
              </a:rPr>
              <a:t>Prinsip urutan: satu fitur diselesaikan end-to-end (migration → API → UI) sebelum pindah ke fitur berikutnya.</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214"/>
        </a:solidFill>
      </p:bgPr>
    </p:bg>
    <p:spTree>
      <p:nvGrpSpPr>
        <p:cNvPr id="435" name="Shape 435"/>
        <p:cNvGrpSpPr/>
        <p:nvPr/>
      </p:nvGrpSpPr>
      <p:grpSpPr>
        <a:xfrm>
          <a:off x="0" y="0"/>
          <a:ext cx="0" cy="0"/>
          <a:chOff x="0" y="0"/>
          <a:chExt cx="0" cy="0"/>
        </a:xfrm>
      </p:grpSpPr>
      <p:sp>
        <p:nvSpPr>
          <p:cNvPr id="436" name="Google Shape;436;p29"/>
          <p:cNvSpPr/>
          <p:nvPr/>
        </p:nvSpPr>
        <p:spPr>
          <a:xfrm>
            <a:off x="445770" y="288036"/>
            <a:ext cx="8229600" cy="19202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4D"/>
              </a:buClr>
              <a:buSzPts val="800"/>
              <a:buFont typeface="Calibri"/>
              <a:buNone/>
            </a:pPr>
            <a:r>
              <a:rPr b="1" i="0" lang="en" sz="800" u="none" cap="none" strike="noStrike">
                <a:solidFill>
                  <a:srgbClr val="FFB84D"/>
                </a:solidFill>
                <a:latin typeface="Calibri"/>
                <a:ea typeface="Calibri"/>
                <a:cs typeface="Calibri"/>
                <a:sym typeface="Calibri"/>
              </a:rPr>
              <a:t>NICE TO HAVE</a:t>
            </a:r>
            <a:endParaRPr b="0" i="0" sz="800" u="none" cap="none" strike="noStrike">
              <a:solidFill>
                <a:schemeClr val="dk1"/>
              </a:solidFill>
              <a:latin typeface="Calibri"/>
              <a:ea typeface="Calibri"/>
              <a:cs typeface="Calibri"/>
              <a:sym typeface="Calibri"/>
            </a:endParaRPr>
          </a:p>
        </p:txBody>
      </p:sp>
      <p:sp>
        <p:nvSpPr>
          <p:cNvPr id="437" name="Google Shape;437;p29"/>
          <p:cNvSpPr/>
          <p:nvPr/>
        </p:nvSpPr>
        <p:spPr>
          <a:xfrm>
            <a:off x="445770" y="493776"/>
            <a:ext cx="8229600" cy="4251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300"/>
              <a:buFont typeface="Calibri"/>
              <a:buNone/>
            </a:pPr>
            <a:r>
              <a:rPr b="1" i="0" lang="en" sz="2300" u="none" cap="none" strike="noStrike">
                <a:solidFill>
                  <a:srgbClr val="FFFFFF"/>
                </a:solidFill>
                <a:latin typeface="Calibri"/>
                <a:ea typeface="Calibri"/>
                <a:cs typeface="Calibri"/>
                <a:sym typeface="Calibri"/>
              </a:rPr>
              <a:t>Code Quality, Security &amp; Deployment</a:t>
            </a:r>
            <a:endParaRPr b="0" i="0" sz="2300" u="none" cap="none" strike="noStrike">
              <a:solidFill>
                <a:schemeClr val="dk1"/>
              </a:solidFill>
              <a:latin typeface="Calibri"/>
              <a:ea typeface="Calibri"/>
              <a:cs typeface="Calibri"/>
              <a:sym typeface="Calibri"/>
            </a:endParaRPr>
          </a:p>
        </p:txBody>
      </p:sp>
      <p:sp>
        <p:nvSpPr>
          <p:cNvPr id="438" name="Google Shape;438;p29"/>
          <p:cNvSpPr/>
          <p:nvPr/>
        </p:nvSpPr>
        <p:spPr>
          <a:xfrm>
            <a:off x="445770" y="1200150"/>
            <a:ext cx="2626614" cy="2400300"/>
          </a:xfrm>
          <a:prstGeom prst="roundRect">
            <a:avLst>
              <a:gd fmla="val 2857" name="adj"/>
            </a:avLst>
          </a:prstGeom>
          <a:solidFill>
            <a:srgbClr val="2B1F22"/>
          </a:solidFill>
          <a:ln cap="flat" cmpd="sng" w="12700">
            <a:solidFill>
              <a:srgbClr val="2B1F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9" name="Google Shape;439;p29"/>
          <p:cNvSpPr/>
          <p:nvPr/>
        </p:nvSpPr>
        <p:spPr>
          <a:xfrm>
            <a:off x="665226" y="1385316"/>
            <a:ext cx="137160" cy="137160"/>
          </a:xfrm>
          <a:prstGeom prst="ellipse">
            <a:avLst/>
          </a:prstGeom>
          <a:solidFill>
            <a:srgbClr val="FFB84D"/>
          </a:solidFill>
          <a:ln cap="flat" cmpd="sng" w="12700">
            <a:solidFill>
              <a:srgbClr val="FFB84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0" name="Google Shape;440;p29"/>
          <p:cNvSpPr/>
          <p:nvPr/>
        </p:nvSpPr>
        <p:spPr>
          <a:xfrm>
            <a:off x="884682" y="1316736"/>
            <a:ext cx="1968246" cy="2606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4D"/>
              </a:buClr>
              <a:buSzPts val="1300"/>
              <a:buFont typeface="Calibri"/>
              <a:buNone/>
            </a:pPr>
            <a:r>
              <a:rPr b="1" i="0" lang="en" sz="1300" u="none" cap="none" strike="noStrike">
                <a:solidFill>
                  <a:srgbClr val="FFB84D"/>
                </a:solidFill>
                <a:latin typeface="Calibri"/>
                <a:ea typeface="Calibri"/>
                <a:cs typeface="Calibri"/>
                <a:sym typeface="Calibri"/>
              </a:rPr>
              <a:t>Code Quality</a:t>
            </a:r>
            <a:endParaRPr b="0" i="0" sz="1300" u="none" cap="none" strike="noStrike">
              <a:solidFill>
                <a:schemeClr val="dk1"/>
              </a:solidFill>
              <a:latin typeface="Calibri"/>
              <a:ea typeface="Calibri"/>
              <a:cs typeface="Calibri"/>
              <a:sym typeface="Calibri"/>
            </a:endParaRPr>
          </a:p>
        </p:txBody>
      </p:sp>
      <p:sp>
        <p:nvSpPr>
          <p:cNvPr id="441" name="Google Shape;441;p29"/>
          <p:cNvSpPr/>
          <p:nvPr/>
        </p:nvSpPr>
        <p:spPr>
          <a:xfrm>
            <a:off x="665226" y="1714500"/>
            <a:ext cx="2187702" cy="1885950"/>
          </a:xfrm>
          <a:prstGeom prst="rect">
            <a:avLst/>
          </a:prstGeom>
          <a:noFill/>
          <a:ln>
            <a:noFill/>
          </a:ln>
        </p:spPr>
        <p:txBody>
          <a:bodyPr anchorCtr="0" anchor="t" bIns="0" lIns="0" spcFirstLastPara="1" rIns="0" wrap="square" tIns="0">
            <a:noAutofit/>
          </a:bodyPr>
          <a:lstStyle/>
          <a:p>
            <a:pPr indent="-146050" lvl="0" marL="139700" marR="0" rtl="0" algn="l">
              <a:spcBef>
                <a:spcPts val="0"/>
              </a:spcBef>
              <a:spcAft>
                <a:spcPts val="0"/>
              </a:spcAft>
              <a:buClr>
                <a:srgbClr val="C4B2B6"/>
              </a:buClr>
              <a:buSzPts val="900"/>
              <a:buFont typeface="Calibri"/>
              <a:buChar char="•"/>
            </a:pPr>
            <a:r>
              <a:rPr b="0" i="0" lang="en" sz="900" u="none" cap="none" strike="noStrike">
                <a:solidFill>
                  <a:srgbClr val="C4B2B6"/>
                </a:solidFill>
                <a:latin typeface="Calibri"/>
                <a:ea typeface="Calibri"/>
                <a:cs typeface="Calibri"/>
                <a:sym typeface="Calibri"/>
              </a:rPr>
              <a:t>Service layer memisahkan logika bisnis dari controller</a:t>
            </a:r>
            <a:endParaRPr b="0" i="0" sz="900" u="none" cap="none" strike="noStrike">
              <a:solidFill>
                <a:schemeClr val="dk1"/>
              </a:solidFill>
              <a:latin typeface="Calibri"/>
              <a:ea typeface="Calibri"/>
              <a:cs typeface="Calibri"/>
              <a:sym typeface="Calibri"/>
            </a:endParaRPr>
          </a:p>
          <a:p>
            <a:pPr indent="-146050" lvl="0" marL="139700" marR="0" rtl="0" algn="l">
              <a:spcBef>
                <a:spcPts val="500"/>
              </a:spcBef>
              <a:spcAft>
                <a:spcPts val="0"/>
              </a:spcAft>
              <a:buClr>
                <a:srgbClr val="C4B2B6"/>
              </a:buClr>
              <a:buSzPts val="900"/>
              <a:buFont typeface="Calibri"/>
              <a:buChar char="•"/>
            </a:pPr>
            <a:r>
              <a:rPr b="0" i="0" lang="en" sz="900" u="none" cap="none" strike="noStrike">
                <a:solidFill>
                  <a:srgbClr val="C4B2B6"/>
                </a:solidFill>
                <a:latin typeface="Calibri"/>
                <a:ea typeface="Calibri"/>
                <a:cs typeface="Calibri"/>
                <a:sym typeface="Calibri"/>
              </a:rPr>
              <a:t>API Resource untuk bentuk response konsisten</a:t>
            </a:r>
            <a:endParaRPr b="0" i="0" sz="900" u="none" cap="none" strike="noStrike">
              <a:solidFill>
                <a:schemeClr val="dk1"/>
              </a:solidFill>
              <a:latin typeface="Calibri"/>
              <a:ea typeface="Calibri"/>
              <a:cs typeface="Calibri"/>
              <a:sym typeface="Calibri"/>
            </a:endParaRPr>
          </a:p>
          <a:p>
            <a:pPr indent="-146050" lvl="0" marL="139700" marR="0" rtl="0" algn="l">
              <a:spcBef>
                <a:spcPts val="500"/>
              </a:spcBef>
              <a:spcAft>
                <a:spcPts val="0"/>
              </a:spcAft>
              <a:buClr>
                <a:srgbClr val="C4B2B6"/>
              </a:buClr>
              <a:buSzPts val="900"/>
              <a:buFont typeface="Calibri"/>
              <a:buChar char="•"/>
            </a:pPr>
            <a:r>
              <a:rPr b="0" i="0" lang="en" sz="900" u="none" cap="none" strike="noStrike">
                <a:solidFill>
                  <a:srgbClr val="C4B2B6"/>
                </a:solidFill>
                <a:latin typeface="Calibri"/>
                <a:ea typeface="Calibri"/>
                <a:cs typeface="Calibri"/>
                <a:sym typeface="Calibri"/>
              </a:rPr>
              <a:t>Komponen UI reusable di React</a:t>
            </a:r>
            <a:endParaRPr b="0" i="0" sz="900" u="none" cap="none" strike="noStrike">
              <a:solidFill>
                <a:schemeClr val="dk1"/>
              </a:solidFill>
              <a:latin typeface="Calibri"/>
              <a:ea typeface="Calibri"/>
              <a:cs typeface="Calibri"/>
              <a:sym typeface="Calibri"/>
            </a:endParaRPr>
          </a:p>
          <a:p>
            <a:pPr indent="-146050" lvl="0" marL="139700" marR="0" rtl="0" algn="l">
              <a:spcBef>
                <a:spcPts val="500"/>
              </a:spcBef>
              <a:spcAft>
                <a:spcPts val="0"/>
              </a:spcAft>
              <a:buClr>
                <a:srgbClr val="C4B2B6"/>
              </a:buClr>
              <a:buSzPts val="900"/>
              <a:buFont typeface="Calibri"/>
              <a:buChar char="•"/>
            </a:pPr>
            <a:r>
              <a:rPr b="0" i="0" lang="en" sz="900" u="none" cap="none" strike="noStrike">
                <a:solidFill>
                  <a:srgbClr val="C4B2B6"/>
                </a:solidFill>
                <a:latin typeface="Calibri"/>
                <a:ea typeface="Calibri"/>
                <a:cs typeface="Calibri"/>
                <a:sym typeface="Calibri"/>
              </a:rPr>
              <a:t>Konfigurasi lewat .env dan store_settings</a:t>
            </a:r>
            <a:endParaRPr b="0" i="0" sz="900" u="none" cap="none" strike="noStrike">
              <a:solidFill>
                <a:schemeClr val="dk1"/>
              </a:solidFill>
              <a:latin typeface="Calibri"/>
              <a:ea typeface="Calibri"/>
              <a:cs typeface="Calibri"/>
              <a:sym typeface="Calibri"/>
            </a:endParaRPr>
          </a:p>
        </p:txBody>
      </p:sp>
      <p:sp>
        <p:nvSpPr>
          <p:cNvPr id="442" name="Google Shape;442;p29"/>
          <p:cNvSpPr/>
          <p:nvPr/>
        </p:nvSpPr>
        <p:spPr>
          <a:xfrm>
            <a:off x="3243834" y="1200150"/>
            <a:ext cx="2626614" cy="2400300"/>
          </a:xfrm>
          <a:prstGeom prst="roundRect">
            <a:avLst>
              <a:gd fmla="val 2857" name="adj"/>
            </a:avLst>
          </a:prstGeom>
          <a:solidFill>
            <a:srgbClr val="2B1F22"/>
          </a:solidFill>
          <a:ln cap="flat" cmpd="sng" w="12700">
            <a:solidFill>
              <a:srgbClr val="2B1F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3" name="Google Shape;443;p29"/>
          <p:cNvSpPr/>
          <p:nvPr/>
        </p:nvSpPr>
        <p:spPr>
          <a:xfrm>
            <a:off x="3463290" y="1385316"/>
            <a:ext cx="137160" cy="137160"/>
          </a:xfrm>
          <a:prstGeom prst="ellipse">
            <a:avLst/>
          </a:prstGeom>
          <a:solidFill>
            <a:srgbClr val="F5533D"/>
          </a:solidFill>
          <a:ln cap="flat" cmpd="sng" w="12700">
            <a:solidFill>
              <a:srgbClr val="F5533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4" name="Google Shape;444;p29"/>
          <p:cNvSpPr/>
          <p:nvPr/>
        </p:nvSpPr>
        <p:spPr>
          <a:xfrm>
            <a:off x="3682746" y="1316736"/>
            <a:ext cx="1968246" cy="2606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533D"/>
              </a:buClr>
              <a:buSzPts val="1300"/>
              <a:buFont typeface="Calibri"/>
              <a:buNone/>
            </a:pPr>
            <a:r>
              <a:rPr b="1" i="0" lang="en" sz="1300" u="none" cap="none" strike="noStrike">
                <a:solidFill>
                  <a:srgbClr val="F5533D"/>
                </a:solidFill>
                <a:latin typeface="Calibri"/>
                <a:ea typeface="Calibri"/>
                <a:cs typeface="Calibri"/>
                <a:sym typeface="Calibri"/>
              </a:rPr>
              <a:t>Security</a:t>
            </a:r>
            <a:endParaRPr b="0" i="0" sz="1300" u="none" cap="none" strike="noStrike">
              <a:solidFill>
                <a:schemeClr val="dk1"/>
              </a:solidFill>
              <a:latin typeface="Calibri"/>
              <a:ea typeface="Calibri"/>
              <a:cs typeface="Calibri"/>
              <a:sym typeface="Calibri"/>
            </a:endParaRPr>
          </a:p>
        </p:txBody>
      </p:sp>
      <p:sp>
        <p:nvSpPr>
          <p:cNvPr id="445" name="Google Shape;445;p29"/>
          <p:cNvSpPr/>
          <p:nvPr/>
        </p:nvSpPr>
        <p:spPr>
          <a:xfrm>
            <a:off x="3463290" y="1714500"/>
            <a:ext cx="2187702" cy="1885950"/>
          </a:xfrm>
          <a:prstGeom prst="rect">
            <a:avLst/>
          </a:prstGeom>
          <a:noFill/>
          <a:ln>
            <a:noFill/>
          </a:ln>
        </p:spPr>
        <p:txBody>
          <a:bodyPr anchorCtr="0" anchor="t" bIns="0" lIns="0" spcFirstLastPara="1" rIns="0" wrap="square" tIns="0">
            <a:noAutofit/>
          </a:bodyPr>
          <a:lstStyle/>
          <a:p>
            <a:pPr indent="-171450" lvl="0" marL="171450" rtl="0" algn="l">
              <a:spcBef>
                <a:spcPts val="500"/>
              </a:spcBef>
              <a:spcAft>
                <a:spcPts val="0"/>
              </a:spcAft>
              <a:buClr>
                <a:srgbClr val="C4B2B6"/>
              </a:buClr>
              <a:buSzPts val="900"/>
              <a:buFont typeface="Calibri"/>
              <a:buChar char="●"/>
            </a:pPr>
            <a:r>
              <a:rPr lang="en" sz="900">
                <a:solidFill>
                  <a:srgbClr val="C4B2B6"/>
                </a:solidFill>
                <a:latin typeface="Calibri"/>
                <a:ea typeface="Calibri"/>
                <a:cs typeface="Calibri"/>
                <a:sym typeface="Calibri"/>
              </a:rPr>
              <a:t>Spring Security JWT + Method Security (RBAC)</a:t>
            </a:r>
            <a:endParaRPr sz="900">
              <a:solidFill>
                <a:srgbClr val="C4B2B6"/>
              </a:solidFill>
              <a:latin typeface="Calibri"/>
              <a:ea typeface="Calibri"/>
              <a:cs typeface="Calibri"/>
              <a:sym typeface="Calibri"/>
            </a:endParaRPr>
          </a:p>
          <a:p>
            <a:pPr indent="-171450" lvl="0" marL="171450" rtl="0" algn="l">
              <a:spcBef>
                <a:spcPts val="0"/>
              </a:spcBef>
              <a:spcAft>
                <a:spcPts val="0"/>
              </a:spcAft>
              <a:buClr>
                <a:srgbClr val="C4B2B6"/>
              </a:buClr>
              <a:buSzPts val="900"/>
              <a:buFont typeface="Calibri"/>
              <a:buChar char="●"/>
            </a:pPr>
            <a:r>
              <a:rPr lang="en" sz="900">
                <a:solidFill>
                  <a:srgbClr val="C4B2B6"/>
                </a:solidFill>
                <a:latin typeface="Calibri"/>
                <a:ea typeface="Calibri"/>
                <a:cs typeface="Calibri"/>
                <a:sym typeface="Calibri"/>
              </a:rPr>
              <a:t>Server-side Price Calculation &amp; Revalidation</a:t>
            </a:r>
            <a:endParaRPr sz="900">
              <a:solidFill>
                <a:srgbClr val="C4B2B6"/>
              </a:solidFill>
              <a:latin typeface="Calibri"/>
              <a:ea typeface="Calibri"/>
              <a:cs typeface="Calibri"/>
              <a:sym typeface="Calibri"/>
            </a:endParaRPr>
          </a:p>
          <a:p>
            <a:pPr indent="-171450" lvl="0" marL="171450" rtl="0" algn="l">
              <a:spcBef>
                <a:spcPts val="0"/>
              </a:spcBef>
              <a:spcAft>
                <a:spcPts val="0"/>
              </a:spcAft>
              <a:buClr>
                <a:srgbClr val="C4B2B6"/>
              </a:buClr>
              <a:buSzPts val="900"/>
              <a:buFont typeface="Calibri"/>
              <a:buChar char="●"/>
            </a:pPr>
            <a:r>
              <a:rPr lang="en" sz="900">
                <a:solidFill>
                  <a:srgbClr val="C4B2B6"/>
                </a:solidFill>
                <a:latin typeface="Calibri"/>
                <a:ea typeface="Calibri"/>
                <a:cs typeface="Calibri"/>
                <a:sym typeface="Calibri"/>
              </a:rPr>
              <a:t>Opaque Order Reference Generator (UUID / Custom Code)</a:t>
            </a:r>
            <a:endParaRPr sz="900">
              <a:solidFill>
                <a:srgbClr val="C4B2B6"/>
              </a:solidFill>
              <a:latin typeface="Calibri"/>
              <a:ea typeface="Calibri"/>
              <a:cs typeface="Calibri"/>
              <a:sym typeface="Calibri"/>
            </a:endParaRPr>
          </a:p>
          <a:p>
            <a:pPr indent="-171450" lvl="0" marL="171450" rtl="0" algn="l">
              <a:spcBef>
                <a:spcPts val="0"/>
              </a:spcBef>
              <a:spcAft>
                <a:spcPts val="0"/>
              </a:spcAft>
              <a:buClr>
                <a:srgbClr val="C4B2B6"/>
              </a:buClr>
              <a:buSzPts val="900"/>
              <a:buFont typeface="Calibri"/>
              <a:buChar char="●"/>
            </a:pPr>
            <a:r>
              <a:rPr lang="en" sz="900">
                <a:solidFill>
                  <a:srgbClr val="C4B2B6"/>
                </a:solidFill>
                <a:latin typeface="Calibri"/>
                <a:ea typeface="Calibri"/>
                <a:cs typeface="Calibri"/>
                <a:sym typeface="Calibri"/>
              </a:rPr>
              <a:t>API Rate Limiting &amp; Throttling (Bucket4j)</a:t>
            </a:r>
            <a:endParaRPr sz="900">
              <a:solidFill>
                <a:srgbClr val="C4B2B6"/>
              </a:solidFill>
              <a:latin typeface="Calibri"/>
              <a:ea typeface="Calibri"/>
              <a:cs typeface="Calibri"/>
              <a:sym typeface="Calibri"/>
            </a:endParaRPr>
          </a:p>
        </p:txBody>
      </p:sp>
      <p:sp>
        <p:nvSpPr>
          <p:cNvPr id="446" name="Google Shape;446;p29"/>
          <p:cNvSpPr/>
          <p:nvPr/>
        </p:nvSpPr>
        <p:spPr>
          <a:xfrm>
            <a:off x="6041898" y="1200150"/>
            <a:ext cx="2626614" cy="2400300"/>
          </a:xfrm>
          <a:prstGeom prst="roundRect">
            <a:avLst>
              <a:gd fmla="val 2857" name="adj"/>
            </a:avLst>
          </a:prstGeom>
          <a:solidFill>
            <a:srgbClr val="2B1F22"/>
          </a:solidFill>
          <a:ln cap="flat" cmpd="sng" w="12700">
            <a:solidFill>
              <a:srgbClr val="2B1F2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7" name="Google Shape;447;p29"/>
          <p:cNvSpPr/>
          <p:nvPr/>
        </p:nvSpPr>
        <p:spPr>
          <a:xfrm>
            <a:off x="6261354" y="1385316"/>
            <a:ext cx="137160" cy="137160"/>
          </a:xfrm>
          <a:prstGeom prst="ellipse">
            <a:avLst/>
          </a:prstGeom>
          <a:solidFill>
            <a:srgbClr val="4CAF7D"/>
          </a:solidFill>
          <a:ln cap="flat" cmpd="sng" w="12700">
            <a:solidFill>
              <a:srgbClr val="4CAF7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48" name="Google Shape;448;p29"/>
          <p:cNvSpPr/>
          <p:nvPr/>
        </p:nvSpPr>
        <p:spPr>
          <a:xfrm>
            <a:off x="6480810" y="1316736"/>
            <a:ext cx="1968246" cy="2606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CAF7D"/>
              </a:buClr>
              <a:buSzPts val="1300"/>
              <a:buFont typeface="Calibri"/>
              <a:buNone/>
            </a:pPr>
            <a:r>
              <a:rPr b="1" i="0" lang="en" sz="1300" u="none" cap="none" strike="noStrike">
                <a:solidFill>
                  <a:srgbClr val="4CAF7D"/>
                </a:solidFill>
                <a:latin typeface="Calibri"/>
                <a:ea typeface="Calibri"/>
                <a:cs typeface="Calibri"/>
                <a:sym typeface="Calibri"/>
              </a:rPr>
              <a:t>Testing &amp; Deployment</a:t>
            </a:r>
            <a:endParaRPr b="0" i="0" sz="1300" u="none" cap="none" strike="noStrike">
              <a:solidFill>
                <a:schemeClr val="dk1"/>
              </a:solidFill>
              <a:latin typeface="Calibri"/>
              <a:ea typeface="Calibri"/>
              <a:cs typeface="Calibri"/>
              <a:sym typeface="Calibri"/>
            </a:endParaRPr>
          </a:p>
        </p:txBody>
      </p:sp>
      <p:sp>
        <p:nvSpPr>
          <p:cNvPr id="449" name="Google Shape;449;p29"/>
          <p:cNvSpPr/>
          <p:nvPr/>
        </p:nvSpPr>
        <p:spPr>
          <a:xfrm>
            <a:off x="6261354" y="1714500"/>
            <a:ext cx="2187702" cy="1885950"/>
          </a:xfrm>
          <a:prstGeom prst="rect">
            <a:avLst/>
          </a:prstGeom>
          <a:noFill/>
          <a:ln>
            <a:noFill/>
          </a:ln>
        </p:spPr>
        <p:txBody>
          <a:bodyPr anchorCtr="0" anchor="t" bIns="0" lIns="0" spcFirstLastPara="1" rIns="0" wrap="square" tIns="0">
            <a:noAutofit/>
          </a:bodyPr>
          <a:lstStyle/>
          <a:p>
            <a:pPr indent="-146050" lvl="0" marL="139700" marR="0" rtl="0" algn="l">
              <a:spcBef>
                <a:spcPts val="0"/>
              </a:spcBef>
              <a:spcAft>
                <a:spcPts val="0"/>
              </a:spcAft>
              <a:buClr>
                <a:srgbClr val="C4B2B6"/>
              </a:buClr>
              <a:buSzPts val="900"/>
              <a:buFont typeface="Calibri"/>
              <a:buChar char="•"/>
            </a:pPr>
            <a:r>
              <a:rPr b="0" i="0" lang="en" sz="900" u="none" cap="none" strike="noStrike">
                <a:solidFill>
                  <a:srgbClr val="C4B2B6"/>
                </a:solidFill>
                <a:latin typeface="Calibri"/>
                <a:ea typeface="Calibri"/>
                <a:cs typeface="Calibri"/>
                <a:sym typeface="Calibri"/>
              </a:rPr>
              <a:t>Unit test untuk StockService</a:t>
            </a:r>
            <a:endParaRPr b="0" i="0" sz="900" u="none" cap="none" strike="noStrike">
              <a:solidFill>
                <a:schemeClr val="dk1"/>
              </a:solidFill>
              <a:latin typeface="Calibri"/>
              <a:ea typeface="Calibri"/>
              <a:cs typeface="Calibri"/>
              <a:sym typeface="Calibri"/>
            </a:endParaRPr>
          </a:p>
          <a:p>
            <a:pPr indent="-146050" lvl="0" marL="139700" marR="0" rtl="0" algn="l">
              <a:spcBef>
                <a:spcPts val="500"/>
              </a:spcBef>
              <a:spcAft>
                <a:spcPts val="0"/>
              </a:spcAft>
              <a:buClr>
                <a:srgbClr val="C4B2B6"/>
              </a:buClr>
              <a:buSzPts val="900"/>
              <a:buFont typeface="Calibri"/>
              <a:buChar char="•"/>
            </a:pPr>
            <a:r>
              <a:rPr b="0" i="0" lang="en" sz="900" u="none" cap="none" strike="noStrike">
                <a:solidFill>
                  <a:srgbClr val="C4B2B6"/>
                </a:solidFill>
                <a:latin typeface="Calibri"/>
                <a:ea typeface="Calibri"/>
                <a:cs typeface="Calibri"/>
                <a:sym typeface="Calibri"/>
              </a:rPr>
              <a:t>Feature test checkout bersamaan</a:t>
            </a:r>
            <a:endParaRPr b="0" i="0" sz="900" u="none" cap="none" strike="noStrike">
              <a:solidFill>
                <a:schemeClr val="dk1"/>
              </a:solidFill>
              <a:latin typeface="Calibri"/>
              <a:ea typeface="Calibri"/>
              <a:cs typeface="Calibri"/>
              <a:sym typeface="Calibri"/>
            </a:endParaRPr>
          </a:p>
          <a:p>
            <a:pPr indent="-146050" lvl="0" marL="139700" marR="0" rtl="0" algn="l">
              <a:spcBef>
                <a:spcPts val="500"/>
              </a:spcBef>
              <a:spcAft>
                <a:spcPts val="0"/>
              </a:spcAft>
              <a:buClr>
                <a:srgbClr val="C4B2B6"/>
              </a:buClr>
              <a:buSzPts val="900"/>
              <a:buFont typeface="Calibri"/>
              <a:buChar char="•"/>
            </a:pPr>
            <a:r>
              <a:rPr b="0" i="0" lang="en" sz="900" u="none" cap="none" strike="noStrike">
                <a:solidFill>
                  <a:srgbClr val="C4B2B6"/>
                </a:solidFill>
                <a:latin typeface="Calibri"/>
                <a:ea typeface="Calibri"/>
                <a:cs typeface="Calibri"/>
                <a:sym typeface="Calibri"/>
              </a:rPr>
              <a:t>GitHub Actions menjalankan test tiap push</a:t>
            </a:r>
            <a:endParaRPr b="0" i="0" sz="900" u="none" cap="none" strike="noStrike">
              <a:solidFill>
                <a:schemeClr val="dk1"/>
              </a:solidFill>
              <a:latin typeface="Calibri"/>
              <a:ea typeface="Calibri"/>
              <a:cs typeface="Calibri"/>
              <a:sym typeface="Calibri"/>
            </a:endParaRPr>
          </a:p>
          <a:p>
            <a:pPr indent="-146050" lvl="0" marL="139700" marR="0" rtl="0" algn="l">
              <a:spcBef>
                <a:spcPts val="500"/>
              </a:spcBef>
              <a:spcAft>
                <a:spcPts val="0"/>
              </a:spcAft>
              <a:buClr>
                <a:srgbClr val="C4B2B6"/>
              </a:buClr>
              <a:buSzPts val="900"/>
              <a:buFont typeface="Calibri"/>
              <a:buChar char="•"/>
            </a:pPr>
            <a:r>
              <a:rPr b="0" i="0" lang="en" sz="900" u="none" cap="none" strike="noStrike">
                <a:solidFill>
                  <a:srgbClr val="C4B2B6"/>
                </a:solidFill>
                <a:latin typeface="Calibri"/>
                <a:ea typeface="Calibri"/>
                <a:cs typeface="Calibri"/>
                <a:sym typeface="Calibri"/>
              </a:rPr>
              <a:t>Backend di Railway, frontend di Vercel</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214"/>
        </a:solidFill>
      </p:bgPr>
    </p:bg>
    <p:spTree>
      <p:nvGrpSpPr>
        <p:cNvPr id="454" name="Shape 454"/>
        <p:cNvGrpSpPr/>
        <p:nvPr/>
      </p:nvGrpSpPr>
      <p:grpSpPr>
        <a:xfrm>
          <a:off x="0" y="0"/>
          <a:ext cx="0" cy="0"/>
          <a:chOff x="0" y="0"/>
          <a:chExt cx="0" cy="0"/>
        </a:xfrm>
      </p:grpSpPr>
      <p:sp>
        <p:nvSpPr>
          <p:cNvPr id="455" name="Google Shape;455;p30"/>
          <p:cNvSpPr/>
          <p:nvPr/>
        </p:nvSpPr>
        <p:spPr>
          <a:xfrm>
            <a:off x="-1508760" y="2468880"/>
            <a:ext cx="3840480" cy="3840480"/>
          </a:xfrm>
          <a:prstGeom prst="ellipse">
            <a:avLst/>
          </a:prstGeom>
          <a:solidFill>
            <a:srgbClr val="241819"/>
          </a:solidFill>
          <a:ln cap="flat" cmpd="sng" w="12700">
            <a:solidFill>
              <a:srgbClr val="241819"/>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56" name="Google Shape;456;p30"/>
          <p:cNvSpPr/>
          <p:nvPr/>
        </p:nvSpPr>
        <p:spPr>
          <a:xfrm>
            <a:off x="445770" y="445770"/>
            <a:ext cx="4800600" cy="6515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500"/>
              <a:buFont typeface="Calibri"/>
              <a:buNone/>
            </a:pPr>
            <a:r>
              <a:rPr b="1" i="0" lang="en" sz="3500" u="none" cap="none" strike="noStrike">
                <a:solidFill>
                  <a:srgbClr val="FFFFFF"/>
                </a:solidFill>
                <a:latin typeface="Calibri"/>
                <a:ea typeface="Calibri"/>
                <a:cs typeface="Calibri"/>
                <a:sym typeface="Calibri"/>
              </a:rPr>
              <a:t>Thank You</a:t>
            </a:r>
            <a:endParaRPr b="0" i="0" sz="3500" u="none" cap="none" strike="noStrike">
              <a:solidFill>
                <a:schemeClr val="dk1"/>
              </a:solidFill>
              <a:latin typeface="Calibri"/>
              <a:ea typeface="Calibri"/>
              <a:cs typeface="Calibri"/>
              <a:sym typeface="Calibri"/>
            </a:endParaRPr>
          </a:p>
        </p:txBody>
      </p:sp>
      <p:sp>
        <p:nvSpPr>
          <p:cNvPr id="457" name="Google Shape;457;p30"/>
          <p:cNvSpPr/>
          <p:nvPr/>
        </p:nvSpPr>
        <p:spPr>
          <a:xfrm>
            <a:off x="445770" y="1097280"/>
            <a:ext cx="4800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4D"/>
              </a:buClr>
              <a:buSzPts val="1100"/>
              <a:buFont typeface="Calibri"/>
              <a:buNone/>
            </a:pPr>
            <a:r>
              <a:rPr b="0" i="0" lang="en" sz="1100" u="none" cap="none" strike="noStrike">
                <a:solidFill>
                  <a:srgbClr val="FFB84D"/>
                </a:solidFill>
                <a:latin typeface="Calibri"/>
                <a:ea typeface="Calibri"/>
                <a:cs typeface="Calibri"/>
                <a:sym typeface="Calibri"/>
              </a:rPr>
              <a:t>Let's connect and collaborate</a:t>
            </a:r>
            <a:endParaRPr b="0" i="0" sz="1100" u="none" cap="none" strike="noStrike">
              <a:solidFill>
                <a:schemeClr val="dk1"/>
              </a:solidFill>
              <a:latin typeface="Calibri"/>
              <a:ea typeface="Calibri"/>
              <a:cs typeface="Calibri"/>
              <a:sym typeface="Calibri"/>
            </a:endParaRPr>
          </a:p>
        </p:txBody>
      </p:sp>
      <p:sp>
        <p:nvSpPr>
          <p:cNvPr id="458" name="Google Shape;458;p30"/>
          <p:cNvSpPr/>
          <p:nvPr/>
        </p:nvSpPr>
        <p:spPr>
          <a:xfrm>
            <a:off x="445770" y="1611630"/>
            <a:ext cx="452628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4D"/>
              </a:buClr>
              <a:buSzPts val="1100"/>
              <a:buFont typeface="Calibri"/>
              <a:buNone/>
            </a:pPr>
            <a:r>
              <a:rPr b="1" i="0" lang="en" sz="1100" u="none" cap="none" strike="noStrike">
                <a:solidFill>
                  <a:srgbClr val="FFB84D"/>
                </a:solidFill>
                <a:latin typeface="Calibri"/>
                <a:ea typeface="Calibri"/>
                <a:cs typeface="Calibri"/>
                <a:sym typeface="Calibri"/>
              </a:rPr>
              <a:t>What I learned</a:t>
            </a:r>
            <a:endParaRPr b="0" i="0" sz="1100" u="none" cap="none" strike="noStrike">
              <a:solidFill>
                <a:schemeClr val="dk1"/>
              </a:solidFill>
              <a:latin typeface="Calibri"/>
              <a:ea typeface="Calibri"/>
              <a:cs typeface="Calibri"/>
              <a:sym typeface="Calibri"/>
            </a:endParaRPr>
          </a:p>
        </p:txBody>
      </p:sp>
      <p:sp>
        <p:nvSpPr>
          <p:cNvPr id="459" name="Google Shape;459;p30"/>
          <p:cNvSpPr/>
          <p:nvPr/>
        </p:nvSpPr>
        <p:spPr>
          <a:xfrm>
            <a:off x="445770" y="1831086"/>
            <a:ext cx="4526280" cy="651510"/>
          </a:xfrm>
          <a:prstGeom prst="rect">
            <a:avLst/>
          </a:prstGeom>
          <a:noFill/>
          <a:ln>
            <a:noFill/>
          </a:ln>
        </p:spPr>
        <p:txBody>
          <a:bodyPr anchorCtr="0" anchor="t" bIns="0" lIns="0" spcFirstLastPara="1" rIns="0" wrap="square" tIns="0">
            <a:noAutofit/>
          </a:bodyPr>
          <a:lstStyle/>
          <a:p>
            <a:pPr indent="0" lvl="0" marL="0" marR="0" rtl="0" algn="l">
              <a:lnSpc>
                <a:spcPct val="130434"/>
              </a:lnSpc>
              <a:spcBef>
                <a:spcPts val="0"/>
              </a:spcBef>
              <a:spcAft>
                <a:spcPts val="0"/>
              </a:spcAft>
              <a:buClr>
                <a:srgbClr val="C4B2B6"/>
              </a:buClr>
              <a:buSzPts val="900"/>
              <a:buFont typeface="Calibri"/>
              <a:buNone/>
            </a:pPr>
            <a:r>
              <a:rPr b="0" i="0" lang="en" sz="900" u="none" cap="none" strike="noStrike">
                <a:solidFill>
                  <a:srgbClr val="C4B2B6"/>
                </a:solidFill>
                <a:latin typeface="Calibri"/>
                <a:ea typeface="Calibri"/>
                <a:cs typeface="Calibri"/>
                <a:sym typeface="Calibri"/>
              </a:rPr>
              <a:t>Teknis: menangani concurrency di level transaksi database, merancang stok sebagai ledger yang bisa diaudit, dan menyusun kontrak API yang konsisten. Non-teknis: memecah lingkup besar menjadi target mingguan yang bisa diselesaikan.</a:t>
            </a:r>
            <a:endParaRPr b="0" i="0" sz="900" u="none" cap="none" strike="noStrike">
              <a:solidFill>
                <a:schemeClr val="dk1"/>
              </a:solidFill>
              <a:latin typeface="Calibri"/>
              <a:ea typeface="Calibri"/>
              <a:cs typeface="Calibri"/>
              <a:sym typeface="Calibri"/>
            </a:endParaRPr>
          </a:p>
        </p:txBody>
      </p:sp>
      <p:sp>
        <p:nvSpPr>
          <p:cNvPr id="460" name="Google Shape;460;p30"/>
          <p:cNvSpPr/>
          <p:nvPr/>
        </p:nvSpPr>
        <p:spPr>
          <a:xfrm>
            <a:off x="445770" y="2492502"/>
            <a:ext cx="4526400" cy="20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4D"/>
              </a:buClr>
              <a:buSzPts val="1100"/>
              <a:buFont typeface="Calibri"/>
              <a:buNone/>
            </a:pPr>
            <a:r>
              <a:rPr b="1" i="0" lang="en" sz="1100" u="none" cap="none" strike="noStrike">
                <a:solidFill>
                  <a:srgbClr val="FFB84D"/>
                </a:solidFill>
                <a:latin typeface="Calibri"/>
                <a:ea typeface="Calibri"/>
                <a:cs typeface="Calibri"/>
                <a:sym typeface="Calibri"/>
              </a:rPr>
              <a:t>Future roadmap</a:t>
            </a:r>
            <a:endParaRPr b="0" i="0" sz="1100" u="none" cap="none" strike="noStrike">
              <a:solidFill>
                <a:schemeClr val="dk1"/>
              </a:solidFill>
              <a:latin typeface="Calibri"/>
              <a:ea typeface="Calibri"/>
              <a:cs typeface="Calibri"/>
              <a:sym typeface="Calibri"/>
            </a:endParaRPr>
          </a:p>
        </p:txBody>
      </p:sp>
      <p:sp>
        <p:nvSpPr>
          <p:cNvPr id="461" name="Google Shape;461;p30"/>
          <p:cNvSpPr/>
          <p:nvPr/>
        </p:nvSpPr>
        <p:spPr>
          <a:xfrm>
            <a:off x="445770" y="2711958"/>
            <a:ext cx="4526400" cy="651600"/>
          </a:xfrm>
          <a:prstGeom prst="rect">
            <a:avLst/>
          </a:prstGeom>
          <a:noFill/>
          <a:ln>
            <a:noFill/>
          </a:ln>
        </p:spPr>
        <p:txBody>
          <a:bodyPr anchorCtr="0" anchor="t" bIns="0" lIns="0" spcFirstLastPara="1" rIns="0" wrap="square" tIns="0">
            <a:noAutofit/>
          </a:bodyPr>
          <a:lstStyle/>
          <a:p>
            <a:pPr indent="0" lvl="0" marL="0" marR="0" rtl="0" algn="l">
              <a:lnSpc>
                <a:spcPct val="130434"/>
              </a:lnSpc>
              <a:spcBef>
                <a:spcPts val="0"/>
              </a:spcBef>
              <a:spcAft>
                <a:spcPts val="0"/>
              </a:spcAft>
              <a:buClr>
                <a:srgbClr val="C4B2B6"/>
              </a:buClr>
              <a:buSzPts val="900"/>
              <a:buFont typeface="Calibri"/>
              <a:buNone/>
            </a:pPr>
            <a:r>
              <a:rPr b="0" i="0" lang="en" sz="900" u="none" cap="none" strike="noStrike">
                <a:solidFill>
                  <a:srgbClr val="C4B2B6"/>
                </a:solidFill>
                <a:latin typeface="Calibri"/>
                <a:ea typeface="Calibri"/>
                <a:cs typeface="Calibri"/>
                <a:sym typeface="Calibri"/>
              </a:rPr>
              <a:t>Integrasi payment gateway QRIS, notifikasi WhatsApp saat pesanan siap, dukungan multi-outlet, dan aplikasi mobile yang memakai API yang sama.</a:t>
            </a:r>
            <a:endParaRPr b="0" i="0" sz="900" u="none" cap="none" strike="noStrike">
              <a:solidFill>
                <a:schemeClr val="dk1"/>
              </a:solidFill>
              <a:latin typeface="Calibri"/>
              <a:ea typeface="Calibri"/>
              <a:cs typeface="Calibri"/>
              <a:sym typeface="Calibri"/>
            </a:endParaRPr>
          </a:p>
        </p:txBody>
      </p:sp>
      <p:sp>
        <p:nvSpPr>
          <p:cNvPr id="462" name="Google Shape;462;p30"/>
          <p:cNvSpPr/>
          <p:nvPr/>
        </p:nvSpPr>
        <p:spPr>
          <a:xfrm>
            <a:off x="5314950" y="1611630"/>
            <a:ext cx="3360420" cy="2674620"/>
          </a:xfrm>
          <a:prstGeom prst="roundRect">
            <a:avLst>
              <a:gd fmla="val 2564" name="adj"/>
            </a:avLst>
          </a:prstGeom>
          <a:solidFill>
            <a:srgbClr val="3A2A2E"/>
          </a:solidFill>
          <a:ln cap="flat" cmpd="sng" w="12700">
            <a:solidFill>
              <a:srgbClr val="3A2A2E"/>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63" name="Google Shape;463;p30"/>
          <p:cNvSpPr/>
          <p:nvPr/>
        </p:nvSpPr>
        <p:spPr>
          <a:xfrm>
            <a:off x="5554980" y="1783080"/>
            <a:ext cx="2880360" cy="2331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 sz="1200" u="none" cap="none" strike="noStrike">
                <a:solidFill>
                  <a:srgbClr val="FFFFFF"/>
                </a:solidFill>
                <a:latin typeface="Calibri"/>
                <a:ea typeface="Calibri"/>
                <a:cs typeface="Calibri"/>
                <a:sym typeface="Calibri"/>
              </a:rPr>
              <a:t>Supporting Links</a:t>
            </a:r>
            <a:endParaRPr b="0" i="0" sz="1200" u="none" cap="none" strike="noStrike">
              <a:solidFill>
                <a:schemeClr val="dk1"/>
              </a:solidFill>
              <a:latin typeface="Calibri"/>
              <a:ea typeface="Calibri"/>
              <a:cs typeface="Calibri"/>
              <a:sym typeface="Calibri"/>
            </a:endParaRPr>
          </a:p>
        </p:txBody>
      </p:sp>
      <p:sp>
        <p:nvSpPr>
          <p:cNvPr id="464" name="Google Shape;464;p30"/>
          <p:cNvSpPr/>
          <p:nvPr/>
        </p:nvSpPr>
        <p:spPr>
          <a:xfrm>
            <a:off x="5554980" y="2187702"/>
            <a:ext cx="96012" cy="96012"/>
          </a:xfrm>
          <a:prstGeom prst="ellipse">
            <a:avLst/>
          </a:prstGeom>
          <a:solidFill>
            <a:srgbClr val="FFB84D"/>
          </a:solidFill>
          <a:ln cap="flat" cmpd="sng" w="12700">
            <a:solidFill>
              <a:srgbClr val="FFB84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65" name="Google Shape;465;p30"/>
          <p:cNvSpPr/>
          <p:nvPr/>
        </p:nvSpPr>
        <p:spPr>
          <a:xfrm>
            <a:off x="5740146" y="2125980"/>
            <a:ext cx="27432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1" i="0" lang="en" sz="900" u="none" cap="none" strike="noStrike">
                <a:solidFill>
                  <a:srgbClr val="FFFFFF"/>
                </a:solidFill>
                <a:latin typeface="Calibri"/>
                <a:ea typeface="Calibri"/>
                <a:cs typeface="Calibri"/>
                <a:sym typeface="Calibri"/>
              </a:rPr>
              <a:t>GitHub Repository</a:t>
            </a:r>
            <a:endParaRPr b="0" i="0" sz="900" u="none" cap="none" strike="noStrike">
              <a:solidFill>
                <a:schemeClr val="dk1"/>
              </a:solidFill>
              <a:latin typeface="Calibri"/>
              <a:ea typeface="Calibri"/>
              <a:cs typeface="Calibri"/>
              <a:sym typeface="Calibri"/>
            </a:endParaRPr>
          </a:p>
        </p:txBody>
      </p:sp>
      <p:sp>
        <p:nvSpPr>
          <p:cNvPr id="466" name="Google Shape;466;p30"/>
          <p:cNvSpPr/>
          <p:nvPr/>
        </p:nvSpPr>
        <p:spPr>
          <a:xfrm>
            <a:off x="5740146" y="2331720"/>
            <a:ext cx="2743200"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4D"/>
              </a:buClr>
              <a:buSzPts val="800"/>
              <a:buFont typeface="Calibri"/>
              <a:buNone/>
            </a:pPr>
            <a:r>
              <a:rPr lang="en" sz="800">
                <a:solidFill>
                  <a:srgbClr val="FFB84D"/>
                </a:solidFill>
                <a:latin typeface="Calibri"/>
                <a:ea typeface="Calibri"/>
                <a:cs typeface="Calibri"/>
                <a:sym typeface="Calibri"/>
              </a:rPr>
              <a:t>https://github.com/adialex30/Final-Project-Fullstack-Development---AntriGo.git</a:t>
            </a:r>
            <a:endParaRPr b="0" i="0" sz="800" u="none" cap="none" strike="noStrike">
              <a:solidFill>
                <a:schemeClr val="dk1"/>
              </a:solidFill>
              <a:latin typeface="Calibri"/>
              <a:ea typeface="Calibri"/>
              <a:cs typeface="Calibri"/>
              <a:sym typeface="Calibri"/>
            </a:endParaRPr>
          </a:p>
        </p:txBody>
      </p:sp>
      <p:sp>
        <p:nvSpPr>
          <p:cNvPr id="467" name="Google Shape;467;p30"/>
          <p:cNvSpPr/>
          <p:nvPr/>
        </p:nvSpPr>
        <p:spPr>
          <a:xfrm>
            <a:off x="5554980" y="2681478"/>
            <a:ext cx="96012" cy="96012"/>
          </a:xfrm>
          <a:prstGeom prst="ellipse">
            <a:avLst/>
          </a:prstGeom>
          <a:solidFill>
            <a:srgbClr val="FFB84D"/>
          </a:solidFill>
          <a:ln cap="flat" cmpd="sng" w="12700">
            <a:solidFill>
              <a:srgbClr val="FFB84D"/>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68" name="Google Shape;468;p30"/>
          <p:cNvSpPr/>
          <p:nvPr/>
        </p:nvSpPr>
        <p:spPr>
          <a:xfrm>
            <a:off x="5740146" y="2619756"/>
            <a:ext cx="2743200" cy="2057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1" lang="en" sz="900">
                <a:solidFill>
                  <a:srgbClr val="FFFFFF"/>
                </a:solidFill>
                <a:latin typeface="Calibri"/>
                <a:ea typeface="Calibri"/>
                <a:cs typeface="Calibri"/>
                <a:sym typeface="Calibri"/>
              </a:rPr>
              <a:t>LinkedIn</a:t>
            </a:r>
            <a:endParaRPr b="0" i="0" sz="900" u="none" cap="none" strike="noStrike">
              <a:solidFill>
                <a:schemeClr val="dk1"/>
              </a:solidFill>
              <a:latin typeface="Calibri"/>
              <a:ea typeface="Calibri"/>
              <a:cs typeface="Calibri"/>
              <a:sym typeface="Calibri"/>
            </a:endParaRPr>
          </a:p>
        </p:txBody>
      </p:sp>
      <p:sp>
        <p:nvSpPr>
          <p:cNvPr id="469" name="Google Shape;469;p30"/>
          <p:cNvSpPr/>
          <p:nvPr/>
        </p:nvSpPr>
        <p:spPr>
          <a:xfrm>
            <a:off x="5740146" y="2825496"/>
            <a:ext cx="2743200" cy="28803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4D"/>
              </a:buClr>
              <a:buSzPts val="800"/>
              <a:buFont typeface="Calibri"/>
              <a:buNone/>
            </a:pPr>
            <a:r>
              <a:rPr lang="en" sz="800">
                <a:solidFill>
                  <a:srgbClr val="FFB84D"/>
                </a:solidFill>
                <a:latin typeface="Calibri"/>
                <a:ea typeface="Calibri"/>
                <a:cs typeface="Calibri"/>
                <a:sym typeface="Calibri"/>
              </a:rPr>
              <a:t>https://www.linkedin.com/in/aditya-dwi-irawan/</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