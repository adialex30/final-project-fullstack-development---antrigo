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5.xml.rels" ContentType="application/vnd.openxmlformats-package.relationships+xml"/>
  <Override PartName="/ppt/notesSlides/_rels/notesSlide8.xml.rels" ContentType="application/vnd.openxmlformats-package.relationships+xml"/>
  <Override PartName="/ppt/notesSlides/_rels/notesSlide18.xml.rels" ContentType="application/vnd.openxmlformats-package.relationships+xml"/>
  <Override PartName="/ppt/notesSlides/_rels/notesSlide21.xml.rels" ContentType="application/vnd.openxmlformats-package.relationships+xml"/>
  <Override PartName="/ppt/notesSlides/_rels/notesSlide3.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4.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5.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19.xml.rels" ContentType="application/vnd.openxmlformats-package.relationships+xml"/>
  <Override PartName="/ppt/slides/_rels/slide18.xml.rels" ContentType="application/vnd.openxmlformats-package.relationships+xml"/>
  <Override PartName="/ppt/slides/_rels/slide17.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Click to </a:t>
            </a:r>
            <a:r>
              <a:rPr b="0" lang="en-US" sz="4400" spc="-1" strike="noStrike">
                <a:latin typeface="Arial"/>
              </a:rPr>
              <a:t>move </a:t>
            </a:r>
            <a:r>
              <a:rPr b="0" lang="en-US" sz="4400" spc="-1" strike="noStrike">
                <a:latin typeface="Arial"/>
              </a:rPr>
              <a:t>the slide</a:t>
            </a:r>
            <a:endParaRPr b="0" lang="en-US"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a:t>
            </a:r>
            <a:r>
              <a:rPr b="0" lang="en-US" sz="2000" spc="-1" strike="noStrike">
                <a:latin typeface="Arial"/>
              </a:rPr>
              <a:t>notes format</a:t>
            </a:r>
            <a:endParaRPr b="0" lang="en-US"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B00B893B-D42F-49F7-ACC3-32493372D2EF}"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685800" y="857160"/>
            <a:ext cx="5485680" cy="2313720"/>
          </a:xfrm>
          <a:prstGeom prst="rect">
            <a:avLst/>
          </a:prstGeom>
          <a:ln w="0">
            <a:noFill/>
          </a:ln>
        </p:spPr>
      </p:sp>
      <p:sp>
        <p:nvSpPr>
          <p:cNvPr id="483"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Buka dengan hook, bukan perkenalan. Contoh: 'Jam makan siang, warung ramai, pesanan dicatat di kertas — dan porsi terakhir terjual dua kali.' Baru sebutkan nama. Target 20 detik.</a:t>
            </a:r>
            <a:endParaRPr b="0" lang="en-US" sz="1100" spc="-1" strike="noStrike">
              <a:latin typeface="Arial"/>
            </a:endParaRPr>
          </a:p>
        </p:txBody>
      </p:sp>
      <p:sp>
        <p:nvSpPr>
          <p:cNvPr id="484" name="PlaceHolder 3"/>
          <p:cNvSpPr>
            <a:spLocks noGrp="1"/>
          </p:cNvSpPr>
          <p:nvPr>
            <p:ph type="sldNum" idx="4"/>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C6A214F9-EAE6-4FC6-8A69-B1D82FED9A69}"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685800" y="857160"/>
            <a:ext cx="5485680" cy="2313720"/>
          </a:xfrm>
          <a:prstGeom prst="rect">
            <a:avLst/>
          </a:prstGeom>
          <a:ln w="0">
            <a:noFill/>
          </a:ln>
        </p:spPr>
      </p:sp>
      <p:sp>
        <p:nvSpPr>
          <p:cNvPr id="486"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Kartu 02 masih placeholder — isi sebelum submit. Jangan bacakan seluruh teks; satu kalimat per kartu. Target 40 detik.</a:t>
            </a:r>
            <a:endParaRPr b="0" lang="en-US" sz="1100" spc="-1" strike="noStrike">
              <a:latin typeface="Arial"/>
            </a:endParaRPr>
          </a:p>
        </p:txBody>
      </p:sp>
      <p:sp>
        <p:nvSpPr>
          <p:cNvPr id="487" name="PlaceHolder 3"/>
          <p:cNvSpPr>
            <a:spLocks noGrp="1"/>
          </p:cNvSpPr>
          <p:nvPr>
            <p:ph type="sldNum" idx="5"/>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9A03D0AE-677C-4BE6-B6E6-E0AEBF0F80FA}"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685800" y="857160"/>
            <a:ext cx="5485680" cy="2313720"/>
          </a:xfrm>
          <a:prstGeom prst="rect">
            <a:avLst/>
          </a:prstGeom>
          <a:ln w="0">
            <a:noFill/>
          </a:ln>
        </p:spPr>
      </p:sp>
      <p:sp>
        <p:nvSpPr>
          <p:cNvPr id="489"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Slide untuk audiens non-teknis. Jangan sebut nama framework di sini — simpan untuk bagian Technical Depth.</a:t>
            </a:r>
            <a:endParaRPr b="0" lang="en-US" sz="1100" spc="-1" strike="noStrike">
              <a:latin typeface="Arial"/>
            </a:endParaRPr>
          </a:p>
        </p:txBody>
      </p:sp>
      <p:sp>
        <p:nvSpPr>
          <p:cNvPr id="490" name="PlaceHolder 3"/>
          <p:cNvSpPr>
            <a:spLocks noGrp="1"/>
          </p:cNvSpPr>
          <p:nvPr>
            <p:ph type="sldNum" idx="6"/>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864029D2-5045-4D6B-872E-C38BB3D9D27B}"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685800" y="857160"/>
            <a:ext cx="5485680" cy="2313720"/>
          </a:xfrm>
          <a:prstGeom prst="rect">
            <a:avLst/>
          </a:prstGeom>
          <a:ln w="0">
            <a:noFill/>
          </a:ln>
        </p:spPr>
      </p:sp>
      <p:sp>
        <p:nvSpPr>
          <p:cNvPr id="492"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Kalau sempat, kunjungi satu warung dan tanyakan langsung bagaimana mereka mencatat pesanan saat ramai. Satu kutipan nyata jauh lebih kuat daripada asumsi, dan penguji biasanya menanyakan dari mana masalah ini diketahui.</a:t>
            </a:r>
            <a:endParaRPr b="0" lang="en-US" sz="1100" spc="-1" strike="noStrike">
              <a:latin typeface="Arial"/>
            </a:endParaRPr>
          </a:p>
        </p:txBody>
      </p:sp>
      <p:sp>
        <p:nvSpPr>
          <p:cNvPr id="493" name="PlaceHolder 3"/>
          <p:cNvSpPr>
            <a:spLocks noGrp="1"/>
          </p:cNvSpPr>
          <p:nvPr>
            <p:ph type="sldNum" idx="7"/>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CCC81C61-BE8E-47FB-A4B0-2885C917EE84}"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685800" y="857160"/>
            <a:ext cx="5485680" cy="2313720"/>
          </a:xfrm>
          <a:prstGeom prst="rect">
            <a:avLst/>
          </a:prstGeom>
          <a:ln w="0">
            <a:noFill/>
          </a:ln>
        </p:spPr>
      </p:sp>
      <p:sp>
        <p:nvSpPr>
          <p:cNvPr id="495"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Kolom kanan adalah inti pitch. Kalau waktu mepet, lewati persona dan langsung bahas kolom kanan.</a:t>
            </a:r>
            <a:endParaRPr b="0" lang="en-US" sz="1100" spc="-1" strike="noStrike">
              <a:latin typeface="Arial"/>
            </a:endParaRPr>
          </a:p>
        </p:txBody>
      </p:sp>
      <p:sp>
        <p:nvSpPr>
          <p:cNvPr id="496" name="PlaceHolder 3"/>
          <p:cNvSpPr>
            <a:spLocks noGrp="1"/>
          </p:cNvSpPr>
          <p:nvPr>
            <p:ph type="sldNum" idx="8"/>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D404ED96-AB4B-4D93-9BBE-B5D90738B5D9}"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685800" y="857160"/>
            <a:ext cx="5485680" cy="2313720"/>
          </a:xfrm>
          <a:prstGeom prst="rect">
            <a:avLst/>
          </a:prstGeom>
          <a:ln w="0">
            <a:noFill/>
          </a:ln>
        </p:spPr>
      </p:sp>
      <p:sp>
        <p:nvSpPr>
          <p:cNvPr id="498"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Pertanyaan yang sering muncul: 'kenapa freemium, bukan komisi per transaksi?' Jawaban: margin UMKM kuliner tipis, potongan per transaksi terasa langsung dan membuat mereka kembali ke cara manual.</a:t>
            </a:r>
            <a:endParaRPr b="0" lang="en-US" sz="1100" spc="-1" strike="noStrike">
              <a:latin typeface="Arial"/>
            </a:endParaRPr>
          </a:p>
        </p:txBody>
      </p:sp>
      <p:sp>
        <p:nvSpPr>
          <p:cNvPr id="499" name="PlaceHolder 3"/>
          <p:cNvSpPr>
            <a:spLocks noGrp="1"/>
          </p:cNvSpPr>
          <p:nvPr>
            <p:ph type="sldNum" idx="9"/>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DA0FEB55-66E8-4F6B-BAB0-442D54504A37}"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685800" y="857160"/>
            <a:ext cx="5485680" cy="2313720"/>
          </a:xfrm>
          <a:prstGeom prst="rect">
            <a:avLst/>
          </a:prstGeom>
          <a:ln w="0">
            <a:noFill/>
          </a:ln>
        </p:spPr>
      </p:sp>
      <p:sp>
        <p:nvSpPr>
          <p:cNvPr id="501"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Sebutkan singkat bahwa langkah 04 adalah titik paling kritis, lalu bilang detail teknisnya dibahas nanti — agar audiens menunggu bagian Technical Challenge.</a:t>
            </a:r>
            <a:endParaRPr b="0" lang="en-US" sz="1100" spc="-1" strike="noStrike">
              <a:latin typeface="Arial"/>
            </a:endParaRPr>
          </a:p>
        </p:txBody>
      </p:sp>
      <p:sp>
        <p:nvSpPr>
          <p:cNvPr id="502" name="PlaceHolder 3"/>
          <p:cNvSpPr>
            <a:spLocks noGrp="1"/>
          </p:cNvSpPr>
          <p:nvPr>
            <p:ph type="sldNum" idx="10"/>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99C4EAA6-08D0-454A-B203-543E9B77C633}"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685800" y="857160"/>
            <a:ext cx="5485680" cy="2313720"/>
          </a:xfrm>
          <a:prstGeom prst="rect">
            <a:avLst/>
          </a:prstGeom>
          <a:ln w="0">
            <a:noFill/>
          </a:ln>
        </p:spPr>
      </p:sp>
      <p:sp>
        <p:nvSpPr>
          <p:cNvPr id="504"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Ambil screenshot dalam tampilan mobile untuk sisi pelanggan — mereka memesan dari HP, dan itu memperkuat klaim responsive. Pastikan data seeder terlihat penuh; tabel kosong membuat aplikasi terlihat belum selesai.</a:t>
            </a:r>
            <a:endParaRPr b="0" lang="en-US" sz="1100" spc="-1" strike="noStrike">
              <a:latin typeface="Arial"/>
            </a:endParaRPr>
          </a:p>
        </p:txBody>
      </p:sp>
      <p:sp>
        <p:nvSpPr>
          <p:cNvPr id="505" name="PlaceHolder 3"/>
          <p:cNvSpPr>
            <a:spLocks noGrp="1"/>
          </p:cNvSpPr>
          <p:nvPr>
            <p:ph type="sldNum" idx="11"/>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408023AF-F452-4ECF-A1CD-62DA68965DA1}"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685800" y="857160"/>
            <a:ext cx="5485680" cy="2313720"/>
          </a:xfrm>
          <a:prstGeom prst="rect">
            <a:avLst/>
          </a:prstGeom>
          <a:ln w="0">
            <a:noFill/>
          </a:ln>
        </p:spPr>
      </p:sp>
      <p:sp>
        <p:nvSpPr>
          <p:cNvPr id="507"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Jangan sebut 'karena populer' sebagai alasan. Setiap pilihan harus terikat ke kebutuhan project ini.</a:t>
            </a:r>
            <a:endParaRPr b="0" lang="en-US" sz="1100" spc="-1" strike="noStrike">
              <a:latin typeface="Arial"/>
            </a:endParaRPr>
          </a:p>
        </p:txBody>
      </p:sp>
      <p:sp>
        <p:nvSpPr>
          <p:cNvPr id="508" name="PlaceHolder 3"/>
          <p:cNvSpPr>
            <a:spLocks noGrp="1"/>
          </p:cNvSpPr>
          <p:nvPr>
            <p:ph type="sldNum" idx="12"/>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04858F0B-73FC-431A-855E-8A2266EA8C72}"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685800" y="857160"/>
            <a:ext cx="5485680" cy="2313720"/>
          </a:xfrm>
          <a:prstGeom prst="rect">
            <a:avLst/>
          </a:prstGeom>
          <a:ln w="0">
            <a:noFill/>
          </a:ln>
        </p:spPr>
      </p:sp>
      <p:sp>
        <p:nvSpPr>
          <p:cNvPr id="510"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Tiga jalur itu: checkout pelanggan, order manual kasir, dan penyesuaian stok admin. Itu alasan konkret adanya Service layer — bukan sekadar mengikuti pola.</a:t>
            </a:r>
            <a:endParaRPr b="0" lang="en-US" sz="1100" spc="-1" strike="noStrike">
              <a:latin typeface="Arial"/>
            </a:endParaRPr>
          </a:p>
        </p:txBody>
      </p:sp>
      <p:sp>
        <p:nvSpPr>
          <p:cNvPr id="511" name="PlaceHolder 3"/>
          <p:cNvSpPr>
            <a:spLocks noGrp="1"/>
          </p:cNvSpPr>
          <p:nvPr>
            <p:ph type="sldNum" idx="13"/>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C8441E01-9A9E-477A-8411-39066BB481EB}"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685800" y="857160"/>
            <a:ext cx="5485680" cy="2313720"/>
          </a:xfrm>
          <a:prstGeom prst="rect">
            <a:avLst/>
          </a:prstGeom>
          <a:ln w="0">
            <a:noFill/>
          </a:ln>
        </p:spPr>
      </p:sp>
      <p:sp>
        <p:nvSpPr>
          <p:cNvPr id="513"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Pertanyaan yang hampir pasti muncul: 'kenapa nama produk disimpan lagi di order_items padahal sudah ada di products?' Jawabannya: kalau nama atau harga menu diubah bulan depan, struk lama harus tetap menampilkan yang dulu dibeli.</a:t>
            </a:r>
            <a:endParaRPr b="0" lang="en-US" sz="1100" spc="-1" strike="noStrike">
              <a:latin typeface="Arial"/>
            </a:endParaRPr>
          </a:p>
        </p:txBody>
      </p:sp>
      <p:sp>
        <p:nvSpPr>
          <p:cNvPr id="514" name="PlaceHolder 3"/>
          <p:cNvSpPr>
            <a:spLocks noGrp="1"/>
          </p:cNvSpPr>
          <p:nvPr>
            <p:ph type="sldNum" idx="14"/>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3AD45AA5-6743-4F9F-A7B2-42E9CD412C2A}"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685800" y="857160"/>
            <a:ext cx="5485680" cy="2313720"/>
          </a:xfrm>
          <a:prstGeom prst="rect">
            <a:avLst/>
          </a:prstGeom>
          <a:ln w="0">
            <a:noFill/>
          </a:ln>
        </p:spPr>
      </p:sp>
      <p:sp>
        <p:nvSpPr>
          <p:cNvPr id="516"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Buka Postman atau Swagger sebentar di sini kalau waktu memungkinkan. Dokumentasi hidup lebih meyakinkan daripada daftar endpoint di slide.</a:t>
            </a:r>
            <a:endParaRPr b="0" lang="en-US" sz="1100" spc="-1" strike="noStrike">
              <a:latin typeface="Arial"/>
            </a:endParaRPr>
          </a:p>
        </p:txBody>
      </p:sp>
      <p:sp>
        <p:nvSpPr>
          <p:cNvPr id="517" name="PlaceHolder 3"/>
          <p:cNvSpPr>
            <a:spLocks noGrp="1"/>
          </p:cNvSpPr>
          <p:nvPr>
            <p:ph type="sldNum" idx="15"/>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25851776-EE07-45CC-89DD-45D4DF1448F0}"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685800" y="857160"/>
            <a:ext cx="5485680" cy="2313720"/>
          </a:xfrm>
          <a:prstGeom prst="rect">
            <a:avLst/>
          </a:prstGeom>
          <a:ln w="0">
            <a:noFill/>
          </a:ln>
        </p:spPr>
      </p:sp>
      <p:sp>
        <p:nvSpPr>
          <p:cNvPr id="519"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PENTING: kolom Impact masih berupa target, bukan hasil pengukuran. Setelah aplikasi jadi, jalankan tiga skenario uji di blueprint (k6/JMeter) dan ganti dengan angka nyata — misalnya '50 request paralel pada stok 1: 1 berhasil, 49 ditolak 422, stok akhir tepat 0'. Angka konkret adalah pembeda terbesar di sesi penilaian, dan latar QA Anda membuat ini masuk akal untuk ditunjukkan. Siapkan juga penjelasan kenapa penguncian harus berurutan menurut id: dua keranjang dengan produk sama tapi urutan berbeda bisa saling mengunci dan memicu deadlock.</a:t>
            </a:r>
            <a:endParaRPr b="0" lang="en-US" sz="1100" spc="-1" strike="noStrike">
              <a:latin typeface="Arial"/>
            </a:endParaRPr>
          </a:p>
        </p:txBody>
      </p:sp>
      <p:sp>
        <p:nvSpPr>
          <p:cNvPr id="520" name="PlaceHolder 3"/>
          <p:cNvSpPr>
            <a:spLocks noGrp="1"/>
          </p:cNvSpPr>
          <p:nvPr>
            <p:ph type="sldNum" idx="16"/>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CA23BDAA-3E59-4795-B688-CA9D07A93357}"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685800" y="857160"/>
            <a:ext cx="5485680" cy="2313720"/>
          </a:xfrm>
          <a:prstGeom prst="rect">
            <a:avLst/>
          </a:prstGeom>
          <a:ln w="0">
            <a:noFill/>
          </a:ln>
        </p:spPr>
      </p:sp>
      <p:sp>
        <p:nvSpPr>
          <p:cNvPr id="522"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Kalau jadwal Anda meleset dari rencana, ubah slide ini agar sesuai kenyataan. Penguji lebih menghargai refleksi jujur daripada timeline yang terlihat mulus.</a:t>
            </a:r>
            <a:endParaRPr b="0" lang="en-US" sz="1100" spc="-1" strike="noStrike">
              <a:latin typeface="Arial"/>
            </a:endParaRPr>
          </a:p>
        </p:txBody>
      </p:sp>
      <p:sp>
        <p:nvSpPr>
          <p:cNvPr id="523" name="PlaceHolder 3"/>
          <p:cNvSpPr>
            <a:spLocks noGrp="1"/>
          </p:cNvSpPr>
          <p:nvPr>
            <p:ph type="sldNum" idx="17"/>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596E86BC-49DD-4658-A124-88B2ED516BE6}"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685800" y="857160"/>
            <a:ext cx="5485680" cy="2313720"/>
          </a:xfrm>
          <a:prstGeom prst="rect">
            <a:avLst/>
          </a:prstGeom>
          <a:ln w="0">
            <a:noFill/>
          </a:ln>
        </p:spPr>
      </p:sp>
      <p:sp>
        <p:nvSpPr>
          <p:cNvPr id="525"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Kalau CI belum sempat dibuat, hapus barisnya. Klaim tanpa bukti lebih merugikan daripada daftar yang lebih pendek.</a:t>
            </a:r>
            <a:endParaRPr b="0" lang="en-US" sz="1100" spc="-1" strike="noStrike">
              <a:latin typeface="Arial"/>
            </a:endParaRPr>
          </a:p>
        </p:txBody>
      </p:sp>
      <p:sp>
        <p:nvSpPr>
          <p:cNvPr id="526" name="PlaceHolder 3"/>
          <p:cNvSpPr>
            <a:spLocks noGrp="1"/>
          </p:cNvSpPr>
          <p:nvPr>
            <p:ph type="sldNum" idx="18"/>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6B90755D-13A3-4BF6-BD41-6FA38E29D268}"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685800" y="857160"/>
            <a:ext cx="5485680" cy="2313720"/>
          </a:xfrm>
          <a:prstGeom prst="rect">
            <a:avLst/>
          </a:prstGeom>
          <a:ln w="0">
            <a:noFill/>
          </a:ln>
        </p:spPr>
      </p:sp>
      <p:sp>
        <p:nvSpPr>
          <p:cNvPr id="528" name="PlaceHolder 2"/>
          <p:cNvSpPr>
            <a:spLocks noGrp="1"/>
          </p:cNvSpPr>
          <p:nvPr>
            <p:ph type="body"/>
          </p:nvPr>
        </p:nvSpPr>
        <p:spPr>
          <a:xfrm>
            <a:off x="685800" y="3300480"/>
            <a:ext cx="5485680" cy="2699640"/>
          </a:xfrm>
          <a:prstGeom prst="rect">
            <a:avLst/>
          </a:prstGeom>
          <a:noFill/>
          <a:ln w="0">
            <a:noFill/>
          </a:ln>
        </p:spPr>
        <p:txBody>
          <a:bodyPr lIns="0" rIns="0" tIns="0" bIns="0" anchor="t">
            <a:noAutofit/>
          </a:bodyPr>
          <a:p>
            <a:pPr marL="216000" indent="-216000">
              <a:lnSpc>
                <a:spcPct val="100000"/>
              </a:lnSpc>
              <a:buNone/>
              <a:tabLst>
                <a:tab algn="l" pos="0"/>
              </a:tabLst>
            </a:pPr>
            <a:r>
              <a:rPr b="0" lang="en" sz="1100" spc="-1" strike="noStrike">
                <a:latin typeface="Arial"/>
              </a:rPr>
              <a:t>Sisakan 5 menit untuk QnA. Pertanyaan yang paling mungkin muncul: (1) bagaimana menangani dua pelanggan memesan porsi terakhir bersamaan, (2) kenapa memilih Laravel dibanding Node atau Spring, (3) bagaimana mencegah pelanggan mengubah harga lewat payload. Siapkan jawaban ketiganya. Pastikan seluruh tautan berstatus open access sebelum dikumpulkan.</a:t>
            </a:r>
            <a:endParaRPr b="0" lang="en-US" sz="1100" spc="-1" strike="noStrike">
              <a:latin typeface="Arial"/>
            </a:endParaRPr>
          </a:p>
        </p:txBody>
      </p:sp>
      <p:sp>
        <p:nvSpPr>
          <p:cNvPr id="529" name="PlaceHolder 3"/>
          <p:cNvSpPr>
            <a:spLocks noGrp="1"/>
          </p:cNvSpPr>
          <p:nvPr>
            <p:ph type="sldNum" idx="19"/>
          </p:nvPr>
        </p:nvSpPr>
        <p:spPr>
          <a:xfrm>
            <a:off x="3884760" y="6513840"/>
            <a:ext cx="2971080" cy="343440"/>
          </a:xfrm>
          <a:prstGeom prst="rect">
            <a:avLst/>
          </a:prstGeom>
          <a:noFill/>
          <a:ln w="0">
            <a:noFill/>
          </a:ln>
        </p:spPr>
        <p:txBody>
          <a:bodyPr lIns="0" rIns="0" tIns="0" bIns="0" anchor="b">
            <a:noAutofit/>
          </a:bodyPr>
          <a:lstStyle>
            <a:lvl1pPr algn="r">
              <a:lnSpc>
                <a:spcPct val="100000"/>
              </a:lnSpc>
              <a:buNone/>
              <a:tabLst>
                <a:tab algn="l" pos="0"/>
              </a:tabLst>
              <a:defRPr b="0" lang="en" sz="1400" spc="-1" strike="noStrike">
                <a:solidFill>
                  <a:srgbClr val="000000"/>
                </a:solidFill>
                <a:latin typeface="Arial"/>
                <a:ea typeface="Arial"/>
              </a:defRPr>
            </a:lvl1pPr>
          </a:lstStyle>
          <a:p>
            <a:pPr algn="r">
              <a:lnSpc>
                <a:spcPct val="100000"/>
              </a:lnSpc>
              <a:buNone/>
              <a:tabLst>
                <a:tab algn="l" pos="0"/>
              </a:tabLst>
            </a:pPr>
            <a:fld id="{917F2C6C-B6FD-4D51-82B8-D2FA95D712A8}" type="slidenum">
              <a:rPr b="0" lang="en" sz="1400" spc="-1" strike="noStrike">
                <a:solidFill>
                  <a:srgbClr val="000000"/>
                </a:solidFill>
                <a:latin typeface="Arial"/>
                <a:ea typeface="Arial"/>
              </a:rPr>
              <a:t>&lt;number&gt;</a:t>
            </a:fld>
            <a:endParaRPr b="0" lang="en-US" sz="14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Click to </a:t>
            </a:r>
            <a:r>
              <a:rPr b="0" lang="en-US" sz="4400" spc="-1" strike="noStrike">
                <a:latin typeface="Arial"/>
              </a:rPr>
              <a:t>edit the </a:t>
            </a:r>
            <a:r>
              <a:rPr b="0" lang="en-US" sz="4400" spc="-1" strike="noStrike">
                <a:latin typeface="Arial"/>
              </a:rPr>
              <a:t>title text </a:t>
            </a:r>
            <a:r>
              <a:rPr b="0" lang="en-US" sz="4400" spc="-1" strike="noStrike">
                <a:latin typeface="Arial"/>
              </a:rPr>
              <a:t>format</a:t>
            </a:r>
            <a:endParaRPr b="0" lang="en-US" sz="4400" spc="-1" strike="noStrike">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44" name="Google Shape;57;p15"/>
          <p:cNvSpPr/>
          <p:nvPr/>
        </p:nvSpPr>
        <p:spPr>
          <a:xfrm>
            <a:off x="6515280" y="-1028880"/>
            <a:ext cx="4114080" cy="4114080"/>
          </a:xfrm>
          <a:prstGeom prst="ellipse">
            <a:avLst/>
          </a:prstGeom>
          <a:solidFill>
            <a:srgbClr val="3a2a2e"/>
          </a:solidFill>
          <a:ln w="12700">
            <a:solidFill>
              <a:srgbClr val="3a2a2e"/>
            </a:solidFill>
            <a:round/>
          </a:ln>
        </p:spPr>
        <p:style>
          <a:lnRef idx="0"/>
          <a:fillRef idx="0"/>
          <a:effectRef idx="0"/>
          <a:fontRef idx="minor"/>
        </p:style>
      </p:sp>
      <p:sp>
        <p:nvSpPr>
          <p:cNvPr id="45" name="Google Shape;58;p15"/>
          <p:cNvSpPr/>
          <p:nvPr/>
        </p:nvSpPr>
        <p:spPr>
          <a:xfrm>
            <a:off x="7749720" y="3086280"/>
            <a:ext cx="2193840" cy="2193840"/>
          </a:xfrm>
          <a:prstGeom prst="ellipse">
            <a:avLst/>
          </a:prstGeom>
          <a:solidFill>
            <a:srgbClr val="241819"/>
          </a:solidFill>
          <a:ln w="12700">
            <a:solidFill>
              <a:srgbClr val="241819"/>
            </a:solidFill>
            <a:round/>
          </a:ln>
        </p:spPr>
        <p:style>
          <a:lnRef idx="0"/>
          <a:fillRef idx="0"/>
          <a:effectRef idx="0"/>
          <a:fontRef idx="minor"/>
        </p:style>
      </p:sp>
      <p:sp>
        <p:nvSpPr>
          <p:cNvPr id="46" name="Google Shape;59;p15"/>
          <p:cNvSpPr/>
          <p:nvPr/>
        </p:nvSpPr>
        <p:spPr>
          <a:xfrm>
            <a:off x="445680" y="1200240"/>
            <a:ext cx="6171480" cy="2052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b84d"/>
                </a:solidFill>
                <a:latin typeface="Calibri"/>
                <a:ea typeface="Calibri"/>
              </a:rPr>
              <a:t>FULL STACK WEB DEVELOPMENT BOOTCAMP  •  FINAL PROJECT</a:t>
            </a:r>
            <a:endParaRPr b="0" lang="en-US" sz="900" spc="-1" strike="noStrike">
              <a:latin typeface="Arial"/>
            </a:endParaRPr>
          </a:p>
        </p:txBody>
      </p:sp>
      <p:sp>
        <p:nvSpPr>
          <p:cNvPr id="47" name="Google Shape;60;p15"/>
          <p:cNvSpPr/>
          <p:nvPr/>
        </p:nvSpPr>
        <p:spPr>
          <a:xfrm>
            <a:off x="445680" y="1474560"/>
            <a:ext cx="6171480" cy="788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4700" spc="-1" strike="noStrike">
                <a:solidFill>
                  <a:srgbClr val="ffffff"/>
                </a:solidFill>
                <a:latin typeface="Calibri"/>
                <a:ea typeface="Calibri"/>
              </a:rPr>
              <a:t>AntriGo</a:t>
            </a:r>
            <a:endParaRPr b="0" lang="en-US" sz="4700" spc="-1" strike="noStrike">
              <a:latin typeface="Arial"/>
            </a:endParaRPr>
          </a:p>
        </p:txBody>
      </p:sp>
      <p:sp>
        <p:nvSpPr>
          <p:cNvPr id="48" name="Google Shape;61;p15"/>
          <p:cNvSpPr/>
          <p:nvPr/>
        </p:nvSpPr>
        <p:spPr>
          <a:xfrm>
            <a:off x="445680" y="2277000"/>
            <a:ext cx="5897160" cy="3423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1400" spc="-1" strike="noStrike">
                <a:solidFill>
                  <a:srgbClr val="ffb84d"/>
                </a:solidFill>
                <a:latin typeface="Calibri"/>
                <a:ea typeface="Calibri"/>
              </a:rPr>
              <a:t>Self-Order &amp; Antrean Digital untuk UMKM Kuliner</a:t>
            </a:r>
            <a:endParaRPr b="0" lang="en-US" sz="1400" spc="-1" strike="noStrike">
              <a:latin typeface="Arial"/>
            </a:endParaRPr>
          </a:p>
        </p:txBody>
      </p:sp>
      <p:sp>
        <p:nvSpPr>
          <p:cNvPr id="49" name="Google Shape;62;p15"/>
          <p:cNvSpPr/>
          <p:nvPr/>
        </p:nvSpPr>
        <p:spPr>
          <a:xfrm>
            <a:off x="445680" y="2846160"/>
            <a:ext cx="753840" cy="23400"/>
          </a:xfrm>
          <a:prstGeom prst="rect">
            <a:avLst/>
          </a:prstGeom>
          <a:solidFill>
            <a:srgbClr val="f5533d"/>
          </a:solidFill>
          <a:ln w="12700">
            <a:solidFill>
              <a:srgbClr val="f5533d"/>
            </a:solidFill>
            <a:round/>
          </a:ln>
        </p:spPr>
        <p:style>
          <a:lnRef idx="0"/>
          <a:fillRef idx="0"/>
          <a:effectRef idx="0"/>
          <a:fontRef idx="minor"/>
        </p:style>
      </p:sp>
      <p:sp>
        <p:nvSpPr>
          <p:cNvPr id="50" name="Google Shape;63;p15"/>
          <p:cNvSpPr/>
          <p:nvPr/>
        </p:nvSpPr>
        <p:spPr>
          <a:xfrm>
            <a:off x="445680" y="3051720"/>
            <a:ext cx="4114080" cy="287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500" spc="-1" strike="noStrike">
                <a:solidFill>
                  <a:srgbClr val="ffffff"/>
                </a:solidFill>
                <a:latin typeface="Calibri"/>
                <a:ea typeface="Calibri"/>
              </a:rPr>
              <a:t>Aditya</a:t>
            </a:r>
            <a:endParaRPr b="0" lang="en-US" sz="1500" spc="-1" strike="noStrike">
              <a:latin typeface="Arial"/>
            </a:endParaRPr>
          </a:p>
        </p:txBody>
      </p:sp>
      <p:sp>
        <p:nvSpPr>
          <p:cNvPr id="51" name="Google Shape;64;p15"/>
          <p:cNvSpPr/>
          <p:nvPr/>
        </p:nvSpPr>
        <p:spPr>
          <a:xfrm>
            <a:off x="445680" y="3346560"/>
            <a:ext cx="548568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1000" spc="-1" strike="noStrike">
                <a:solidFill>
                  <a:srgbClr val="c4b2b6"/>
                </a:solidFill>
                <a:latin typeface="Calibri"/>
                <a:ea typeface="Calibri"/>
              </a:rPr>
              <a:t>QA Automation Engineer  →  Full Stack Web Developer</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52" name="Google Shape;70;p16"/>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INTRODUCTION</a:t>
            </a:r>
            <a:endParaRPr b="0" lang="en-US" sz="800" spc="-1" strike="noStrike">
              <a:latin typeface="Arial"/>
            </a:endParaRPr>
          </a:p>
        </p:txBody>
      </p:sp>
      <p:sp>
        <p:nvSpPr>
          <p:cNvPr id="53" name="Google Shape;71;p16"/>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Perkenalan Singkat</a:t>
            </a:r>
            <a:endParaRPr b="0" lang="en-US" sz="2300" spc="-1" strike="noStrike">
              <a:latin typeface="Arial"/>
            </a:endParaRPr>
          </a:p>
        </p:txBody>
      </p:sp>
      <p:sp>
        <p:nvSpPr>
          <p:cNvPr id="54" name="Google Shape;72;p16"/>
          <p:cNvSpPr/>
          <p:nvPr/>
        </p:nvSpPr>
        <p:spPr>
          <a:xfrm>
            <a:off x="445680" y="1179720"/>
            <a:ext cx="2625840" cy="2776680"/>
          </a:xfrm>
          <a:prstGeom prst="roundRect">
            <a:avLst>
              <a:gd name="adj" fmla="val 2611"/>
            </a:avLst>
          </a:prstGeom>
          <a:solidFill>
            <a:srgbClr val="2b1f22"/>
          </a:solidFill>
          <a:ln w="12700">
            <a:solidFill>
              <a:srgbClr val="2b1f22"/>
            </a:solidFill>
            <a:round/>
          </a:ln>
        </p:spPr>
        <p:style>
          <a:lnRef idx="0"/>
          <a:fillRef idx="0"/>
          <a:effectRef idx="0"/>
          <a:fontRef idx="minor"/>
        </p:style>
      </p:sp>
      <p:sp>
        <p:nvSpPr>
          <p:cNvPr id="55" name="Google Shape;73;p16"/>
          <p:cNvSpPr/>
          <p:nvPr/>
        </p:nvSpPr>
        <p:spPr>
          <a:xfrm>
            <a:off x="665280" y="1405800"/>
            <a:ext cx="287280" cy="287280"/>
          </a:xfrm>
          <a:prstGeom prst="ellipse">
            <a:avLst/>
          </a:prstGeom>
          <a:solidFill>
            <a:srgbClr val="ffb84d"/>
          </a:solidFill>
          <a:ln w="12700">
            <a:solidFill>
              <a:srgbClr val="ffb84d"/>
            </a:solidFill>
            <a:round/>
          </a:ln>
        </p:spPr>
        <p:style>
          <a:lnRef idx="0"/>
          <a:fillRef idx="0"/>
          <a:effectRef idx="0"/>
          <a:fontRef idx="minor"/>
        </p:style>
      </p:sp>
      <p:sp>
        <p:nvSpPr>
          <p:cNvPr id="56" name="Google Shape;74;p16"/>
          <p:cNvSpPr/>
          <p:nvPr/>
        </p:nvSpPr>
        <p:spPr>
          <a:xfrm>
            <a:off x="665280" y="1405800"/>
            <a:ext cx="287280" cy="287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000" spc="-1" strike="noStrike">
                <a:solidFill>
                  <a:srgbClr val="1a1214"/>
                </a:solidFill>
                <a:latin typeface="Calibri"/>
                <a:ea typeface="Calibri"/>
              </a:rPr>
              <a:t>01</a:t>
            </a:r>
            <a:endParaRPr b="0" lang="en-US" sz="1000" spc="-1" strike="noStrike">
              <a:latin typeface="Arial"/>
            </a:endParaRPr>
          </a:p>
        </p:txBody>
      </p:sp>
      <p:sp>
        <p:nvSpPr>
          <p:cNvPr id="57" name="Google Shape;75;p16"/>
          <p:cNvSpPr/>
          <p:nvPr/>
        </p:nvSpPr>
        <p:spPr>
          <a:xfrm>
            <a:off x="665280" y="1796760"/>
            <a:ext cx="2187000" cy="273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300" spc="-1" strike="noStrike">
                <a:solidFill>
                  <a:srgbClr val="ffffff"/>
                </a:solidFill>
                <a:latin typeface="Calibri"/>
                <a:ea typeface="Calibri"/>
              </a:rPr>
              <a:t>Self-Overview</a:t>
            </a:r>
            <a:endParaRPr b="0" lang="en-US" sz="1300" spc="-1" strike="noStrike">
              <a:latin typeface="Arial"/>
            </a:endParaRPr>
          </a:p>
        </p:txBody>
      </p:sp>
      <p:sp>
        <p:nvSpPr>
          <p:cNvPr id="58" name="Google Shape;76;p16"/>
          <p:cNvSpPr/>
          <p:nvPr/>
        </p:nvSpPr>
        <p:spPr>
          <a:xfrm>
            <a:off x="665280" y="2112120"/>
            <a:ext cx="2187000" cy="1748160"/>
          </a:xfrm>
          <a:prstGeom prst="rect">
            <a:avLst/>
          </a:prstGeom>
          <a:noFill/>
          <a:ln w="0">
            <a:noFill/>
          </a:ln>
        </p:spPr>
        <p:style>
          <a:lnRef idx="0"/>
          <a:fillRef idx="0"/>
          <a:effectRef idx="0"/>
          <a:fontRef idx="minor"/>
        </p:style>
        <p:txBody>
          <a:bodyPr lIns="0" rIns="0" tIns="0" bIns="0" anchor="t">
            <a:noAutofit/>
          </a:bodyPr>
          <a:p>
            <a:pPr>
              <a:lnSpc>
                <a:spcPct val="141000"/>
              </a:lnSpc>
              <a:buNone/>
              <a:tabLst>
                <a:tab algn="l" pos="0"/>
              </a:tabLst>
            </a:pPr>
            <a:r>
              <a:rPr b="0" lang="en" sz="900" spc="-1" strike="noStrike">
                <a:solidFill>
                  <a:srgbClr val="c4b2b6"/>
                </a:solidFill>
                <a:latin typeface="Calibri"/>
                <a:ea typeface="Calibri"/>
              </a:rPr>
              <a:t>QA Automation Engineer yang sedang bertransisi ke full stack development. Terbiasa membedah sistem dari sisi pengujian — kebiasaan yang kini saya bawa ke sisi pembangunannya: memikirkan edge case dan kegagalan sejak tahap desain, bukan setelah rilis.</a:t>
            </a:r>
            <a:endParaRPr b="0" lang="en-US" sz="900" spc="-1" strike="noStrike">
              <a:latin typeface="Arial"/>
            </a:endParaRPr>
          </a:p>
        </p:txBody>
      </p:sp>
      <p:sp>
        <p:nvSpPr>
          <p:cNvPr id="59" name="Google Shape;77;p16"/>
          <p:cNvSpPr/>
          <p:nvPr/>
        </p:nvSpPr>
        <p:spPr>
          <a:xfrm>
            <a:off x="3243960" y="1179720"/>
            <a:ext cx="2625840" cy="2776680"/>
          </a:xfrm>
          <a:prstGeom prst="roundRect">
            <a:avLst>
              <a:gd name="adj" fmla="val 2611"/>
            </a:avLst>
          </a:prstGeom>
          <a:solidFill>
            <a:srgbClr val="2b1f22"/>
          </a:solidFill>
          <a:ln w="12700">
            <a:solidFill>
              <a:srgbClr val="2b1f22"/>
            </a:solidFill>
            <a:round/>
          </a:ln>
        </p:spPr>
        <p:style>
          <a:lnRef idx="0"/>
          <a:fillRef idx="0"/>
          <a:effectRef idx="0"/>
          <a:fontRef idx="minor"/>
        </p:style>
      </p:sp>
      <p:sp>
        <p:nvSpPr>
          <p:cNvPr id="60" name="Google Shape;78;p16"/>
          <p:cNvSpPr/>
          <p:nvPr/>
        </p:nvSpPr>
        <p:spPr>
          <a:xfrm>
            <a:off x="3463200" y="1405800"/>
            <a:ext cx="287280" cy="287280"/>
          </a:xfrm>
          <a:prstGeom prst="ellipse">
            <a:avLst/>
          </a:prstGeom>
          <a:solidFill>
            <a:srgbClr val="ffb84d"/>
          </a:solidFill>
          <a:ln w="12700">
            <a:solidFill>
              <a:srgbClr val="ffb84d"/>
            </a:solidFill>
            <a:round/>
          </a:ln>
        </p:spPr>
        <p:style>
          <a:lnRef idx="0"/>
          <a:fillRef idx="0"/>
          <a:effectRef idx="0"/>
          <a:fontRef idx="minor"/>
        </p:style>
      </p:sp>
      <p:sp>
        <p:nvSpPr>
          <p:cNvPr id="61" name="Google Shape;79;p16"/>
          <p:cNvSpPr/>
          <p:nvPr/>
        </p:nvSpPr>
        <p:spPr>
          <a:xfrm>
            <a:off x="3463200" y="1405800"/>
            <a:ext cx="287280" cy="287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000" spc="-1" strike="noStrike">
                <a:solidFill>
                  <a:srgbClr val="1a1214"/>
                </a:solidFill>
                <a:latin typeface="Calibri"/>
                <a:ea typeface="Calibri"/>
              </a:rPr>
              <a:t>02</a:t>
            </a:r>
            <a:endParaRPr b="0" lang="en-US" sz="1000" spc="-1" strike="noStrike">
              <a:latin typeface="Arial"/>
            </a:endParaRPr>
          </a:p>
        </p:txBody>
      </p:sp>
      <p:sp>
        <p:nvSpPr>
          <p:cNvPr id="62" name="Google Shape;80;p16"/>
          <p:cNvSpPr/>
          <p:nvPr/>
        </p:nvSpPr>
        <p:spPr>
          <a:xfrm>
            <a:off x="3463200" y="1796760"/>
            <a:ext cx="2187000" cy="273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300" spc="-1" strike="noStrike">
                <a:solidFill>
                  <a:srgbClr val="ffffff"/>
                </a:solidFill>
                <a:latin typeface="Calibri"/>
                <a:ea typeface="Calibri"/>
              </a:rPr>
              <a:t>Education</a:t>
            </a:r>
            <a:endParaRPr b="0" lang="en-US" sz="1300" spc="-1" strike="noStrike">
              <a:latin typeface="Arial"/>
            </a:endParaRPr>
          </a:p>
        </p:txBody>
      </p:sp>
      <p:sp>
        <p:nvSpPr>
          <p:cNvPr id="63" name="Google Shape;81;p16"/>
          <p:cNvSpPr/>
          <p:nvPr/>
        </p:nvSpPr>
        <p:spPr>
          <a:xfrm>
            <a:off x="3463200" y="2112120"/>
            <a:ext cx="2187000" cy="1748160"/>
          </a:xfrm>
          <a:prstGeom prst="rect">
            <a:avLst/>
          </a:prstGeom>
          <a:noFill/>
          <a:ln w="0">
            <a:noFill/>
          </a:ln>
        </p:spPr>
        <p:style>
          <a:lnRef idx="0"/>
          <a:fillRef idx="0"/>
          <a:effectRef idx="0"/>
          <a:fontRef idx="minor"/>
        </p:style>
        <p:txBody>
          <a:bodyPr lIns="0" rIns="0" tIns="0" bIns="0" anchor="t">
            <a:noAutofit/>
          </a:bodyPr>
          <a:p>
            <a:pPr>
              <a:lnSpc>
                <a:spcPct val="141000"/>
              </a:lnSpc>
              <a:buNone/>
              <a:tabLst>
                <a:tab algn="l" pos="0"/>
              </a:tabLst>
            </a:pPr>
            <a:r>
              <a:rPr b="0" lang="en" sz="900" spc="-1" strike="noStrike">
                <a:solidFill>
                  <a:srgbClr val="ffb84d"/>
                </a:solidFill>
                <a:latin typeface="Calibri"/>
                <a:ea typeface="Calibri"/>
              </a:rPr>
              <a:t>Sarjana Teknik Informatika – Universitas Muhammadiyah Tangerang</a:t>
            </a:r>
            <a:endParaRPr b="0" lang="en-US" sz="900" spc="-1" strike="noStrike">
              <a:latin typeface="Arial"/>
            </a:endParaRPr>
          </a:p>
        </p:txBody>
      </p:sp>
      <p:sp>
        <p:nvSpPr>
          <p:cNvPr id="64" name="Google Shape;82;p16"/>
          <p:cNvSpPr/>
          <p:nvPr/>
        </p:nvSpPr>
        <p:spPr>
          <a:xfrm>
            <a:off x="6041880" y="1179720"/>
            <a:ext cx="2625840" cy="2776680"/>
          </a:xfrm>
          <a:prstGeom prst="roundRect">
            <a:avLst>
              <a:gd name="adj" fmla="val 2611"/>
            </a:avLst>
          </a:prstGeom>
          <a:solidFill>
            <a:srgbClr val="2b1f22"/>
          </a:solidFill>
          <a:ln w="12700">
            <a:solidFill>
              <a:srgbClr val="2b1f22"/>
            </a:solidFill>
            <a:round/>
          </a:ln>
        </p:spPr>
        <p:style>
          <a:lnRef idx="0"/>
          <a:fillRef idx="0"/>
          <a:effectRef idx="0"/>
          <a:fontRef idx="minor"/>
        </p:style>
      </p:sp>
      <p:sp>
        <p:nvSpPr>
          <p:cNvPr id="65" name="Google Shape;83;p16"/>
          <p:cNvSpPr/>
          <p:nvPr/>
        </p:nvSpPr>
        <p:spPr>
          <a:xfrm>
            <a:off x="6261480" y="1405800"/>
            <a:ext cx="287280" cy="287280"/>
          </a:xfrm>
          <a:prstGeom prst="ellipse">
            <a:avLst/>
          </a:prstGeom>
          <a:solidFill>
            <a:srgbClr val="ffb84d"/>
          </a:solidFill>
          <a:ln w="12700">
            <a:solidFill>
              <a:srgbClr val="ffb84d"/>
            </a:solidFill>
            <a:round/>
          </a:ln>
        </p:spPr>
        <p:style>
          <a:lnRef idx="0"/>
          <a:fillRef idx="0"/>
          <a:effectRef idx="0"/>
          <a:fontRef idx="minor"/>
        </p:style>
      </p:sp>
      <p:sp>
        <p:nvSpPr>
          <p:cNvPr id="66" name="Google Shape;84;p16"/>
          <p:cNvSpPr/>
          <p:nvPr/>
        </p:nvSpPr>
        <p:spPr>
          <a:xfrm>
            <a:off x="6261480" y="1405800"/>
            <a:ext cx="287280" cy="287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000" spc="-1" strike="noStrike">
                <a:solidFill>
                  <a:srgbClr val="1a1214"/>
                </a:solidFill>
                <a:latin typeface="Calibri"/>
                <a:ea typeface="Calibri"/>
              </a:rPr>
              <a:t>03</a:t>
            </a:r>
            <a:endParaRPr b="0" lang="en-US" sz="1000" spc="-1" strike="noStrike">
              <a:latin typeface="Arial"/>
            </a:endParaRPr>
          </a:p>
        </p:txBody>
      </p:sp>
      <p:sp>
        <p:nvSpPr>
          <p:cNvPr id="67" name="Google Shape;85;p16"/>
          <p:cNvSpPr/>
          <p:nvPr/>
        </p:nvSpPr>
        <p:spPr>
          <a:xfrm>
            <a:off x="6261480" y="1796760"/>
            <a:ext cx="2187000" cy="273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300" spc="-1" strike="noStrike">
                <a:solidFill>
                  <a:srgbClr val="ffffff"/>
                </a:solidFill>
                <a:latin typeface="Calibri"/>
                <a:ea typeface="Calibri"/>
              </a:rPr>
              <a:t>Working Experience</a:t>
            </a:r>
            <a:endParaRPr b="0" lang="en-US" sz="1300" spc="-1" strike="noStrike">
              <a:latin typeface="Arial"/>
            </a:endParaRPr>
          </a:p>
        </p:txBody>
      </p:sp>
      <p:sp>
        <p:nvSpPr>
          <p:cNvPr id="68" name="Google Shape;86;p16"/>
          <p:cNvSpPr/>
          <p:nvPr/>
        </p:nvSpPr>
        <p:spPr>
          <a:xfrm>
            <a:off x="6261480" y="2112120"/>
            <a:ext cx="2187000" cy="1748160"/>
          </a:xfrm>
          <a:prstGeom prst="rect">
            <a:avLst/>
          </a:prstGeom>
          <a:noFill/>
          <a:ln w="0">
            <a:noFill/>
          </a:ln>
        </p:spPr>
        <p:style>
          <a:lnRef idx="0"/>
          <a:fillRef idx="0"/>
          <a:effectRef idx="0"/>
          <a:fontRef idx="minor"/>
        </p:style>
        <p:txBody>
          <a:bodyPr lIns="0" rIns="0" tIns="0" bIns="0" anchor="t">
            <a:noAutofit/>
          </a:bodyPr>
          <a:p>
            <a:pPr>
              <a:lnSpc>
                <a:spcPct val="141000"/>
              </a:lnSpc>
              <a:buNone/>
              <a:tabLst>
                <a:tab algn="l" pos="0"/>
              </a:tabLst>
            </a:pPr>
            <a:r>
              <a:rPr b="0" lang="en" sz="900" spc="-1" strike="noStrike">
                <a:solidFill>
                  <a:srgbClr val="c4b2b6"/>
                </a:solidFill>
                <a:latin typeface="Calibri"/>
                <a:ea typeface="Calibri"/>
              </a:rPr>
              <a:t>Automation engineer untuk produk trade finance di sektor perbankan, membangun framework pengujian otomatis dengan Katalon Studio dan Groovy. Berpengalaman merancang test data terstruktur, integrasi CI/CD, dan pengujian API.</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69" name="Google Shape;92;p17"/>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OVERVIEW PROJECT</a:t>
            </a:r>
            <a:endParaRPr b="0" lang="en-US" sz="800" spc="-1" strike="noStrike">
              <a:latin typeface="Arial"/>
            </a:endParaRPr>
          </a:p>
        </p:txBody>
      </p:sp>
      <p:sp>
        <p:nvSpPr>
          <p:cNvPr id="70" name="Google Shape;93;p17"/>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Apa itu AntriGo</a:t>
            </a:r>
            <a:endParaRPr b="0" lang="en-US" sz="2300" spc="-1" strike="noStrike">
              <a:latin typeface="Arial"/>
            </a:endParaRPr>
          </a:p>
        </p:txBody>
      </p:sp>
      <p:sp>
        <p:nvSpPr>
          <p:cNvPr id="71" name="Google Shape;94;p17"/>
          <p:cNvSpPr/>
          <p:nvPr/>
        </p:nvSpPr>
        <p:spPr>
          <a:xfrm>
            <a:off x="445680" y="1179720"/>
            <a:ext cx="5897160" cy="925200"/>
          </a:xfrm>
          <a:prstGeom prst="rect">
            <a:avLst/>
          </a:prstGeom>
          <a:noFill/>
          <a:ln w="0">
            <a:noFill/>
          </a:ln>
        </p:spPr>
        <p:style>
          <a:lnRef idx="0"/>
          <a:fillRef idx="0"/>
          <a:effectRef idx="0"/>
          <a:fontRef idx="minor"/>
        </p:style>
        <p:txBody>
          <a:bodyPr lIns="0" rIns="0" tIns="0" bIns="0" anchor="t">
            <a:noAutofit/>
          </a:bodyPr>
          <a:p>
            <a:pPr>
              <a:lnSpc>
                <a:spcPct val="160000"/>
              </a:lnSpc>
              <a:buNone/>
              <a:tabLst>
                <a:tab algn="l" pos="0"/>
              </a:tabLst>
            </a:pPr>
            <a:r>
              <a:rPr b="0" lang="en" sz="1100" spc="-1" strike="noStrike">
                <a:solidFill>
                  <a:srgbClr val="c4b2b6"/>
                </a:solidFill>
                <a:latin typeface="Calibri"/>
                <a:ea typeface="Calibri"/>
              </a:rPr>
              <a:t>Aplikasi self-order untuk warung dan kedai UMKM. Pelanggan memindai QR di meja, memilih menu, membayar, lalu menerima nomor antrean digital beserta estimasi waktu tunggu. Pemilik mengelola menu, stok, dan papan antrean dapur dari satu dashboard, sekaligus mendapat laporan penjualan otomatis.</a:t>
            </a:r>
            <a:endParaRPr b="0" lang="en-US" sz="1100" spc="-1" strike="noStrike">
              <a:latin typeface="Arial"/>
            </a:endParaRPr>
          </a:p>
        </p:txBody>
      </p:sp>
      <p:sp>
        <p:nvSpPr>
          <p:cNvPr id="72" name="Google Shape;95;p17"/>
          <p:cNvSpPr/>
          <p:nvPr/>
        </p:nvSpPr>
        <p:spPr>
          <a:xfrm>
            <a:off x="445680" y="2623320"/>
            <a:ext cx="1953720" cy="1199520"/>
          </a:xfrm>
          <a:prstGeom prst="roundRect">
            <a:avLst>
              <a:gd name="adj" fmla="val 5714"/>
            </a:avLst>
          </a:prstGeom>
          <a:solidFill>
            <a:srgbClr val="2b1f22"/>
          </a:solidFill>
          <a:ln w="12700">
            <a:solidFill>
              <a:srgbClr val="2b1f22"/>
            </a:solidFill>
            <a:round/>
          </a:ln>
        </p:spPr>
        <p:style>
          <a:lnRef idx="0"/>
          <a:fillRef idx="0"/>
          <a:effectRef idx="0"/>
          <a:fontRef idx="minor"/>
        </p:style>
      </p:sp>
      <p:sp>
        <p:nvSpPr>
          <p:cNvPr id="73" name="Google Shape;96;p17"/>
          <p:cNvSpPr/>
          <p:nvPr/>
        </p:nvSpPr>
        <p:spPr>
          <a:xfrm>
            <a:off x="637920" y="2746440"/>
            <a:ext cx="1569600" cy="513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3000" spc="-1" strike="noStrike">
                <a:solidFill>
                  <a:srgbClr val="ffb84d"/>
                </a:solidFill>
                <a:latin typeface="Calibri"/>
                <a:ea typeface="Calibri"/>
              </a:rPr>
              <a:t>2</a:t>
            </a:r>
            <a:endParaRPr b="0" lang="en-US" sz="3000" spc="-1" strike="noStrike">
              <a:latin typeface="Arial"/>
            </a:endParaRPr>
          </a:p>
        </p:txBody>
      </p:sp>
      <p:sp>
        <p:nvSpPr>
          <p:cNvPr id="74" name="Google Shape;97;p17"/>
          <p:cNvSpPr/>
          <p:nvPr/>
        </p:nvSpPr>
        <p:spPr>
          <a:xfrm>
            <a:off x="637920" y="3254040"/>
            <a:ext cx="1569600" cy="465480"/>
          </a:xfrm>
          <a:prstGeom prst="rect">
            <a:avLst/>
          </a:prstGeom>
          <a:noFill/>
          <a:ln w="0">
            <a:noFill/>
          </a:ln>
        </p:spPr>
        <p:style>
          <a:lnRef idx="0"/>
          <a:fillRef idx="0"/>
          <a:effectRef idx="0"/>
          <a:fontRef idx="minor"/>
        </p:style>
        <p:txBody>
          <a:bodyPr lIns="0" rIns="0" tIns="0" bIns="0" anchor="t">
            <a:noAutofit/>
          </a:bodyPr>
          <a:p>
            <a:pPr>
              <a:lnSpc>
                <a:spcPct val="121000"/>
              </a:lnSpc>
              <a:buNone/>
              <a:tabLst>
                <a:tab algn="l" pos="0"/>
              </a:tabLst>
            </a:pPr>
            <a:r>
              <a:rPr b="0" lang="en" sz="900" spc="-1" strike="noStrike">
                <a:solidFill>
                  <a:srgbClr val="c4b2b6"/>
                </a:solidFill>
                <a:latin typeface="Calibri"/>
                <a:ea typeface="Calibri"/>
              </a:rPr>
              <a:t>Role terpisah</a:t>
            </a:r>
            <a:endParaRPr b="0" lang="en-US" sz="900" spc="-1" strike="noStrike">
              <a:latin typeface="Arial"/>
            </a:endParaRPr>
          </a:p>
          <a:p>
            <a:pPr>
              <a:lnSpc>
                <a:spcPct val="121000"/>
              </a:lnSpc>
              <a:buNone/>
              <a:tabLst>
                <a:tab algn="l" pos="0"/>
              </a:tabLst>
            </a:pPr>
            <a:r>
              <a:rPr b="0" lang="en" sz="900" spc="-1" strike="noStrike">
                <a:solidFill>
                  <a:srgbClr val="c4b2b6"/>
                </a:solidFill>
                <a:latin typeface="Calibri"/>
                <a:ea typeface="Calibri"/>
              </a:rPr>
              <a:t>Admin &amp; Pelanggan</a:t>
            </a:r>
            <a:endParaRPr b="0" lang="en-US" sz="900" spc="-1" strike="noStrike">
              <a:latin typeface="Arial"/>
            </a:endParaRPr>
          </a:p>
        </p:txBody>
      </p:sp>
      <p:sp>
        <p:nvSpPr>
          <p:cNvPr id="75" name="Google Shape;98;p17"/>
          <p:cNvSpPr/>
          <p:nvPr/>
        </p:nvSpPr>
        <p:spPr>
          <a:xfrm>
            <a:off x="2537640" y="2623320"/>
            <a:ext cx="1953720" cy="1199520"/>
          </a:xfrm>
          <a:prstGeom prst="roundRect">
            <a:avLst>
              <a:gd name="adj" fmla="val 5714"/>
            </a:avLst>
          </a:prstGeom>
          <a:solidFill>
            <a:srgbClr val="2b1f22"/>
          </a:solidFill>
          <a:ln w="12700">
            <a:solidFill>
              <a:srgbClr val="2b1f22"/>
            </a:solidFill>
            <a:round/>
          </a:ln>
        </p:spPr>
        <p:style>
          <a:lnRef idx="0"/>
          <a:fillRef idx="0"/>
          <a:effectRef idx="0"/>
          <a:fontRef idx="minor"/>
        </p:style>
      </p:sp>
      <p:sp>
        <p:nvSpPr>
          <p:cNvPr id="76" name="Google Shape;99;p17"/>
          <p:cNvSpPr/>
          <p:nvPr/>
        </p:nvSpPr>
        <p:spPr>
          <a:xfrm>
            <a:off x="2729520" y="2746440"/>
            <a:ext cx="1569600" cy="513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3000" spc="-1" strike="noStrike">
                <a:solidFill>
                  <a:srgbClr val="ffb84d"/>
                </a:solidFill>
                <a:latin typeface="Calibri"/>
                <a:ea typeface="Calibri"/>
              </a:rPr>
              <a:t>10</a:t>
            </a:r>
            <a:endParaRPr b="0" lang="en-US" sz="3000" spc="-1" strike="noStrike">
              <a:latin typeface="Arial"/>
            </a:endParaRPr>
          </a:p>
        </p:txBody>
      </p:sp>
      <p:sp>
        <p:nvSpPr>
          <p:cNvPr id="77" name="Google Shape;100;p17"/>
          <p:cNvSpPr/>
          <p:nvPr/>
        </p:nvSpPr>
        <p:spPr>
          <a:xfrm>
            <a:off x="2729520" y="3254040"/>
            <a:ext cx="1569600" cy="465480"/>
          </a:xfrm>
          <a:prstGeom prst="rect">
            <a:avLst/>
          </a:prstGeom>
          <a:noFill/>
          <a:ln w="0">
            <a:noFill/>
          </a:ln>
        </p:spPr>
        <p:style>
          <a:lnRef idx="0"/>
          <a:fillRef idx="0"/>
          <a:effectRef idx="0"/>
          <a:fontRef idx="minor"/>
        </p:style>
        <p:txBody>
          <a:bodyPr lIns="0" rIns="0" tIns="0" bIns="0" anchor="t">
            <a:noAutofit/>
          </a:bodyPr>
          <a:p>
            <a:pPr>
              <a:lnSpc>
                <a:spcPct val="121000"/>
              </a:lnSpc>
              <a:buNone/>
              <a:tabLst>
                <a:tab algn="l" pos="0"/>
              </a:tabLst>
            </a:pPr>
            <a:r>
              <a:rPr b="0" lang="en" sz="900" spc="-1" strike="noStrike">
                <a:solidFill>
                  <a:srgbClr val="c4b2b6"/>
                </a:solidFill>
                <a:latin typeface="Calibri"/>
                <a:ea typeface="Calibri"/>
              </a:rPr>
              <a:t>Tabel relasional</a:t>
            </a:r>
            <a:endParaRPr b="0" lang="en-US" sz="900" spc="-1" strike="noStrike">
              <a:latin typeface="Arial"/>
            </a:endParaRPr>
          </a:p>
          <a:p>
            <a:pPr>
              <a:lnSpc>
                <a:spcPct val="121000"/>
              </a:lnSpc>
              <a:buNone/>
              <a:tabLst>
                <a:tab algn="l" pos="0"/>
              </a:tabLst>
            </a:pPr>
            <a:r>
              <a:rPr b="0" lang="en" sz="900" spc="-1" strike="noStrike">
                <a:solidFill>
                  <a:srgbClr val="c4b2b6"/>
                </a:solidFill>
                <a:latin typeface="Calibri"/>
                <a:ea typeface="Calibri"/>
              </a:rPr>
              <a:t>dengan ledger stok</a:t>
            </a:r>
            <a:endParaRPr b="0" lang="en-US" sz="900" spc="-1" strike="noStrike">
              <a:latin typeface="Arial"/>
            </a:endParaRPr>
          </a:p>
        </p:txBody>
      </p:sp>
      <p:sp>
        <p:nvSpPr>
          <p:cNvPr id="78" name="Google Shape;101;p17"/>
          <p:cNvSpPr/>
          <p:nvPr/>
        </p:nvSpPr>
        <p:spPr>
          <a:xfrm>
            <a:off x="4629240" y="2623320"/>
            <a:ext cx="1953720" cy="1199520"/>
          </a:xfrm>
          <a:prstGeom prst="roundRect">
            <a:avLst>
              <a:gd name="adj" fmla="val 5714"/>
            </a:avLst>
          </a:prstGeom>
          <a:solidFill>
            <a:srgbClr val="2b1f22"/>
          </a:solidFill>
          <a:ln w="12700">
            <a:solidFill>
              <a:srgbClr val="2b1f22"/>
            </a:solidFill>
            <a:round/>
          </a:ln>
        </p:spPr>
        <p:style>
          <a:lnRef idx="0"/>
          <a:fillRef idx="0"/>
          <a:effectRef idx="0"/>
          <a:fontRef idx="minor"/>
        </p:style>
      </p:sp>
      <p:sp>
        <p:nvSpPr>
          <p:cNvPr id="79" name="Google Shape;102;p17"/>
          <p:cNvSpPr/>
          <p:nvPr/>
        </p:nvSpPr>
        <p:spPr>
          <a:xfrm>
            <a:off x="4821120" y="2746440"/>
            <a:ext cx="1569600" cy="513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3000" spc="-1" strike="noStrike">
                <a:solidFill>
                  <a:srgbClr val="ffb84d"/>
                </a:solidFill>
                <a:latin typeface="Calibri"/>
                <a:ea typeface="Calibri"/>
              </a:rPr>
              <a:t>30+</a:t>
            </a:r>
            <a:endParaRPr b="0" lang="en-US" sz="3000" spc="-1" strike="noStrike">
              <a:latin typeface="Arial"/>
            </a:endParaRPr>
          </a:p>
        </p:txBody>
      </p:sp>
      <p:sp>
        <p:nvSpPr>
          <p:cNvPr id="80" name="Google Shape;103;p17"/>
          <p:cNvSpPr/>
          <p:nvPr/>
        </p:nvSpPr>
        <p:spPr>
          <a:xfrm>
            <a:off x="4821120" y="3254040"/>
            <a:ext cx="1569600" cy="465480"/>
          </a:xfrm>
          <a:prstGeom prst="rect">
            <a:avLst/>
          </a:prstGeom>
          <a:noFill/>
          <a:ln w="0">
            <a:noFill/>
          </a:ln>
        </p:spPr>
        <p:style>
          <a:lnRef idx="0"/>
          <a:fillRef idx="0"/>
          <a:effectRef idx="0"/>
          <a:fontRef idx="minor"/>
        </p:style>
        <p:txBody>
          <a:bodyPr lIns="0" rIns="0" tIns="0" bIns="0" anchor="t">
            <a:noAutofit/>
          </a:bodyPr>
          <a:p>
            <a:pPr>
              <a:lnSpc>
                <a:spcPct val="121000"/>
              </a:lnSpc>
              <a:buNone/>
              <a:tabLst>
                <a:tab algn="l" pos="0"/>
              </a:tabLst>
            </a:pPr>
            <a:r>
              <a:rPr b="0" lang="en" sz="900" spc="-1" strike="noStrike">
                <a:solidFill>
                  <a:srgbClr val="c4b2b6"/>
                </a:solidFill>
                <a:latin typeface="Calibri"/>
                <a:ea typeface="Calibri"/>
              </a:rPr>
              <a:t>REST API endpoint</a:t>
            </a:r>
            <a:endParaRPr b="0" lang="en-US" sz="900" spc="-1" strike="noStrike">
              <a:latin typeface="Arial"/>
            </a:endParaRPr>
          </a:p>
          <a:p>
            <a:pPr>
              <a:lnSpc>
                <a:spcPct val="121000"/>
              </a:lnSpc>
              <a:buNone/>
              <a:tabLst>
                <a:tab algn="l" pos="0"/>
              </a:tabLst>
            </a:pPr>
            <a:r>
              <a:rPr b="0" lang="en" sz="900" spc="-1" strike="noStrike">
                <a:solidFill>
                  <a:srgbClr val="c4b2b6"/>
                </a:solidFill>
                <a:latin typeface="Calibri"/>
                <a:ea typeface="Calibri"/>
              </a:rPr>
              <a:t>terdokumentasi</a:t>
            </a:r>
            <a:endParaRPr b="0" lang="en-US" sz="900" spc="-1" strike="noStrike">
              <a:latin typeface="Arial"/>
            </a:endParaRPr>
          </a:p>
        </p:txBody>
      </p:sp>
      <p:sp>
        <p:nvSpPr>
          <p:cNvPr id="81" name="Google Shape;104;p17"/>
          <p:cNvSpPr/>
          <p:nvPr/>
        </p:nvSpPr>
        <p:spPr>
          <a:xfrm>
            <a:off x="6720840" y="2623320"/>
            <a:ext cx="1953720" cy="1199520"/>
          </a:xfrm>
          <a:prstGeom prst="roundRect">
            <a:avLst>
              <a:gd name="adj" fmla="val 5714"/>
            </a:avLst>
          </a:prstGeom>
          <a:solidFill>
            <a:srgbClr val="2b1f22"/>
          </a:solidFill>
          <a:ln w="12700">
            <a:solidFill>
              <a:srgbClr val="2b1f22"/>
            </a:solidFill>
            <a:round/>
          </a:ln>
        </p:spPr>
        <p:style>
          <a:lnRef idx="0"/>
          <a:fillRef idx="0"/>
          <a:effectRef idx="0"/>
          <a:fontRef idx="minor"/>
        </p:style>
      </p:sp>
      <p:sp>
        <p:nvSpPr>
          <p:cNvPr id="82" name="Google Shape;105;p17"/>
          <p:cNvSpPr/>
          <p:nvPr/>
        </p:nvSpPr>
        <p:spPr>
          <a:xfrm>
            <a:off x="6912720" y="2746440"/>
            <a:ext cx="1569600" cy="513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3000" spc="-1" strike="noStrike">
                <a:solidFill>
                  <a:srgbClr val="ffb84d"/>
                </a:solidFill>
                <a:latin typeface="Calibri"/>
                <a:ea typeface="Calibri"/>
              </a:rPr>
              <a:t>5</a:t>
            </a:r>
            <a:endParaRPr b="0" lang="en-US" sz="3000" spc="-1" strike="noStrike">
              <a:latin typeface="Arial"/>
            </a:endParaRPr>
          </a:p>
        </p:txBody>
      </p:sp>
      <p:sp>
        <p:nvSpPr>
          <p:cNvPr id="83" name="Google Shape;106;p17"/>
          <p:cNvSpPr/>
          <p:nvPr/>
        </p:nvSpPr>
        <p:spPr>
          <a:xfrm>
            <a:off x="6912720" y="3254040"/>
            <a:ext cx="1569600" cy="465480"/>
          </a:xfrm>
          <a:prstGeom prst="rect">
            <a:avLst/>
          </a:prstGeom>
          <a:noFill/>
          <a:ln w="0">
            <a:noFill/>
          </a:ln>
        </p:spPr>
        <p:style>
          <a:lnRef idx="0"/>
          <a:fillRef idx="0"/>
          <a:effectRef idx="0"/>
          <a:fontRef idx="minor"/>
        </p:style>
        <p:txBody>
          <a:bodyPr lIns="0" rIns="0" tIns="0" bIns="0" anchor="t">
            <a:noAutofit/>
          </a:bodyPr>
          <a:p>
            <a:pPr>
              <a:lnSpc>
                <a:spcPct val="121000"/>
              </a:lnSpc>
              <a:buNone/>
              <a:tabLst>
                <a:tab algn="l" pos="0"/>
              </a:tabLst>
            </a:pPr>
            <a:r>
              <a:rPr b="0" lang="en" sz="900" spc="-1" strike="noStrike">
                <a:solidFill>
                  <a:srgbClr val="c4b2b6"/>
                </a:solidFill>
                <a:latin typeface="Calibri"/>
                <a:ea typeface="Calibri"/>
              </a:rPr>
              <a:t>Laporan analitik</a:t>
            </a:r>
            <a:endParaRPr b="0" lang="en-US" sz="900" spc="-1" strike="noStrike">
              <a:latin typeface="Arial"/>
            </a:endParaRPr>
          </a:p>
          <a:p>
            <a:pPr>
              <a:lnSpc>
                <a:spcPct val="121000"/>
              </a:lnSpc>
              <a:buNone/>
              <a:tabLst>
                <a:tab algn="l" pos="0"/>
              </a:tabLst>
            </a:pPr>
            <a:r>
              <a:rPr b="0" lang="en" sz="900" spc="-1" strike="noStrike">
                <a:solidFill>
                  <a:srgbClr val="c4b2b6"/>
                </a:solidFill>
                <a:latin typeface="Calibri"/>
                <a:ea typeface="Calibri"/>
              </a:rPr>
              <a:t>untuk keputusan menu</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84" name="Google Shape;115;p18"/>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BUSINESS PERSPECTIVE</a:t>
            </a:r>
            <a:endParaRPr b="0" lang="en-US" sz="800" spc="-1" strike="noStrike">
              <a:latin typeface="Arial"/>
            </a:endParaRPr>
          </a:p>
        </p:txBody>
      </p:sp>
      <p:sp>
        <p:nvSpPr>
          <p:cNvPr id="85" name="Google Shape;116;p18"/>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Problem Statement</a:t>
            </a:r>
            <a:endParaRPr b="0" lang="en-US" sz="2300" spc="-1" strike="noStrike">
              <a:latin typeface="Arial"/>
            </a:endParaRPr>
          </a:p>
        </p:txBody>
      </p:sp>
      <p:sp>
        <p:nvSpPr>
          <p:cNvPr id="86" name="Google Shape;117;p18"/>
          <p:cNvSpPr/>
          <p:nvPr/>
        </p:nvSpPr>
        <p:spPr>
          <a:xfrm>
            <a:off x="445680" y="1220760"/>
            <a:ext cx="8228880" cy="973080"/>
          </a:xfrm>
          <a:prstGeom prst="roundRect">
            <a:avLst>
              <a:gd name="adj" fmla="val 7042"/>
            </a:avLst>
          </a:prstGeom>
          <a:solidFill>
            <a:srgbClr val="2b1f22"/>
          </a:solidFill>
          <a:ln w="12700">
            <a:solidFill>
              <a:srgbClr val="2b1f22"/>
            </a:solidFill>
            <a:round/>
          </a:ln>
        </p:spPr>
        <p:style>
          <a:lnRef idx="0"/>
          <a:fillRef idx="0"/>
          <a:effectRef idx="0"/>
          <a:fontRef idx="minor"/>
        </p:style>
      </p:sp>
      <p:sp>
        <p:nvSpPr>
          <p:cNvPr id="87" name="Google Shape;118;p18"/>
          <p:cNvSpPr/>
          <p:nvPr/>
        </p:nvSpPr>
        <p:spPr>
          <a:xfrm>
            <a:off x="685800" y="1412640"/>
            <a:ext cx="287280" cy="287280"/>
          </a:xfrm>
          <a:prstGeom prst="ellipse">
            <a:avLst/>
          </a:prstGeom>
          <a:solidFill>
            <a:srgbClr val="ffb84d"/>
          </a:solidFill>
          <a:ln w="12700">
            <a:solidFill>
              <a:srgbClr val="ffb84d"/>
            </a:solidFill>
            <a:round/>
          </a:ln>
        </p:spPr>
        <p:style>
          <a:lnRef idx="0"/>
          <a:fillRef idx="0"/>
          <a:effectRef idx="0"/>
          <a:fontRef idx="minor"/>
        </p:style>
      </p:sp>
      <p:sp>
        <p:nvSpPr>
          <p:cNvPr id="88" name="Google Shape;119;p18"/>
          <p:cNvSpPr/>
          <p:nvPr/>
        </p:nvSpPr>
        <p:spPr>
          <a:xfrm>
            <a:off x="685800" y="1412640"/>
            <a:ext cx="287280" cy="287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000" spc="-1" strike="noStrike">
                <a:solidFill>
                  <a:srgbClr val="1a1214"/>
                </a:solidFill>
                <a:latin typeface="Calibri"/>
                <a:ea typeface="Calibri"/>
              </a:rPr>
              <a:t>01</a:t>
            </a:r>
            <a:endParaRPr b="0" lang="en-US" sz="1000" spc="-1" strike="noStrike">
              <a:latin typeface="Arial"/>
            </a:endParaRPr>
          </a:p>
        </p:txBody>
      </p:sp>
      <p:sp>
        <p:nvSpPr>
          <p:cNvPr id="89" name="Google Shape;120;p18"/>
          <p:cNvSpPr/>
          <p:nvPr/>
        </p:nvSpPr>
        <p:spPr>
          <a:xfrm>
            <a:off x="1131480" y="1371600"/>
            <a:ext cx="2399760" cy="6850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 sz="1100" spc="-1" strike="noStrike">
                <a:solidFill>
                  <a:srgbClr val="ffffff"/>
                </a:solidFill>
                <a:latin typeface="Calibri"/>
                <a:ea typeface="Calibri"/>
              </a:rPr>
              <a:t>Masalah nyata yang diselesaikan</a:t>
            </a:r>
            <a:endParaRPr b="0" lang="en-US" sz="1100" spc="-1" strike="noStrike">
              <a:latin typeface="Arial"/>
            </a:endParaRPr>
          </a:p>
        </p:txBody>
      </p:sp>
      <p:sp>
        <p:nvSpPr>
          <p:cNvPr id="90" name="Google Shape;121;p18"/>
          <p:cNvSpPr/>
          <p:nvPr/>
        </p:nvSpPr>
        <p:spPr>
          <a:xfrm>
            <a:off x="3634920" y="1371600"/>
            <a:ext cx="4731480" cy="685080"/>
          </a:xfrm>
          <a:prstGeom prst="rect">
            <a:avLst/>
          </a:prstGeom>
          <a:noFill/>
          <a:ln w="0">
            <a:noFill/>
          </a:ln>
        </p:spPr>
        <p:style>
          <a:lnRef idx="0"/>
          <a:fillRef idx="0"/>
          <a:effectRef idx="0"/>
          <a:fontRef idx="minor"/>
        </p:style>
        <p:txBody>
          <a:bodyPr lIns="0" rIns="0" tIns="0" bIns="0" anchor="t">
            <a:noAutofit/>
          </a:bodyPr>
          <a:p>
            <a:pPr>
              <a:lnSpc>
                <a:spcPct val="133000"/>
              </a:lnSpc>
              <a:buNone/>
              <a:tabLst>
                <a:tab algn="l" pos="0"/>
              </a:tabLst>
            </a:pPr>
            <a:r>
              <a:rPr b="0" lang="en" sz="900" spc="-1" strike="noStrike">
                <a:solidFill>
                  <a:srgbClr val="c4b2b6"/>
                </a:solidFill>
                <a:latin typeface="Calibri"/>
                <a:ea typeface="Calibri"/>
              </a:rPr>
              <a:t>Di jam ramai, pesanan dicatat di kertas dan diteriakkan ke dapur. Pelanggan mengantre fisik tanpa tahu berapa lama lagi, dan pesanan bisa tertukar atau terlewat sepenuhnya.</a:t>
            </a:r>
            <a:endParaRPr b="0" lang="en-US" sz="900" spc="-1" strike="noStrike">
              <a:latin typeface="Arial"/>
            </a:endParaRPr>
          </a:p>
        </p:txBody>
      </p:sp>
      <p:sp>
        <p:nvSpPr>
          <p:cNvPr id="91" name="Google Shape;122;p18"/>
          <p:cNvSpPr/>
          <p:nvPr/>
        </p:nvSpPr>
        <p:spPr>
          <a:xfrm>
            <a:off x="445680" y="2304360"/>
            <a:ext cx="8228880" cy="973080"/>
          </a:xfrm>
          <a:prstGeom prst="roundRect">
            <a:avLst>
              <a:gd name="adj" fmla="val 7042"/>
            </a:avLst>
          </a:prstGeom>
          <a:solidFill>
            <a:srgbClr val="2b1f22"/>
          </a:solidFill>
          <a:ln w="12700">
            <a:solidFill>
              <a:srgbClr val="2b1f22"/>
            </a:solidFill>
            <a:round/>
          </a:ln>
        </p:spPr>
        <p:style>
          <a:lnRef idx="0"/>
          <a:fillRef idx="0"/>
          <a:effectRef idx="0"/>
          <a:fontRef idx="minor"/>
        </p:style>
      </p:sp>
      <p:sp>
        <p:nvSpPr>
          <p:cNvPr id="92" name="Google Shape;123;p18"/>
          <p:cNvSpPr/>
          <p:nvPr/>
        </p:nvSpPr>
        <p:spPr>
          <a:xfrm>
            <a:off x="685800" y="2496240"/>
            <a:ext cx="287280" cy="287280"/>
          </a:xfrm>
          <a:prstGeom prst="ellipse">
            <a:avLst/>
          </a:prstGeom>
          <a:solidFill>
            <a:srgbClr val="ffb84d"/>
          </a:solidFill>
          <a:ln w="12700">
            <a:solidFill>
              <a:srgbClr val="ffb84d"/>
            </a:solidFill>
            <a:round/>
          </a:ln>
        </p:spPr>
        <p:style>
          <a:lnRef idx="0"/>
          <a:fillRef idx="0"/>
          <a:effectRef idx="0"/>
          <a:fontRef idx="minor"/>
        </p:style>
      </p:sp>
      <p:sp>
        <p:nvSpPr>
          <p:cNvPr id="93" name="Google Shape;124;p18"/>
          <p:cNvSpPr/>
          <p:nvPr/>
        </p:nvSpPr>
        <p:spPr>
          <a:xfrm>
            <a:off x="685800" y="2496240"/>
            <a:ext cx="287280" cy="287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000" spc="-1" strike="noStrike">
                <a:solidFill>
                  <a:srgbClr val="1a1214"/>
                </a:solidFill>
                <a:latin typeface="Calibri"/>
                <a:ea typeface="Calibri"/>
              </a:rPr>
              <a:t>02</a:t>
            </a:r>
            <a:endParaRPr b="0" lang="en-US" sz="1000" spc="-1" strike="noStrike">
              <a:latin typeface="Arial"/>
            </a:endParaRPr>
          </a:p>
        </p:txBody>
      </p:sp>
      <p:sp>
        <p:nvSpPr>
          <p:cNvPr id="94" name="Google Shape;125;p18"/>
          <p:cNvSpPr/>
          <p:nvPr/>
        </p:nvSpPr>
        <p:spPr>
          <a:xfrm>
            <a:off x="1131480" y="2455200"/>
            <a:ext cx="2399760" cy="6850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 sz="1100" spc="-1" strike="noStrike">
                <a:solidFill>
                  <a:srgbClr val="ffffff"/>
                </a:solidFill>
                <a:latin typeface="Calibri"/>
                <a:ea typeface="Calibri"/>
              </a:rPr>
              <a:t>Siapa yang terdampak</a:t>
            </a:r>
            <a:endParaRPr b="0" lang="en-US" sz="1100" spc="-1" strike="noStrike">
              <a:latin typeface="Arial"/>
            </a:endParaRPr>
          </a:p>
        </p:txBody>
      </p:sp>
      <p:sp>
        <p:nvSpPr>
          <p:cNvPr id="95" name="Google Shape;126;p18"/>
          <p:cNvSpPr/>
          <p:nvPr/>
        </p:nvSpPr>
        <p:spPr>
          <a:xfrm>
            <a:off x="3634920" y="2455200"/>
            <a:ext cx="4731480" cy="685080"/>
          </a:xfrm>
          <a:prstGeom prst="rect">
            <a:avLst/>
          </a:prstGeom>
          <a:noFill/>
          <a:ln w="0">
            <a:noFill/>
          </a:ln>
        </p:spPr>
        <p:style>
          <a:lnRef idx="0"/>
          <a:fillRef idx="0"/>
          <a:effectRef idx="0"/>
          <a:fontRef idx="minor"/>
        </p:style>
        <p:txBody>
          <a:bodyPr lIns="0" rIns="0" tIns="0" bIns="0" anchor="t">
            <a:noAutofit/>
          </a:bodyPr>
          <a:p>
            <a:pPr>
              <a:lnSpc>
                <a:spcPct val="133000"/>
              </a:lnSpc>
              <a:buNone/>
              <a:tabLst>
                <a:tab algn="l" pos="0"/>
              </a:tabLst>
            </a:pPr>
            <a:r>
              <a:rPr b="0" lang="en" sz="900" spc="-1" strike="noStrike">
                <a:solidFill>
                  <a:srgbClr val="c4b2b6"/>
                </a:solidFill>
                <a:latin typeface="Calibri"/>
                <a:ea typeface="Calibri"/>
              </a:rPr>
              <a:t>Pemilik UMKM kehilangan pelanggan yang batal karena antrean panjang, dan tidak punya data penjualan untuk memutuskan belanja bahan. Pelanggan membuang waktu berdiri menunggu. Karyawan kewalahan mencatat sambil melayani.</a:t>
            </a:r>
            <a:endParaRPr b="0" lang="en-US" sz="900" spc="-1" strike="noStrike">
              <a:latin typeface="Arial"/>
            </a:endParaRPr>
          </a:p>
        </p:txBody>
      </p:sp>
      <p:sp>
        <p:nvSpPr>
          <p:cNvPr id="96" name="Google Shape;127;p18"/>
          <p:cNvSpPr/>
          <p:nvPr/>
        </p:nvSpPr>
        <p:spPr>
          <a:xfrm>
            <a:off x="445680" y="3387960"/>
            <a:ext cx="8228880" cy="973080"/>
          </a:xfrm>
          <a:prstGeom prst="roundRect">
            <a:avLst>
              <a:gd name="adj" fmla="val 7042"/>
            </a:avLst>
          </a:prstGeom>
          <a:solidFill>
            <a:srgbClr val="2b1f22"/>
          </a:solidFill>
          <a:ln w="12700">
            <a:solidFill>
              <a:srgbClr val="2b1f22"/>
            </a:solidFill>
            <a:round/>
          </a:ln>
        </p:spPr>
        <p:style>
          <a:lnRef idx="0"/>
          <a:fillRef idx="0"/>
          <a:effectRef idx="0"/>
          <a:fontRef idx="minor"/>
        </p:style>
      </p:sp>
      <p:sp>
        <p:nvSpPr>
          <p:cNvPr id="97" name="Google Shape;128;p18"/>
          <p:cNvSpPr/>
          <p:nvPr/>
        </p:nvSpPr>
        <p:spPr>
          <a:xfrm>
            <a:off x="685800" y="3579840"/>
            <a:ext cx="287280" cy="287280"/>
          </a:xfrm>
          <a:prstGeom prst="ellipse">
            <a:avLst/>
          </a:prstGeom>
          <a:solidFill>
            <a:srgbClr val="ffb84d"/>
          </a:solidFill>
          <a:ln w="12700">
            <a:solidFill>
              <a:srgbClr val="ffb84d"/>
            </a:solidFill>
            <a:round/>
          </a:ln>
        </p:spPr>
        <p:style>
          <a:lnRef idx="0"/>
          <a:fillRef idx="0"/>
          <a:effectRef idx="0"/>
          <a:fontRef idx="minor"/>
        </p:style>
      </p:sp>
      <p:sp>
        <p:nvSpPr>
          <p:cNvPr id="98" name="Google Shape;129;p18"/>
          <p:cNvSpPr/>
          <p:nvPr/>
        </p:nvSpPr>
        <p:spPr>
          <a:xfrm>
            <a:off x="685800" y="3579840"/>
            <a:ext cx="287280" cy="287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000" spc="-1" strike="noStrike">
                <a:solidFill>
                  <a:srgbClr val="1a1214"/>
                </a:solidFill>
                <a:latin typeface="Calibri"/>
                <a:ea typeface="Calibri"/>
              </a:rPr>
              <a:t>03</a:t>
            </a:r>
            <a:endParaRPr b="0" lang="en-US" sz="1000" spc="-1" strike="noStrike">
              <a:latin typeface="Arial"/>
            </a:endParaRPr>
          </a:p>
        </p:txBody>
      </p:sp>
      <p:sp>
        <p:nvSpPr>
          <p:cNvPr id="99" name="Google Shape;130;p18"/>
          <p:cNvSpPr/>
          <p:nvPr/>
        </p:nvSpPr>
        <p:spPr>
          <a:xfrm>
            <a:off x="1131480" y="3538800"/>
            <a:ext cx="2399760" cy="685080"/>
          </a:xfrm>
          <a:prstGeom prst="rect">
            <a:avLst/>
          </a:prstGeom>
          <a:noFill/>
          <a:ln w="0">
            <a:noFill/>
          </a:ln>
        </p:spPr>
        <p:style>
          <a:lnRef idx="0"/>
          <a:fillRef idx="0"/>
          <a:effectRef idx="0"/>
          <a:fontRef idx="minor"/>
        </p:style>
        <p:txBody>
          <a:bodyPr lIns="0" rIns="0" tIns="0" bIns="0" anchor="t">
            <a:noAutofit/>
          </a:bodyPr>
          <a:p>
            <a:pPr>
              <a:lnSpc>
                <a:spcPct val="100000"/>
              </a:lnSpc>
              <a:buNone/>
              <a:tabLst>
                <a:tab algn="l" pos="0"/>
              </a:tabLst>
            </a:pPr>
            <a:r>
              <a:rPr b="1" lang="en" sz="1100" spc="-1" strike="noStrike">
                <a:solidFill>
                  <a:srgbClr val="ffffff"/>
                </a:solidFill>
                <a:latin typeface="Calibri"/>
                <a:ea typeface="Calibri"/>
              </a:rPr>
              <a:t>Dampak jika dibiarkan</a:t>
            </a:r>
            <a:endParaRPr b="0" lang="en-US" sz="1100" spc="-1" strike="noStrike">
              <a:latin typeface="Arial"/>
            </a:endParaRPr>
          </a:p>
        </p:txBody>
      </p:sp>
      <p:sp>
        <p:nvSpPr>
          <p:cNvPr id="100" name="Google Shape;131;p18"/>
          <p:cNvSpPr/>
          <p:nvPr/>
        </p:nvSpPr>
        <p:spPr>
          <a:xfrm>
            <a:off x="3634920" y="3538800"/>
            <a:ext cx="4731480" cy="685080"/>
          </a:xfrm>
          <a:prstGeom prst="rect">
            <a:avLst/>
          </a:prstGeom>
          <a:noFill/>
          <a:ln w="0">
            <a:noFill/>
          </a:ln>
        </p:spPr>
        <p:style>
          <a:lnRef idx="0"/>
          <a:fillRef idx="0"/>
          <a:effectRef idx="0"/>
          <a:fontRef idx="minor"/>
        </p:style>
        <p:txBody>
          <a:bodyPr lIns="0" rIns="0" tIns="0" bIns="0" anchor="t">
            <a:noAutofit/>
          </a:bodyPr>
          <a:p>
            <a:pPr>
              <a:lnSpc>
                <a:spcPct val="133000"/>
              </a:lnSpc>
              <a:buNone/>
              <a:tabLst>
                <a:tab algn="l" pos="0"/>
              </a:tabLst>
            </a:pPr>
            <a:r>
              <a:rPr b="0" lang="en" sz="900" spc="-1" strike="noStrike">
                <a:solidFill>
                  <a:srgbClr val="c4b2b6"/>
                </a:solidFill>
                <a:latin typeface="Calibri"/>
                <a:ea typeface="Calibri"/>
              </a:rPr>
              <a:t>Stok habis baru ketahuan setelah pelanggan memesan dan membayar. Keputusan menu dan jam buka diambil berdasarkan perkiraan. Omzet jam sibuk tertahan oleh kecepatan mencatat, bukan kecepatan memasak.</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101" name="Google Shape;137;p19"/>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BUSINESS PERSPECTIVE</a:t>
            </a:r>
            <a:endParaRPr b="0" lang="en-US" sz="800" spc="-1" strike="noStrike">
              <a:latin typeface="Arial"/>
            </a:endParaRPr>
          </a:p>
        </p:txBody>
      </p:sp>
      <p:sp>
        <p:nvSpPr>
          <p:cNvPr id="102" name="Google Shape;138;p19"/>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Target User &amp; Value Proposition</a:t>
            </a:r>
            <a:endParaRPr b="0" lang="en-US" sz="2300" spc="-1" strike="noStrike">
              <a:latin typeface="Arial"/>
            </a:endParaRPr>
          </a:p>
        </p:txBody>
      </p:sp>
      <p:sp>
        <p:nvSpPr>
          <p:cNvPr id="103" name="Google Shape;139;p19"/>
          <p:cNvSpPr/>
          <p:nvPr/>
        </p:nvSpPr>
        <p:spPr>
          <a:xfrm>
            <a:off x="445680" y="1200240"/>
            <a:ext cx="3839760" cy="239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b84d"/>
                </a:solidFill>
                <a:latin typeface="Calibri"/>
                <a:ea typeface="Calibri"/>
              </a:rPr>
              <a:t>Target User</a:t>
            </a:r>
            <a:endParaRPr b="0" lang="en-US" sz="900" spc="-1" strike="noStrike">
              <a:latin typeface="Arial"/>
            </a:endParaRPr>
          </a:p>
        </p:txBody>
      </p:sp>
      <p:sp>
        <p:nvSpPr>
          <p:cNvPr id="104" name="Google Shape;140;p19"/>
          <p:cNvSpPr/>
          <p:nvPr/>
        </p:nvSpPr>
        <p:spPr>
          <a:xfrm>
            <a:off x="445680" y="1474560"/>
            <a:ext cx="3839760" cy="1040040"/>
          </a:xfrm>
          <a:prstGeom prst="roundRect">
            <a:avLst>
              <a:gd name="adj" fmla="val 7407"/>
            </a:avLst>
          </a:prstGeom>
          <a:solidFill>
            <a:srgbClr val="2b1f22"/>
          </a:solidFill>
          <a:ln w="12700">
            <a:solidFill>
              <a:srgbClr val="2b1f22"/>
            </a:solidFill>
            <a:round/>
          </a:ln>
        </p:spPr>
        <p:style>
          <a:lnRef idx="0"/>
          <a:fillRef idx="0"/>
          <a:effectRef idx="0"/>
          <a:fontRef idx="minor"/>
        </p:style>
      </p:sp>
      <p:sp>
        <p:nvSpPr>
          <p:cNvPr id="105" name="Google Shape;141;p19"/>
          <p:cNvSpPr/>
          <p:nvPr/>
        </p:nvSpPr>
        <p:spPr>
          <a:xfrm>
            <a:off x="651600" y="1611720"/>
            <a:ext cx="342828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Pemilik warung / kedai UMKM</a:t>
            </a:r>
            <a:endParaRPr b="0" lang="en-US" sz="1100" spc="-1" strike="noStrike">
              <a:latin typeface="Arial"/>
            </a:endParaRPr>
          </a:p>
        </p:txBody>
      </p:sp>
      <p:sp>
        <p:nvSpPr>
          <p:cNvPr id="106" name="Google Shape;142;p19"/>
          <p:cNvSpPr/>
          <p:nvPr/>
        </p:nvSpPr>
        <p:spPr>
          <a:xfrm>
            <a:off x="651600" y="1851840"/>
            <a:ext cx="3428280" cy="47952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1–5 karyawan, omzet harian di bawah 5 juta. Belum mampu berlangganan POS mahal, tapi butuh catatan penjualan yang rapi.</a:t>
            </a:r>
            <a:endParaRPr b="0" lang="en-US" sz="900" spc="-1" strike="noStrike">
              <a:latin typeface="Arial"/>
            </a:endParaRPr>
          </a:p>
        </p:txBody>
      </p:sp>
      <p:sp>
        <p:nvSpPr>
          <p:cNvPr id="107" name="Google Shape;143;p19"/>
          <p:cNvSpPr/>
          <p:nvPr/>
        </p:nvSpPr>
        <p:spPr>
          <a:xfrm>
            <a:off x="445680" y="2597400"/>
            <a:ext cx="3839760" cy="925200"/>
          </a:xfrm>
          <a:prstGeom prst="roundRect">
            <a:avLst>
              <a:gd name="adj" fmla="val 7407"/>
            </a:avLst>
          </a:prstGeom>
          <a:solidFill>
            <a:srgbClr val="2b1f22"/>
          </a:solidFill>
          <a:ln w="12700">
            <a:solidFill>
              <a:srgbClr val="2b1f22"/>
            </a:solidFill>
            <a:round/>
          </a:ln>
        </p:spPr>
        <p:style>
          <a:lnRef idx="0"/>
          <a:fillRef idx="0"/>
          <a:effectRef idx="0"/>
          <a:fontRef idx="minor"/>
        </p:style>
      </p:sp>
      <p:sp>
        <p:nvSpPr>
          <p:cNvPr id="108" name="Google Shape;144;p19"/>
          <p:cNvSpPr/>
          <p:nvPr/>
        </p:nvSpPr>
        <p:spPr>
          <a:xfrm>
            <a:off x="651600" y="2734560"/>
            <a:ext cx="342828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Pelanggan jam makan siang</a:t>
            </a:r>
            <a:endParaRPr b="0" lang="en-US" sz="1100" spc="-1" strike="noStrike">
              <a:latin typeface="Arial"/>
            </a:endParaRPr>
          </a:p>
        </p:txBody>
      </p:sp>
      <p:sp>
        <p:nvSpPr>
          <p:cNvPr id="109" name="Google Shape;145;p19"/>
          <p:cNvSpPr/>
          <p:nvPr/>
        </p:nvSpPr>
        <p:spPr>
          <a:xfrm>
            <a:off x="651600" y="2974680"/>
            <a:ext cx="3428280" cy="47952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Usia 18–40, waktu istirahat terbatas. Ingin memesan lebih dulu dan tahu kapan makanannya siap.</a:t>
            </a:r>
            <a:endParaRPr b="0" lang="en-US" sz="900" spc="-1" strike="noStrike">
              <a:latin typeface="Arial"/>
            </a:endParaRPr>
          </a:p>
        </p:txBody>
      </p:sp>
      <p:sp>
        <p:nvSpPr>
          <p:cNvPr id="110" name="Google Shape;146;p19"/>
          <p:cNvSpPr/>
          <p:nvPr/>
        </p:nvSpPr>
        <p:spPr>
          <a:xfrm>
            <a:off x="445680" y="3612600"/>
            <a:ext cx="3839760" cy="925200"/>
          </a:xfrm>
          <a:prstGeom prst="roundRect">
            <a:avLst>
              <a:gd name="adj" fmla="val 7407"/>
            </a:avLst>
          </a:prstGeom>
          <a:solidFill>
            <a:srgbClr val="2b1f22"/>
          </a:solidFill>
          <a:ln w="12700">
            <a:solidFill>
              <a:srgbClr val="2b1f22"/>
            </a:solidFill>
            <a:round/>
          </a:ln>
        </p:spPr>
        <p:style>
          <a:lnRef idx="0"/>
          <a:fillRef idx="0"/>
          <a:effectRef idx="0"/>
          <a:fontRef idx="minor"/>
        </p:style>
      </p:sp>
      <p:sp>
        <p:nvSpPr>
          <p:cNvPr id="111" name="Google Shape;147;p19"/>
          <p:cNvSpPr/>
          <p:nvPr/>
        </p:nvSpPr>
        <p:spPr>
          <a:xfrm>
            <a:off x="651600" y="3749760"/>
            <a:ext cx="342828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Karyawan dapur</a:t>
            </a:r>
            <a:endParaRPr b="0" lang="en-US" sz="1100" spc="-1" strike="noStrike">
              <a:latin typeface="Arial"/>
            </a:endParaRPr>
          </a:p>
        </p:txBody>
      </p:sp>
      <p:sp>
        <p:nvSpPr>
          <p:cNvPr id="112" name="Google Shape;148;p19"/>
          <p:cNvSpPr/>
          <p:nvPr/>
        </p:nvSpPr>
        <p:spPr>
          <a:xfrm>
            <a:off x="651600" y="3989520"/>
            <a:ext cx="3428280" cy="47952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Butuh daftar pesanan yang jelas dan berurutan, tanpa kertas bertumpuk atau teriakan silang.</a:t>
            </a:r>
            <a:endParaRPr b="0" lang="en-US" sz="900" spc="-1" strike="noStrike">
              <a:latin typeface="Arial"/>
            </a:endParaRPr>
          </a:p>
        </p:txBody>
      </p:sp>
      <p:sp>
        <p:nvSpPr>
          <p:cNvPr id="113" name="Google Shape;149;p19"/>
          <p:cNvSpPr/>
          <p:nvPr/>
        </p:nvSpPr>
        <p:spPr>
          <a:xfrm>
            <a:off x="4560480" y="1200240"/>
            <a:ext cx="4114080" cy="239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b84d"/>
                </a:solidFill>
                <a:latin typeface="Calibri"/>
                <a:ea typeface="Calibri"/>
              </a:rPr>
              <a:t>Pain Point → Value</a:t>
            </a:r>
            <a:endParaRPr b="0" lang="en-US" sz="900" spc="-1" strike="noStrike">
              <a:latin typeface="Arial"/>
            </a:endParaRPr>
          </a:p>
        </p:txBody>
      </p:sp>
      <p:sp>
        <p:nvSpPr>
          <p:cNvPr id="114" name="Google Shape;150;p19"/>
          <p:cNvSpPr/>
          <p:nvPr/>
        </p:nvSpPr>
        <p:spPr>
          <a:xfrm>
            <a:off x="4560480" y="1474560"/>
            <a:ext cx="4114080" cy="2763000"/>
          </a:xfrm>
          <a:prstGeom prst="roundRect">
            <a:avLst>
              <a:gd name="adj" fmla="val 2481"/>
            </a:avLst>
          </a:prstGeom>
          <a:solidFill>
            <a:srgbClr val="3a2a2e"/>
          </a:solidFill>
          <a:ln w="12700">
            <a:solidFill>
              <a:srgbClr val="3a2a2e"/>
            </a:solidFill>
            <a:round/>
          </a:ln>
        </p:spPr>
        <p:style>
          <a:lnRef idx="0"/>
          <a:fillRef idx="0"/>
          <a:effectRef idx="0"/>
          <a:fontRef idx="minor"/>
        </p:style>
      </p:sp>
      <p:sp>
        <p:nvSpPr>
          <p:cNvPr id="115" name="Google Shape;151;p19"/>
          <p:cNvSpPr/>
          <p:nvPr/>
        </p:nvSpPr>
        <p:spPr>
          <a:xfrm>
            <a:off x="4780080" y="1659600"/>
            <a:ext cx="3702600" cy="2052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sngStrike">
                <a:solidFill>
                  <a:srgbClr val="8a7278"/>
                </a:solidFill>
                <a:latin typeface="Calibri"/>
                <a:ea typeface="Calibri"/>
              </a:rPr>
              <a:t>Antre fisik tanpa kepastian</a:t>
            </a:r>
            <a:endParaRPr b="0" lang="en-US" sz="900" spc="-1" strike="noStrike">
              <a:latin typeface="Arial"/>
            </a:endParaRPr>
          </a:p>
        </p:txBody>
      </p:sp>
      <p:sp>
        <p:nvSpPr>
          <p:cNvPr id="116" name="Google Shape;152;p19"/>
          <p:cNvSpPr/>
          <p:nvPr/>
        </p:nvSpPr>
        <p:spPr>
          <a:xfrm>
            <a:off x="4780080" y="1865520"/>
            <a:ext cx="3702600" cy="287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ffff"/>
                </a:solidFill>
                <a:latin typeface="Calibri"/>
                <a:ea typeface="Calibri"/>
              </a:rPr>
              <a:t>Nomor antrean digital + estimasi waktu tunggu</a:t>
            </a:r>
            <a:endParaRPr b="0" lang="en-US" sz="900" spc="-1" strike="noStrike">
              <a:latin typeface="Arial"/>
            </a:endParaRPr>
          </a:p>
        </p:txBody>
      </p:sp>
      <p:sp>
        <p:nvSpPr>
          <p:cNvPr id="117" name="Google Shape;153;p19"/>
          <p:cNvSpPr/>
          <p:nvPr/>
        </p:nvSpPr>
        <p:spPr>
          <a:xfrm>
            <a:off x="4780080" y="2201400"/>
            <a:ext cx="3675240" cy="6120"/>
          </a:xfrm>
          <a:prstGeom prst="rect">
            <a:avLst/>
          </a:prstGeom>
          <a:solidFill>
            <a:srgbClr val="4e3a3e"/>
          </a:solidFill>
          <a:ln w="12700">
            <a:solidFill>
              <a:srgbClr val="4e3a3e"/>
            </a:solidFill>
            <a:round/>
          </a:ln>
        </p:spPr>
        <p:style>
          <a:lnRef idx="0"/>
          <a:fillRef idx="0"/>
          <a:effectRef idx="0"/>
          <a:fontRef idx="minor"/>
        </p:style>
      </p:sp>
      <p:sp>
        <p:nvSpPr>
          <p:cNvPr id="118" name="Google Shape;154;p19"/>
          <p:cNvSpPr/>
          <p:nvPr/>
        </p:nvSpPr>
        <p:spPr>
          <a:xfrm>
            <a:off x="4780080" y="2290680"/>
            <a:ext cx="3702600" cy="2052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sngStrike">
                <a:solidFill>
                  <a:srgbClr val="8a7278"/>
                </a:solidFill>
                <a:latin typeface="Calibri"/>
                <a:ea typeface="Calibri"/>
              </a:rPr>
              <a:t>Pesanan tertukar atau terlewat</a:t>
            </a:r>
            <a:endParaRPr b="0" lang="en-US" sz="900" spc="-1" strike="noStrike">
              <a:latin typeface="Arial"/>
            </a:endParaRPr>
          </a:p>
        </p:txBody>
      </p:sp>
      <p:sp>
        <p:nvSpPr>
          <p:cNvPr id="119" name="Google Shape;155;p19"/>
          <p:cNvSpPr/>
          <p:nvPr/>
        </p:nvSpPr>
        <p:spPr>
          <a:xfrm>
            <a:off x="4780080" y="2496240"/>
            <a:ext cx="3702600" cy="287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ffff"/>
                </a:solidFill>
                <a:latin typeface="Calibri"/>
                <a:ea typeface="Calibri"/>
              </a:rPr>
              <a:t>Papan dapur berurutan dengan jejak perubahan status</a:t>
            </a:r>
            <a:endParaRPr b="0" lang="en-US" sz="900" spc="-1" strike="noStrike">
              <a:latin typeface="Arial"/>
            </a:endParaRPr>
          </a:p>
        </p:txBody>
      </p:sp>
      <p:sp>
        <p:nvSpPr>
          <p:cNvPr id="120" name="Google Shape;156;p19"/>
          <p:cNvSpPr/>
          <p:nvPr/>
        </p:nvSpPr>
        <p:spPr>
          <a:xfrm>
            <a:off x="4780080" y="2832480"/>
            <a:ext cx="3675240" cy="6120"/>
          </a:xfrm>
          <a:prstGeom prst="rect">
            <a:avLst/>
          </a:prstGeom>
          <a:solidFill>
            <a:srgbClr val="4e3a3e"/>
          </a:solidFill>
          <a:ln w="12700">
            <a:solidFill>
              <a:srgbClr val="4e3a3e"/>
            </a:solidFill>
            <a:round/>
          </a:ln>
        </p:spPr>
        <p:style>
          <a:lnRef idx="0"/>
          <a:fillRef idx="0"/>
          <a:effectRef idx="0"/>
          <a:fontRef idx="minor"/>
        </p:style>
      </p:sp>
      <p:sp>
        <p:nvSpPr>
          <p:cNvPr id="121" name="Google Shape;157;p19"/>
          <p:cNvSpPr/>
          <p:nvPr/>
        </p:nvSpPr>
        <p:spPr>
          <a:xfrm>
            <a:off x="4780080" y="2921400"/>
            <a:ext cx="3702600" cy="2052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sngStrike">
                <a:solidFill>
                  <a:srgbClr val="8a7278"/>
                </a:solidFill>
                <a:latin typeface="Calibri"/>
                <a:ea typeface="Calibri"/>
              </a:rPr>
              <a:t>Stok habis baru ketahuan saat bayar</a:t>
            </a:r>
            <a:endParaRPr b="0" lang="en-US" sz="900" spc="-1" strike="noStrike">
              <a:latin typeface="Arial"/>
            </a:endParaRPr>
          </a:p>
        </p:txBody>
      </p:sp>
      <p:sp>
        <p:nvSpPr>
          <p:cNvPr id="122" name="Google Shape;158;p19"/>
          <p:cNvSpPr/>
          <p:nvPr/>
        </p:nvSpPr>
        <p:spPr>
          <a:xfrm>
            <a:off x="4780080" y="3127320"/>
            <a:ext cx="3702600" cy="287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ffff"/>
                </a:solidFill>
                <a:latin typeface="Calibri"/>
                <a:ea typeface="Calibri"/>
              </a:rPr>
              <a:t>Validasi stok di level transaksi database</a:t>
            </a:r>
            <a:endParaRPr b="0" lang="en-US" sz="900" spc="-1" strike="noStrike">
              <a:latin typeface="Arial"/>
            </a:endParaRPr>
          </a:p>
        </p:txBody>
      </p:sp>
      <p:sp>
        <p:nvSpPr>
          <p:cNvPr id="123" name="Google Shape;159;p19"/>
          <p:cNvSpPr/>
          <p:nvPr/>
        </p:nvSpPr>
        <p:spPr>
          <a:xfrm>
            <a:off x="4780080" y="3463200"/>
            <a:ext cx="3675240" cy="6120"/>
          </a:xfrm>
          <a:prstGeom prst="rect">
            <a:avLst/>
          </a:prstGeom>
          <a:solidFill>
            <a:srgbClr val="4e3a3e"/>
          </a:solidFill>
          <a:ln w="12700">
            <a:solidFill>
              <a:srgbClr val="4e3a3e"/>
            </a:solidFill>
            <a:round/>
          </a:ln>
        </p:spPr>
        <p:style>
          <a:lnRef idx="0"/>
          <a:fillRef idx="0"/>
          <a:effectRef idx="0"/>
          <a:fontRef idx="minor"/>
        </p:style>
      </p:sp>
      <p:sp>
        <p:nvSpPr>
          <p:cNvPr id="124" name="Google Shape;160;p19"/>
          <p:cNvSpPr/>
          <p:nvPr/>
        </p:nvSpPr>
        <p:spPr>
          <a:xfrm>
            <a:off x="4780080" y="3552480"/>
            <a:ext cx="3702600" cy="2052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sngStrike">
                <a:solidFill>
                  <a:srgbClr val="8a7278"/>
                </a:solidFill>
                <a:latin typeface="Calibri"/>
                <a:ea typeface="Calibri"/>
              </a:rPr>
              <a:t>Rekap penjualan manual</a:t>
            </a:r>
            <a:endParaRPr b="0" lang="en-US" sz="900" spc="-1" strike="noStrike">
              <a:latin typeface="Arial"/>
            </a:endParaRPr>
          </a:p>
        </p:txBody>
      </p:sp>
      <p:sp>
        <p:nvSpPr>
          <p:cNvPr id="125" name="Google Shape;161;p19"/>
          <p:cNvSpPr/>
          <p:nvPr/>
        </p:nvSpPr>
        <p:spPr>
          <a:xfrm>
            <a:off x="4780080" y="3758040"/>
            <a:ext cx="3702600" cy="287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ffff"/>
                </a:solidFill>
                <a:latin typeface="Calibri"/>
                <a:ea typeface="Calibri"/>
              </a:rPr>
              <a:t>Laporan produk terlaris &amp; stok rendah otomatis</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126" name="Google Shape;167;p20"/>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BUSINESS PERSPECTIVE</a:t>
            </a:r>
            <a:endParaRPr b="0" lang="en-US" sz="800" spc="-1" strike="noStrike">
              <a:latin typeface="Arial"/>
            </a:endParaRPr>
          </a:p>
        </p:txBody>
      </p:sp>
      <p:sp>
        <p:nvSpPr>
          <p:cNvPr id="127" name="Google Shape;168;p20"/>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Business Model, Impact &amp; Scalability</a:t>
            </a:r>
            <a:endParaRPr b="0" lang="en-US" sz="2300" spc="-1" strike="noStrike">
              <a:latin typeface="Arial"/>
            </a:endParaRPr>
          </a:p>
        </p:txBody>
      </p:sp>
      <p:sp>
        <p:nvSpPr>
          <p:cNvPr id="128" name="Google Shape;169;p20"/>
          <p:cNvSpPr/>
          <p:nvPr/>
        </p:nvSpPr>
        <p:spPr>
          <a:xfrm>
            <a:off x="445680" y="1200240"/>
            <a:ext cx="3839760" cy="1542960"/>
          </a:xfrm>
          <a:prstGeom prst="roundRect">
            <a:avLst>
              <a:gd name="adj" fmla="val 4762"/>
            </a:avLst>
          </a:prstGeom>
          <a:solidFill>
            <a:srgbClr val="2b1f22"/>
          </a:solidFill>
          <a:ln w="12700">
            <a:solidFill>
              <a:srgbClr val="2b1f22"/>
            </a:solidFill>
            <a:round/>
          </a:ln>
        </p:spPr>
        <p:style>
          <a:lnRef idx="0"/>
          <a:fillRef idx="0"/>
          <a:effectRef idx="0"/>
          <a:fontRef idx="minor"/>
        </p:style>
      </p:sp>
      <p:sp>
        <p:nvSpPr>
          <p:cNvPr id="129" name="Google Shape;170;p20"/>
          <p:cNvSpPr/>
          <p:nvPr/>
        </p:nvSpPr>
        <p:spPr>
          <a:xfrm>
            <a:off x="665280" y="1337400"/>
            <a:ext cx="342828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200" spc="-1" strike="noStrike">
                <a:solidFill>
                  <a:srgbClr val="ffb84d"/>
                </a:solidFill>
                <a:latin typeface="Calibri"/>
                <a:ea typeface="Calibri"/>
              </a:rPr>
              <a:t>Business Model</a:t>
            </a:r>
            <a:endParaRPr b="0" lang="en-US" sz="1200" spc="-1" strike="noStrike">
              <a:latin typeface="Arial"/>
            </a:endParaRPr>
          </a:p>
        </p:txBody>
      </p:sp>
      <p:sp>
        <p:nvSpPr>
          <p:cNvPr id="130" name="Google Shape;171;p20"/>
          <p:cNvSpPr/>
          <p:nvPr/>
        </p:nvSpPr>
        <p:spPr>
          <a:xfrm>
            <a:off x="665280" y="1577520"/>
            <a:ext cx="3428280" cy="3078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700" spc="-1" strike="noStrike">
                <a:solidFill>
                  <a:srgbClr val="ffffff"/>
                </a:solidFill>
                <a:latin typeface="Calibri"/>
                <a:ea typeface="Calibri"/>
              </a:rPr>
              <a:t>B2B SaaS — Freemium</a:t>
            </a:r>
            <a:endParaRPr b="0" lang="en-US" sz="1700" spc="-1" strike="noStrike">
              <a:latin typeface="Arial"/>
            </a:endParaRPr>
          </a:p>
        </p:txBody>
      </p:sp>
      <p:sp>
        <p:nvSpPr>
          <p:cNvPr id="131" name="Google Shape;172;p20"/>
          <p:cNvSpPr/>
          <p:nvPr/>
        </p:nvSpPr>
        <p:spPr>
          <a:xfrm>
            <a:off x="665280" y="1906560"/>
            <a:ext cx="3428280" cy="61668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Gratis sampai batas transaksi harian tertentu, lalu langganan bulanan per outlet. Model ini penting karena UMKM menolak biaya di muka sebelum melihat manfaatnya.</a:t>
            </a:r>
            <a:endParaRPr b="0" lang="en-US" sz="900" spc="-1" strike="noStrike">
              <a:latin typeface="Arial"/>
            </a:endParaRPr>
          </a:p>
        </p:txBody>
      </p:sp>
      <p:sp>
        <p:nvSpPr>
          <p:cNvPr id="132" name="Google Shape;173;p20"/>
          <p:cNvSpPr/>
          <p:nvPr/>
        </p:nvSpPr>
        <p:spPr>
          <a:xfrm>
            <a:off x="445680" y="2849400"/>
            <a:ext cx="3839760" cy="1508040"/>
          </a:xfrm>
          <a:prstGeom prst="roundRect">
            <a:avLst>
              <a:gd name="adj" fmla="val 4545"/>
            </a:avLst>
          </a:prstGeom>
          <a:solidFill>
            <a:srgbClr val="2b1f22"/>
          </a:solidFill>
          <a:ln w="12700">
            <a:solidFill>
              <a:srgbClr val="2b1f22"/>
            </a:solidFill>
            <a:round/>
          </a:ln>
        </p:spPr>
        <p:style>
          <a:lnRef idx="0"/>
          <a:fillRef idx="0"/>
          <a:effectRef idx="0"/>
          <a:fontRef idx="minor"/>
        </p:style>
      </p:sp>
      <p:sp>
        <p:nvSpPr>
          <p:cNvPr id="133" name="Google Shape;174;p20"/>
          <p:cNvSpPr/>
          <p:nvPr/>
        </p:nvSpPr>
        <p:spPr>
          <a:xfrm>
            <a:off x="665280" y="2914560"/>
            <a:ext cx="342828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200" spc="-1" strike="noStrike">
                <a:solidFill>
                  <a:srgbClr val="ffb84d"/>
                </a:solidFill>
                <a:latin typeface="Calibri"/>
                <a:ea typeface="Calibri"/>
              </a:rPr>
              <a:t>Impact</a:t>
            </a:r>
            <a:endParaRPr b="0" lang="en-US" sz="1200" spc="-1" strike="noStrike">
              <a:latin typeface="Arial"/>
            </a:endParaRPr>
          </a:p>
        </p:txBody>
      </p:sp>
      <p:sp>
        <p:nvSpPr>
          <p:cNvPr id="134" name="Google Shape;175;p20"/>
          <p:cNvSpPr/>
          <p:nvPr/>
        </p:nvSpPr>
        <p:spPr>
          <a:xfrm>
            <a:off x="665280" y="3168360"/>
            <a:ext cx="3428280" cy="1028160"/>
          </a:xfrm>
          <a:prstGeom prst="rect">
            <a:avLst/>
          </a:prstGeom>
          <a:noFill/>
          <a:ln w="0">
            <a:noFill/>
          </a:ln>
        </p:spPr>
        <p:style>
          <a:lnRef idx="0"/>
          <a:fillRef idx="0"/>
          <a:effectRef idx="0"/>
          <a:fontRef idx="minor"/>
        </p:style>
        <p:txBody>
          <a:bodyPr lIns="0" rIns="0" tIns="0" bIns="0" anchor="t">
            <a:noAutofit/>
          </a:bodyPr>
          <a:p>
            <a:pPr marL="139680" indent="-146160">
              <a:lnSpc>
                <a:spcPct val="100000"/>
              </a:lnSpc>
              <a:buClr>
                <a:srgbClr val="c4b2b6"/>
              </a:buClr>
              <a:buFont typeface="Calibri"/>
              <a:buChar char="•"/>
            </a:pPr>
            <a:r>
              <a:rPr b="0" lang="en" sz="900" spc="-1" strike="noStrike">
                <a:solidFill>
                  <a:srgbClr val="c4b2b6"/>
                </a:solidFill>
                <a:latin typeface="Calibri"/>
                <a:ea typeface="Calibri"/>
              </a:rPr>
              <a:t>Kapasitas layanan tidak lagi dibatasi kecepatan mencatat</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Pesanan salah dan terlewat berkurang karena ada jejak status</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Belanja bahan berdasarkan data produk terlaris, bukan perkiraan</a:t>
            </a:r>
            <a:endParaRPr b="0" lang="en-US" sz="900" spc="-1" strike="noStrike">
              <a:latin typeface="Arial"/>
            </a:endParaRPr>
          </a:p>
        </p:txBody>
      </p:sp>
      <p:sp>
        <p:nvSpPr>
          <p:cNvPr id="135" name="Google Shape;176;p20"/>
          <p:cNvSpPr/>
          <p:nvPr/>
        </p:nvSpPr>
        <p:spPr>
          <a:xfrm>
            <a:off x="4560480" y="1200240"/>
            <a:ext cx="4114080" cy="3143160"/>
          </a:xfrm>
          <a:prstGeom prst="roundRect">
            <a:avLst>
              <a:gd name="adj" fmla="val 2222"/>
            </a:avLst>
          </a:prstGeom>
          <a:solidFill>
            <a:srgbClr val="3a2a2e"/>
          </a:solidFill>
          <a:ln w="12700">
            <a:solidFill>
              <a:srgbClr val="3a2a2e"/>
            </a:solidFill>
            <a:round/>
          </a:ln>
        </p:spPr>
        <p:style>
          <a:lnRef idx="0"/>
          <a:fillRef idx="0"/>
          <a:effectRef idx="0"/>
          <a:fontRef idx="minor"/>
        </p:style>
      </p:sp>
      <p:sp>
        <p:nvSpPr>
          <p:cNvPr id="136" name="Google Shape;177;p20"/>
          <p:cNvSpPr/>
          <p:nvPr/>
        </p:nvSpPr>
        <p:spPr>
          <a:xfrm>
            <a:off x="4780080" y="1357920"/>
            <a:ext cx="370260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200" spc="-1" strike="noStrike">
                <a:solidFill>
                  <a:srgbClr val="ffb84d"/>
                </a:solidFill>
                <a:latin typeface="Calibri"/>
                <a:ea typeface="Calibri"/>
              </a:rPr>
              <a:t>Scalability Potential</a:t>
            </a:r>
            <a:endParaRPr b="0" lang="en-US" sz="1200" spc="-1" strike="noStrike">
              <a:latin typeface="Arial"/>
            </a:endParaRPr>
          </a:p>
        </p:txBody>
      </p:sp>
      <p:sp>
        <p:nvSpPr>
          <p:cNvPr id="137" name="Google Shape;178;p20"/>
          <p:cNvSpPr/>
          <p:nvPr/>
        </p:nvSpPr>
        <p:spPr>
          <a:xfrm>
            <a:off x="4780080" y="1680120"/>
            <a:ext cx="287280" cy="287280"/>
          </a:xfrm>
          <a:prstGeom prst="ellipse">
            <a:avLst/>
          </a:prstGeom>
          <a:solidFill>
            <a:srgbClr val="f5533d"/>
          </a:solidFill>
          <a:ln w="12700">
            <a:solidFill>
              <a:srgbClr val="f5533d"/>
            </a:solidFill>
            <a:round/>
          </a:ln>
        </p:spPr>
        <p:style>
          <a:lnRef idx="0"/>
          <a:fillRef idx="0"/>
          <a:effectRef idx="0"/>
          <a:fontRef idx="minor"/>
        </p:style>
      </p:sp>
      <p:sp>
        <p:nvSpPr>
          <p:cNvPr id="138" name="Google Shape;179;p20"/>
          <p:cNvSpPr/>
          <p:nvPr/>
        </p:nvSpPr>
        <p:spPr>
          <a:xfrm>
            <a:off x="4780080" y="1680120"/>
            <a:ext cx="287280" cy="287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000" spc="-1" strike="noStrike">
                <a:solidFill>
                  <a:srgbClr val="1a1214"/>
                </a:solidFill>
                <a:latin typeface="Calibri"/>
                <a:ea typeface="Calibri"/>
              </a:rPr>
              <a:t>1</a:t>
            </a:r>
            <a:endParaRPr b="0" lang="en-US" sz="1000" spc="-1" strike="noStrike">
              <a:latin typeface="Arial"/>
            </a:endParaRPr>
          </a:p>
        </p:txBody>
      </p:sp>
      <p:sp>
        <p:nvSpPr>
          <p:cNvPr id="139" name="Google Shape;180;p20"/>
          <p:cNvSpPr/>
          <p:nvPr/>
        </p:nvSpPr>
        <p:spPr>
          <a:xfrm>
            <a:off x="5177880" y="1659600"/>
            <a:ext cx="329112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More Users</a:t>
            </a:r>
            <a:endParaRPr b="0" lang="en-US" sz="1100" spc="-1" strike="noStrike">
              <a:latin typeface="Arial"/>
            </a:endParaRPr>
          </a:p>
        </p:txBody>
      </p:sp>
      <p:sp>
        <p:nvSpPr>
          <p:cNvPr id="140" name="Google Shape;181;p20"/>
          <p:cNvSpPr/>
          <p:nvPr/>
        </p:nvSpPr>
        <p:spPr>
          <a:xfrm>
            <a:off x="5177880" y="1899720"/>
            <a:ext cx="3325320" cy="61668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Multi-outlet: satu instance melayani banyak warung dengan data terisolasi per tenant.</a:t>
            </a:r>
            <a:endParaRPr b="0" lang="en-US" sz="900" spc="-1" strike="noStrike">
              <a:latin typeface="Arial"/>
            </a:endParaRPr>
          </a:p>
        </p:txBody>
      </p:sp>
      <p:sp>
        <p:nvSpPr>
          <p:cNvPr id="141" name="Google Shape;182;p20"/>
          <p:cNvSpPr/>
          <p:nvPr/>
        </p:nvSpPr>
        <p:spPr>
          <a:xfrm>
            <a:off x="4780080" y="2571840"/>
            <a:ext cx="287280" cy="287280"/>
          </a:xfrm>
          <a:prstGeom prst="ellipse">
            <a:avLst/>
          </a:prstGeom>
          <a:solidFill>
            <a:srgbClr val="f5533d"/>
          </a:solidFill>
          <a:ln w="12700">
            <a:solidFill>
              <a:srgbClr val="f5533d"/>
            </a:solidFill>
            <a:round/>
          </a:ln>
        </p:spPr>
        <p:style>
          <a:lnRef idx="0"/>
          <a:fillRef idx="0"/>
          <a:effectRef idx="0"/>
          <a:fontRef idx="minor"/>
        </p:style>
      </p:sp>
      <p:sp>
        <p:nvSpPr>
          <p:cNvPr id="142" name="Google Shape;183;p20"/>
          <p:cNvSpPr/>
          <p:nvPr/>
        </p:nvSpPr>
        <p:spPr>
          <a:xfrm>
            <a:off x="4780080" y="2571840"/>
            <a:ext cx="287280" cy="287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000" spc="-1" strike="noStrike">
                <a:solidFill>
                  <a:srgbClr val="1a1214"/>
                </a:solidFill>
                <a:latin typeface="Calibri"/>
                <a:ea typeface="Calibri"/>
              </a:rPr>
              <a:t>2</a:t>
            </a:r>
            <a:endParaRPr b="0" lang="en-US" sz="1000" spc="-1" strike="noStrike">
              <a:latin typeface="Arial"/>
            </a:endParaRPr>
          </a:p>
        </p:txBody>
      </p:sp>
      <p:sp>
        <p:nvSpPr>
          <p:cNvPr id="143" name="Google Shape;184;p20"/>
          <p:cNvSpPr/>
          <p:nvPr/>
        </p:nvSpPr>
        <p:spPr>
          <a:xfrm>
            <a:off x="5177880" y="2551320"/>
            <a:ext cx="329112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More Data</a:t>
            </a:r>
            <a:endParaRPr b="0" lang="en-US" sz="1100" spc="-1" strike="noStrike">
              <a:latin typeface="Arial"/>
            </a:endParaRPr>
          </a:p>
        </p:txBody>
      </p:sp>
      <p:sp>
        <p:nvSpPr>
          <p:cNvPr id="144" name="Google Shape;185;p20"/>
          <p:cNvSpPr/>
          <p:nvPr/>
        </p:nvSpPr>
        <p:spPr>
          <a:xfrm>
            <a:off x="5177880" y="2791080"/>
            <a:ext cx="3325320" cy="61668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Index komposit pada kolom laporan, agregasi di level SQL, cache Redis untuk katalog dan dashboard.</a:t>
            </a:r>
            <a:endParaRPr b="0" lang="en-US" sz="900" spc="-1" strike="noStrike">
              <a:latin typeface="Arial"/>
            </a:endParaRPr>
          </a:p>
        </p:txBody>
      </p:sp>
      <p:sp>
        <p:nvSpPr>
          <p:cNvPr id="145" name="Google Shape;186;p20"/>
          <p:cNvSpPr/>
          <p:nvPr/>
        </p:nvSpPr>
        <p:spPr>
          <a:xfrm>
            <a:off x="4780080" y="3463200"/>
            <a:ext cx="287280" cy="287280"/>
          </a:xfrm>
          <a:prstGeom prst="ellipse">
            <a:avLst/>
          </a:prstGeom>
          <a:solidFill>
            <a:srgbClr val="f5533d"/>
          </a:solidFill>
          <a:ln w="12700">
            <a:solidFill>
              <a:srgbClr val="f5533d"/>
            </a:solidFill>
            <a:round/>
          </a:ln>
        </p:spPr>
        <p:style>
          <a:lnRef idx="0"/>
          <a:fillRef idx="0"/>
          <a:effectRef idx="0"/>
          <a:fontRef idx="minor"/>
        </p:style>
      </p:sp>
      <p:sp>
        <p:nvSpPr>
          <p:cNvPr id="146" name="Google Shape;187;p20"/>
          <p:cNvSpPr/>
          <p:nvPr/>
        </p:nvSpPr>
        <p:spPr>
          <a:xfrm>
            <a:off x="4780080" y="3463200"/>
            <a:ext cx="287280" cy="28728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000" spc="-1" strike="noStrike">
                <a:solidFill>
                  <a:srgbClr val="1a1214"/>
                </a:solidFill>
                <a:latin typeface="Calibri"/>
                <a:ea typeface="Calibri"/>
              </a:rPr>
              <a:t>3</a:t>
            </a:r>
            <a:endParaRPr b="0" lang="en-US" sz="1000" spc="-1" strike="noStrike">
              <a:latin typeface="Arial"/>
            </a:endParaRPr>
          </a:p>
        </p:txBody>
      </p:sp>
      <p:sp>
        <p:nvSpPr>
          <p:cNvPr id="147" name="Google Shape;188;p20"/>
          <p:cNvSpPr/>
          <p:nvPr/>
        </p:nvSpPr>
        <p:spPr>
          <a:xfrm>
            <a:off x="5177880" y="3442680"/>
            <a:ext cx="329112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More Features</a:t>
            </a:r>
            <a:endParaRPr b="0" lang="en-US" sz="1100" spc="-1" strike="noStrike">
              <a:latin typeface="Arial"/>
            </a:endParaRPr>
          </a:p>
        </p:txBody>
      </p:sp>
      <p:sp>
        <p:nvSpPr>
          <p:cNvPr id="148" name="Google Shape;189;p20"/>
          <p:cNvSpPr/>
          <p:nvPr/>
        </p:nvSpPr>
        <p:spPr>
          <a:xfrm>
            <a:off x="5177880" y="3682800"/>
            <a:ext cx="3325320" cy="61668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Integrasi QRIS otomatis, notifikasi WhatsApp saat pesanan siap, program loyalitas, dan aplikasi mobile memakai API yang sama.</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149" name="Google Shape;195;p21"/>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DETAIL WEBSITE</a:t>
            </a:r>
            <a:endParaRPr b="0" lang="en-US" sz="800" spc="-1" strike="noStrike">
              <a:latin typeface="Arial"/>
            </a:endParaRPr>
          </a:p>
        </p:txBody>
      </p:sp>
      <p:sp>
        <p:nvSpPr>
          <p:cNvPr id="150" name="Google Shape;196;p21"/>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User Flow — Dari Scan QR ke Pesanan Siap</a:t>
            </a:r>
            <a:endParaRPr b="0" lang="en-US" sz="2300" spc="-1" strike="noStrike">
              <a:latin typeface="Arial"/>
            </a:endParaRPr>
          </a:p>
        </p:txBody>
      </p:sp>
      <p:sp>
        <p:nvSpPr>
          <p:cNvPr id="151" name="Google Shape;197;p21"/>
          <p:cNvSpPr/>
          <p:nvPr/>
        </p:nvSpPr>
        <p:spPr>
          <a:xfrm>
            <a:off x="445680" y="1405800"/>
            <a:ext cx="1905840" cy="925200"/>
          </a:xfrm>
          <a:prstGeom prst="roundRect">
            <a:avLst>
              <a:gd name="adj" fmla="val 7407"/>
            </a:avLst>
          </a:prstGeom>
          <a:solidFill>
            <a:srgbClr val="2b1f22"/>
          </a:solidFill>
          <a:ln w="12700">
            <a:solidFill>
              <a:srgbClr val="2b1f22"/>
            </a:solidFill>
            <a:round/>
          </a:ln>
        </p:spPr>
        <p:style>
          <a:lnRef idx="0"/>
          <a:fillRef idx="0"/>
          <a:effectRef idx="0"/>
          <a:fontRef idx="minor"/>
        </p:style>
      </p:sp>
      <p:sp>
        <p:nvSpPr>
          <p:cNvPr id="152" name="Google Shape;198;p21"/>
          <p:cNvSpPr/>
          <p:nvPr/>
        </p:nvSpPr>
        <p:spPr>
          <a:xfrm>
            <a:off x="596520" y="151560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01</a:t>
            </a:r>
            <a:endParaRPr b="0" lang="en-US" sz="800" spc="-1" strike="noStrike">
              <a:latin typeface="Arial"/>
            </a:endParaRPr>
          </a:p>
        </p:txBody>
      </p:sp>
      <p:sp>
        <p:nvSpPr>
          <p:cNvPr id="153" name="Google Shape;199;p21"/>
          <p:cNvSpPr/>
          <p:nvPr/>
        </p:nvSpPr>
        <p:spPr>
          <a:xfrm>
            <a:off x="596520" y="1748880"/>
            <a:ext cx="160416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Scan QR / buka web</a:t>
            </a:r>
            <a:endParaRPr b="0" lang="en-US" sz="1000" spc="-1" strike="noStrike">
              <a:latin typeface="Arial"/>
            </a:endParaRPr>
          </a:p>
        </p:txBody>
      </p:sp>
      <p:sp>
        <p:nvSpPr>
          <p:cNvPr id="154" name="Google Shape;200;p21"/>
          <p:cNvSpPr/>
          <p:nvPr/>
        </p:nvSpPr>
        <p:spPr>
          <a:xfrm>
            <a:off x="596520" y="2009520"/>
            <a:ext cx="16041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alibri"/>
                <a:ea typeface="Calibri"/>
              </a:rPr>
              <a:t>Tanpa install aplikasi</a:t>
            </a:r>
            <a:endParaRPr b="0" lang="en-US" sz="800" spc="-1" strike="noStrike">
              <a:latin typeface="Arial"/>
            </a:endParaRPr>
          </a:p>
        </p:txBody>
      </p:sp>
      <p:sp>
        <p:nvSpPr>
          <p:cNvPr id="155" name="Google Shape;201;p21"/>
          <p:cNvSpPr/>
          <p:nvPr/>
        </p:nvSpPr>
        <p:spPr>
          <a:xfrm>
            <a:off x="2421000" y="1861920"/>
            <a:ext cx="102240" cy="16560"/>
          </a:xfrm>
          <a:prstGeom prst="rect">
            <a:avLst/>
          </a:prstGeom>
          <a:solidFill>
            <a:srgbClr val="8a7278"/>
          </a:solidFill>
          <a:ln w="12700">
            <a:solidFill>
              <a:srgbClr val="8a7278"/>
            </a:solidFill>
            <a:round/>
          </a:ln>
        </p:spPr>
        <p:style>
          <a:lnRef idx="0"/>
          <a:fillRef idx="0"/>
          <a:effectRef idx="0"/>
          <a:fontRef idx="minor"/>
        </p:style>
      </p:sp>
      <p:sp>
        <p:nvSpPr>
          <p:cNvPr id="156" name="Google Shape;202;p21"/>
          <p:cNvSpPr/>
          <p:nvPr/>
        </p:nvSpPr>
        <p:spPr>
          <a:xfrm>
            <a:off x="2592360" y="1405800"/>
            <a:ext cx="1905840" cy="925200"/>
          </a:xfrm>
          <a:prstGeom prst="roundRect">
            <a:avLst>
              <a:gd name="adj" fmla="val 7407"/>
            </a:avLst>
          </a:prstGeom>
          <a:solidFill>
            <a:srgbClr val="2b1f22"/>
          </a:solidFill>
          <a:ln w="12700">
            <a:solidFill>
              <a:srgbClr val="2b1f22"/>
            </a:solidFill>
            <a:round/>
          </a:ln>
        </p:spPr>
        <p:style>
          <a:lnRef idx="0"/>
          <a:fillRef idx="0"/>
          <a:effectRef idx="0"/>
          <a:fontRef idx="minor"/>
        </p:style>
      </p:sp>
      <p:sp>
        <p:nvSpPr>
          <p:cNvPr id="157" name="Google Shape;203;p21"/>
          <p:cNvSpPr/>
          <p:nvPr/>
        </p:nvSpPr>
        <p:spPr>
          <a:xfrm>
            <a:off x="2743200" y="151560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02</a:t>
            </a:r>
            <a:endParaRPr b="0" lang="en-US" sz="800" spc="-1" strike="noStrike">
              <a:latin typeface="Arial"/>
            </a:endParaRPr>
          </a:p>
        </p:txBody>
      </p:sp>
      <p:sp>
        <p:nvSpPr>
          <p:cNvPr id="158" name="Google Shape;204;p21"/>
          <p:cNvSpPr/>
          <p:nvPr/>
        </p:nvSpPr>
        <p:spPr>
          <a:xfrm>
            <a:off x="2743200" y="1748880"/>
            <a:ext cx="160416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Pilih menu</a:t>
            </a:r>
            <a:endParaRPr b="0" lang="en-US" sz="1000" spc="-1" strike="noStrike">
              <a:latin typeface="Arial"/>
            </a:endParaRPr>
          </a:p>
        </p:txBody>
      </p:sp>
      <p:sp>
        <p:nvSpPr>
          <p:cNvPr id="159" name="Google Shape;205;p21"/>
          <p:cNvSpPr/>
          <p:nvPr/>
        </p:nvSpPr>
        <p:spPr>
          <a:xfrm>
            <a:off x="2743200" y="2009520"/>
            <a:ext cx="16041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alibri"/>
                <a:ea typeface="Calibri"/>
              </a:rPr>
              <a:t>Search &amp; filter kategori</a:t>
            </a:r>
            <a:endParaRPr b="0" lang="en-US" sz="800" spc="-1" strike="noStrike">
              <a:latin typeface="Arial"/>
            </a:endParaRPr>
          </a:p>
        </p:txBody>
      </p:sp>
      <p:sp>
        <p:nvSpPr>
          <p:cNvPr id="160" name="Google Shape;206;p21"/>
          <p:cNvSpPr/>
          <p:nvPr/>
        </p:nvSpPr>
        <p:spPr>
          <a:xfrm>
            <a:off x="4567320" y="1861920"/>
            <a:ext cx="102240" cy="16560"/>
          </a:xfrm>
          <a:prstGeom prst="rect">
            <a:avLst/>
          </a:prstGeom>
          <a:solidFill>
            <a:srgbClr val="8a7278"/>
          </a:solidFill>
          <a:ln w="12700">
            <a:solidFill>
              <a:srgbClr val="8a7278"/>
            </a:solidFill>
            <a:round/>
          </a:ln>
        </p:spPr>
        <p:style>
          <a:lnRef idx="0"/>
          <a:fillRef idx="0"/>
          <a:effectRef idx="0"/>
          <a:fontRef idx="minor"/>
        </p:style>
      </p:sp>
      <p:sp>
        <p:nvSpPr>
          <p:cNvPr id="161" name="Google Shape;207;p21"/>
          <p:cNvSpPr/>
          <p:nvPr/>
        </p:nvSpPr>
        <p:spPr>
          <a:xfrm>
            <a:off x="4739040" y="1405800"/>
            <a:ext cx="1905840" cy="925200"/>
          </a:xfrm>
          <a:prstGeom prst="roundRect">
            <a:avLst>
              <a:gd name="adj" fmla="val 7407"/>
            </a:avLst>
          </a:prstGeom>
          <a:solidFill>
            <a:srgbClr val="2b1f22"/>
          </a:solidFill>
          <a:ln w="12700">
            <a:solidFill>
              <a:srgbClr val="2b1f22"/>
            </a:solidFill>
            <a:round/>
          </a:ln>
        </p:spPr>
        <p:style>
          <a:lnRef idx="0"/>
          <a:fillRef idx="0"/>
          <a:effectRef idx="0"/>
          <a:fontRef idx="minor"/>
        </p:style>
      </p:sp>
      <p:sp>
        <p:nvSpPr>
          <p:cNvPr id="162" name="Google Shape;208;p21"/>
          <p:cNvSpPr/>
          <p:nvPr/>
        </p:nvSpPr>
        <p:spPr>
          <a:xfrm>
            <a:off x="4889880" y="151560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03</a:t>
            </a:r>
            <a:endParaRPr b="0" lang="en-US" sz="800" spc="-1" strike="noStrike">
              <a:latin typeface="Arial"/>
            </a:endParaRPr>
          </a:p>
        </p:txBody>
      </p:sp>
      <p:sp>
        <p:nvSpPr>
          <p:cNvPr id="163" name="Google Shape;209;p21"/>
          <p:cNvSpPr/>
          <p:nvPr/>
        </p:nvSpPr>
        <p:spPr>
          <a:xfrm>
            <a:off x="4889880" y="1748880"/>
            <a:ext cx="160416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Atur keranjang</a:t>
            </a:r>
            <a:endParaRPr b="0" lang="en-US" sz="1000" spc="-1" strike="noStrike">
              <a:latin typeface="Arial"/>
            </a:endParaRPr>
          </a:p>
        </p:txBody>
      </p:sp>
      <p:sp>
        <p:nvSpPr>
          <p:cNvPr id="164" name="Google Shape;210;p21"/>
          <p:cNvSpPr/>
          <p:nvPr/>
        </p:nvSpPr>
        <p:spPr>
          <a:xfrm>
            <a:off x="4889880" y="2009520"/>
            <a:ext cx="16041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alibri"/>
                <a:ea typeface="Calibri"/>
              </a:rPr>
              <a:t>Varian, jumlah, catatan</a:t>
            </a:r>
            <a:endParaRPr b="0" lang="en-US" sz="800" spc="-1" strike="noStrike">
              <a:latin typeface="Arial"/>
            </a:endParaRPr>
          </a:p>
        </p:txBody>
      </p:sp>
      <p:sp>
        <p:nvSpPr>
          <p:cNvPr id="165" name="Google Shape;211;p21"/>
          <p:cNvSpPr/>
          <p:nvPr/>
        </p:nvSpPr>
        <p:spPr>
          <a:xfrm>
            <a:off x="6714000" y="1861920"/>
            <a:ext cx="102240" cy="16560"/>
          </a:xfrm>
          <a:prstGeom prst="rect">
            <a:avLst/>
          </a:prstGeom>
          <a:solidFill>
            <a:srgbClr val="8a7278"/>
          </a:solidFill>
          <a:ln w="12700">
            <a:solidFill>
              <a:srgbClr val="8a7278"/>
            </a:solidFill>
            <a:round/>
          </a:ln>
        </p:spPr>
        <p:style>
          <a:lnRef idx="0"/>
          <a:fillRef idx="0"/>
          <a:effectRef idx="0"/>
          <a:fontRef idx="minor"/>
        </p:style>
      </p:sp>
      <p:sp>
        <p:nvSpPr>
          <p:cNvPr id="166" name="Google Shape;212;p21"/>
          <p:cNvSpPr/>
          <p:nvPr/>
        </p:nvSpPr>
        <p:spPr>
          <a:xfrm>
            <a:off x="6885360" y="1405800"/>
            <a:ext cx="1905840" cy="925200"/>
          </a:xfrm>
          <a:prstGeom prst="roundRect">
            <a:avLst>
              <a:gd name="adj" fmla="val 7407"/>
            </a:avLst>
          </a:prstGeom>
          <a:solidFill>
            <a:srgbClr val="2b1f22"/>
          </a:solidFill>
          <a:ln w="12700">
            <a:solidFill>
              <a:srgbClr val="2b1f22"/>
            </a:solidFill>
            <a:round/>
          </a:ln>
        </p:spPr>
        <p:style>
          <a:lnRef idx="0"/>
          <a:fillRef idx="0"/>
          <a:effectRef idx="0"/>
          <a:fontRef idx="minor"/>
        </p:style>
      </p:sp>
      <p:sp>
        <p:nvSpPr>
          <p:cNvPr id="167" name="Google Shape;213;p21"/>
          <p:cNvSpPr/>
          <p:nvPr/>
        </p:nvSpPr>
        <p:spPr>
          <a:xfrm>
            <a:off x="7036200" y="151560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04</a:t>
            </a:r>
            <a:endParaRPr b="0" lang="en-US" sz="800" spc="-1" strike="noStrike">
              <a:latin typeface="Arial"/>
            </a:endParaRPr>
          </a:p>
        </p:txBody>
      </p:sp>
      <p:sp>
        <p:nvSpPr>
          <p:cNvPr id="168" name="Google Shape;214;p21"/>
          <p:cNvSpPr/>
          <p:nvPr/>
        </p:nvSpPr>
        <p:spPr>
          <a:xfrm>
            <a:off x="7036200" y="1748880"/>
            <a:ext cx="160416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Checkout</a:t>
            </a:r>
            <a:endParaRPr b="0" lang="en-US" sz="1000" spc="-1" strike="noStrike">
              <a:latin typeface="Arial"/>
            </a:endParaRPr>
          </a:p>
        </p:txBody>
      </p:sp>
      <p:sp>
        <p:nvSpPr>
          <p:cNvPr id="169" name="Google Shape;215;p21"/>
          <p:cNvSpPr/>
          <p:nvPr/>
        </p:nvSpPr>
        <p:spPr>
          <a:xfrm>
            <a:off x="7036200" y="2009520"/>
            <a:ext cx="16041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alibri"/>
                <a:ea typeface="Calibri"/>
              </a:rPr>
              <a:t>Stok dikunci &amp; divalidasi</a:t>
            </a:r>
            <a:endParaRPr b="0" lang="en-US" sz="800" spc="-1" strike="noStrike">
              <a:latin typeface="Arial"/>
            </a:endParaRPr>
          </a:p>
        </p:txBody>
      </p:sp>
      <p:sp>
        <p:nvSpPr>
          <p:cNvPr id="170" name="Google Shape;216;p21"/>
          <p:cNvSpPr/>
          <p:nvPr/>
        </p:nvSpPr>
        <p:spPr>
          <a:xfrm>
            <a:off x="445680" y="3051720"/>
            <a:ext cx="1905840" cy="925200"/>
          </a:xfrm>
          <a:prstGeom prst="roundRect">
            <a:avLst>
              <a:gd name="adj" fmla="val 7407"/>
            </a:avLst>
          </a:prstGeom>
          <a:solidFill>
            <a:srgbClr val="2b1f22"/>
          </a:solidFill>
          <a:ln w="12700">
            <a:solidFill>
              <a:srgbClr val="2b1f22"/>
            </a:solidFill>
            <a:round/>
          </a:ln>
        </p:spPr>
        <p:style>
          <a:lnRef idx="0"/>
          <a:fillRef idx="0"/>
          <a:effectRef idx="0"/>
          <a:fontRef idx="minor"/>
        </p:style>
      </p:sp>
      <p:sp>
        <p:nvSpPr>
          <p:cNvPr id="171" name="Google Shape;217;p21"/>
          <p:cNvSpPr/>
          <p:nvPr/>
        </p:nvSpPr>
        <p:spPr>
          <a:xfrm>
            <a:off x="596520" y="316152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05</a:t>
            </a:r>
            <a:endParaRPr b="0" lang="en-US" sz="800" spc="-1" strike="noStrike">
              <a:latin typeface="Arial"/>
            </a:endParaRPr>
          </a:p>
        </p:txBody>
      </p:sp>
      <p:sp>
        <p:nvSpPr>
          <p:cNvPr id="172" name="Google Shape;218;p21"/>
          <p:cNvSpPr/>
          <p:nvPr/>
        </p:nvSpPr>
        <p:spPr>
          <a:xfrm>
            <a:off x="596520" y="3394800"/>
            <a:ext cx="160416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Bayar</a:t>
            </a:r>
            <a:endParaRPr b="0" lang="en-US" sz="1000" spc="-1" strike="noStrike">
              <a:latin typeface="Arial"/>
            </a:endParaRPr>
          </a:p>
        </p:txBody>
      </p:sp>
      <p:sp>
        <p:nvSpPr>
          <p:cNvPr id="173" name="Google Shape;219;p21"/>
          <p:cNvSpPr/>
          <p:nvPr/>
        </p:nvSpPr>
        <p:spPr>
          <a:xfrm>
            <a:off x="596520" y="3655440"/>
            <a:ext cx="16041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alibri"/>
                <a:ea typeface="Calibri"/>
              </a:rPr>
              <a:t>QRIS atau tunai di kasir</a:t>
            </a:r>
            <a:endParaRPr b="0" lang="en-US" sz="800" spc="-1" strike="noStrike">
              <a:latin typeface="Arial"/>
            </a:endParaRPr>
          </a:p>
        </p:txBody>
      </p:sp>
      <p:sp>
        <p:nvSpPr>
          <p:cNvPr id="174" name="Google Shape;220;p21"/>
          <p:cNvSpPr/>
          <p:nvPr/>
        </p:nvSpPr>
        <p:spPr>
          <a:xfrm>
            <a:off x="2421000" y="3507840"/>
            <a:ext cx="102240" cy="16560"/>
          </a:xfrm>
          <a:prstGeom prst="rect">
            <a:avLst/>
          </a:prstGeom>
          <a:solidFill>
            <a:srgbClr val="8a7278"/>
          </a:solidFill>
          <a:ln w="12700">
            <a:solidFill>
              <a:srgbClr val="8a7278"/>
            </a:solidFill>
            <a:round/>
          </a:ln>
        </p:spPr>
        <p:style>
          <a:lnRef idx="0"/>
          <a:fillRef idx="0"/>
          <a:effectRef idx="0"/>
          <a:fontRef idx="minor"/>
        </p:style>
      </p:sp>
      <p:sp>
        <p:nvSpPr>
          <p:cNvPr id="175" name="Google Shape;221;p21"/>
          <p:cNvSpPr/>
          <p:nvPr/>
        </p:nvSpPr>
        <p:spPr>
          <a:xfrm>
            <a:off x="2592360" y="3051720"/>
            <a:ext cx="1905840" cy="925200"/>
          </a:xfrm>
          <a:prstGeom prst="roundRect">
            <a:avLst>
              <a:gd name="adj" fmla="val 7407"/>
            </a:avLst>
          </a:prstGeom>
          <a:solidFill>
            <a:srgbClr val="2b1f22"/>
          </a:solidFill>
          <a:ln w="12700">
            <a:solidFill>
              <a:srgbClr val="2b1f22"/>
            </a:solidFill>
            <a:round/>
          </a:ln>
        </p:spPr>
        <p:style>
          <a:lnRef idx="0"/>
          <a:fillRef idx="0"/>
          <a:effectRef idx="0"/>
          <a:fontRef idx="minor"/>
        </p:style>
      </p:sp>
      <p:sp>
        <p:nvSpPr>
          <p:cNvPr id="176" name="Google Shape;222;p21"/>
          <p:cNvSpPr/>
          <p:nvPr/>
        </p:nvSpPr>
        <p:spPr>
          <a:xfrm>
            <a:off x="2743200" y="316152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06</a:t>
            </a:r>
            <a:endParaRPr b="0" lang="en-US" sz="800" spc="-1" strike="noStrike">
              <a:latin typeface="Arial"/>
            </a:endParaRPr>
          </a:p>
        </p:txBody>
      </p:sp>
      <p:sp>
        <p:nvSpPr>
          <p:cNvPr id="177" name="Google Shape;223;p21"/>
          <p:cNvSpPr/>
          <p:nvPr/>
        </p:nvSpPr>
        <p:spPr>
          <a:xfrm>
            <a:off x="2743200" y="3394800"/>
            <a:ext cx="160416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Terima nomor antrean</a:t>
            </a:r>
            <a:endParaRPr b="0" lang="en-US" sz="1000" spc="-1" strike="noStrike">
              <a:latin typeface="Arial"/>
            </a:endParaRPr>
          </a:p>
        </p:txBody>
      </p:sp>
      <p:sp>
        <p:nvSpPr>
          <p:cNvPr id="178" name="Google Shape;224;p21"/>
          <p:cNvSpPr/>
          <p:nvPr/>
        </p:nvSpPr>
        <p:spPr>
          <a:xfrm>
            <a:off x="2743200" y="3655440"/>
            <a:ext cx="16041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alibri"/>
                <a:ea typeface="Calibri"/>
              </a:rPr>
              <a:t>Estimasi waktu tunggu</a:t>
            </a:r>
            <a:endParaRPr b="0" lang="en-US" sz="800" spc="-1" strike="noStrike">
              <a:latin typeface="Arial"/>
            </a:endParaRPr>
          </a:p>
        </p:txBody>
      </p:sp>
      <p:sp>
        <p:nvSpPr>
          <p:cNvPr id="179" name="Google Shape;225;p21"/>
          <p:cNvSpPr/>
          <p:nvPr/>
        </p:nvSpPr>
        <p:spPr>
          <a:xfrm>
            <a:off x="4567320" y="3507840"/>
            <a:ext cx="102240" cy="16560"/>
          </a:xfrm>
          <a:prstGeom prst="rect">
            <a:avLst/>
          </a:prstGeom>
          <a:solidFill>
            <a:srgbClr val="8a7278"/>
          </a:solidFill>
          <a:ln w="12700">
            <a:solidFill>
              <a:srgbClr val="8a7278"/>
            </a:solidFill>
            <a:round/>
          </a:ln>
        </p:spPr>
        <p:style>
          <a:lnRef idx="0"/>
          <a:fillRef idx="0"/>
          <a:effectRef idx="0"/>
          <a:fontRef idx="minor"/>
        </p:style>
      </p:sp>
      <p:sp>
        <p:nvSpPr>
          <p:cNvPr id="180" name="Google Shape;226;p21"/>
          <p:cNvSpPr/>
          <p:nvPr/>
        </p:nvSpPr>
        <p:spPr>
          <a:xfrm>
            <a:off x="4739040" y="3051720"/>
            <a:ext cx="1905840" cy="925200"/>
          </a:xfrm>
          <a:prstGeom prst="roundRect">
            <a:avLst>
              <a:gd name="adj" fmla="val 7407"/>
            </a:avLst>
          </a:prstGeom>
          <a:solidFill>
            <a:srgbClr val="3a2a2e"/>
          </a:solidFill>
          <a:ln w="12700">
            <a:solidFill>
              <a:srgbClr val="3a2a2e"/>
            </a:solidFill>
            <a:round/>
          </a:ln>
        </p:spPr>
        <p:style>
          <a:lnRef idx="0"/>
          <a:fillRef idx="0"/>
          <a:effectRef idx="0"/>
          <a:fontRef idx="minor"/>
        </p:style>
      </p:sp>
      <p:sp>
        <p:nvSpPr>
          <p:cNvPr id="181" name="Google Shape;227;p21"/>
          <p:cNvSpPr/>
          <p:nvPr/>
        </p:nvSpPr>
        <p:spPr>
          <a:xfrm>
            <a:off x="4889880" y="316152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5533d"/>
                </a:solidFill>
                <a:latin typeface="Calibri"/>
                <a:ea typeface="Calibri"/>
              </a:rPr>
              <a:t>07</a:t>
            </a:r>
            <a:endParaRPr b="0" lang="en-US" sz="800" spc="-1" strike="noStrike">
              <a:latin typeface="Arial"/>
            </a:endParaRPr>
          </a:p>
        </p:txBody>
      </p:sp>
      <p:sp>
        <p:nvSpPr>
          <p:cNvPr id="182" name="Google Shape;228;p21"/>
          <p:cNvSpPr/>
          <p:nvPr/>
        </p:nvSpPr>
        <p:spPr>
          <a:xfrm>
            <a:off x="4889880" y="3394800"/>
            <a:ext cx="160416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Dapur memproses</a:t>
            </a:r>
            <a:endParaRPr b="0" lang="en-US" sz="1000" spc="-1" strike="noStrike">
              <a:latin typeface="Arial"/>
            </a:endParaRPr>
          </a:p>
        </p:txBody>
      </p:sp>
      <p:sp>
        <p:nvSpPr>
          <p:cNvPr id="183" name="Google Shape;229;p21"/>
          <p:cNvSpPr/>
          <p:nvPr/>
        </p:nvSpPr>
        <p:spPr>
          <a:xfrm>
            <a:off x="4889880" y="3655440"/>
            <a:ext cx="16041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alibri"/>
                <a:ea typeface="Calibri"/>
              </a:rPr>
              <a:t>Admin ubah status</a:t>
            </a:r>
            <a:endParaRPr b="0" lang="en-US" sz="800" spc="-1" strike="noStrike">
              <a:latin typeface="Arial"/>
            </a:endParaRPr>
          </a:p>
        </p:txBody>
      </p:sp>
      <p:sp>
        <p:nvSpPr>
          <p:cNvPr id="184" name="Google Shape;230;p21"/>
          <p:cNvSpPr/>
          <p:nvPr/>
        </p:nvSpPr>
        <p:spPr>
          <a:xfrm>
            <a:off x="6714000" y="3507840"/>
            <a:ext cx="102240" cy="16560"/>
          </a:xfrm>
          <a:prstGeom prst="rect">
            <a:avLst/>
          </a:prstGeom>
          <a:solidFill>
            <a:srgbClr val="8a7278"/>
          </a:solidFill>
          <a:ln w="12700">
            <a:solidFill>
              <a:srgbClr val="8a7278"/>
            </a:solidFill>
            <a:round/>
          </a:ln>
        </p:spPr>
        <p:style>
          <a:lnRef idx="0"/>
          <a:fillRef idx="0"/>
          <a:effectRef idx="0"/>
          <a:fontRef idx="minor"/>
        </p:style>
      </p:sp>
      <p:sp>
        <p:nvSpPr>
          <p:cNvPr id="185" name="Google Shape;231;p21"/>
          <p:cNvSpPr/>
          <p:nvPr/>
        </p:nvSpPr>
        <p:spPr>
          <a:xfrm>
            <a:off x="6885360" y="3051720"/>
            <a:ext cx="1905840" cy="925200"/>
          </a:xfrm>
          <a:prstGeom prst="roundRect">
            <a:avLst>
              <a:gd name="adj" fmla="val 7407"/>
            </a:avLst>
          </a:prstGeom>
          <a:solidFill>
            <a:srgbClr val="2b1f22"/>
          </a:solidFill>
          <a:ln w="12700">
            <a:solidFill>
              <a:srgbClr val="2b1f22"/>
            </a:solidFill>
            <a:round/>
          </a:ln>
        </p:spPr>
        <p:style>
          <a:lnRef idx="0"/>
          <a:fillRef idx="0"/>
          <a:effectRef idx="0"/>
          <a:fontRef idx="minor"/>
        </p:style>
      </p:sp>
      <p:sp>
        <p:nvSpPr>
          <p:cNvPr id="186" name="Google Shape;232;p21"/>
          <p:cNvSpPr/>
          <p:nvPr/>
        </p:nvSpPr>
        <p:spPr>
          <a:xfrm>
            <a:off x="7036200" y="316152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08</a:t>
            </a:r>
            <a:endParaRPr b="0" lang="en-US" sz="800" spc="-1" strike="noStrike">
              <a:latin typeface="Arial"/>
            </a:endParaRPr>
          </a:p>
        </p:txBody>
      </p:sp>
      <p:sp>
        <p:nvSpPr>
          <p:cNvPr id="187" name="Google Shape;233;p21"/>
          <p:cNvSpPr/>
          <p:nvPr/>
        </p:nvSpPr>
        <p:spPr>
          <a:xfrm>
            <a:off x="7036200" y="3394800"/>
            <a:ext cx="160416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Siap diambil</a:t>
            </a:r>
            <a:endParaRPr b="0" lang="en-US" sz="1000" spc="-1" strike="noStrike">
              <a:latin typeface="Arial"/>
            </a:endParaRPr>
          </a:p>
        </p:txBody>
      </p:sp>
      <p:sp>
        <p:nvSpPr>
          <p:cNvPr id="188" name="Google Shape;234;p21"/>
          <p:cNvSpPr/>
          <p:nvPr/>
        </p:nvSpPr>
        <p:spPr>
          <a:xfrm>
            <a:off x="7036200" y="3655440"/>
            <a:ext cx="16041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alibri"/>
                <a:ea typeface="Calibri"/>
              </a:rPr>
              <a:t>Struk digital</a:t>
            </a:r>
            <a:endParaRPr b="0" lang="en-US" sz="800" spc="-1" strike="noStrike">
              <a:latin typeface="Arial"/>
            </a:endParaRPr>
          </a:p>
        </p:txBody>
      </p:sp>
      <p:sp>
        <p:nvSpPr>
          <p:cNvPr id="189" name="Google Shape;235;p21"/>
          <p:cNvSpPr/>
          <p:nvPr/>
        </p:nvSpPr>
        <p:spPr>
          <a:xfrm>
            <a:off x="445680" y="4149000"/>
            <a:ext cx="8228880" cy="547920"/>
          </a:xfrm>
          <a:prstGeom prst="roundRect">
            <a:avLst>
              <a:gd name="adj" fmla="val 12500"/>
            </a:avLst>
          </a:prstGeom>
          <a:solidFill>
            <a:srgbClr val="3a2a2e"/>
          </a:solidFill>
          <a:ln w="12700">
            <a:solidFill>
              <a:srgbClr val="3a2a2e"/>
            </a:solidFill>
            <a:round/>
          </a:ln>
        </p:spPr>
        <p:style>
          <a:lnRef idx="0"/>
          <a:fillRef idx="0"/>
          <a:effectRef idx="0"/>
          <a:fontRef idx="minor"/>
        </p:style>
      </p:sp>
      <p:sp>
        <p:nvSpPr>
          <p:cNvPr id="190" name="Google Shape;236;p21"/>
          <p:cNvSpPr/>
          <p:nvPr/>
        </p:nvSpPr>
        <p:spPr>
          <a:xfrm>
            <a:off x="685800" y="4368600"/>
            <a:ext cx="109080" cy="109080"/>
          </a:xfrm>
          <a:prstGeom prst="ellipse">
            <a:avLst/>
          </a:prstGeom>
          <a:solidFill>
            <a:srgbClr val="ffb84d"/>
          </a:solidFill>
          <a:ln w="12700">
            <a:solidFill>
              <a:srgbClr val="ffb84d"/>
            </a:solidFill>
            <a:round/>
          </a:ln>
        </p:spPr>
        <p:style>
          <a:lnRef idx="0"/>
          <a:fillRef idx="0"/>
          <a:effectRef idx="0"/>
          <a:fontRef idx="minor"/>
        </p:style>
      </p:sp>
      <p:sp>
        <p:nvSpPr>
          <p:cNvPr id="191" name="Google Shape;237;p21"/>
          <p:cNvSpPr/>
          <p:nvPr/>
        </p:nvSpPr>
        <p:spPr>
          <a:xfrm>
            <a:off x="857160" y="4306680"/>
            <a:ext cx="137088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ffff"/>
                </a:solidFill>
                <a:latin typeface="Calibri"/>
                <a:ea typeface="Calibri"/>
              </a:rPr>
              <a:t>Langkah pelanggan</a:t>
            </a:r>
            <a:endParaRPr b="0" lang="en-US" sz="900" spc="-1" strike="noStrike">
              <a:latin typeface="Arial"/>
            </a:endParaRPr>
          </a:p>
        </p:txBody>
      </p:sp>
      <p:sp>
        <p:nvSpPr>
          <p:cNvPr id="192" name="Google Shape;238;p21"/>
          <p:cNvSpPr/>
          <p:nvPr/>
        </p:nvSpPr>
        <p:spPr>
          <a:xfrm>
            <a:off x="2331720" y="4368600"/>
            <a:ext cx="109080" cy="109080"/>
          </a:xfrm>
          <a:prstGeom prst="ellipse">
            <a:avLst/>
          </a:prstGeom>
          <a:solidFill>
            <a:srgbClr val="f5533d"/>
          </a:solidFill>
          <a:ln w="12700">
            <a:solidFill>
              <a:srgbClr val="f5533d"/>
            </a:solidFill>
            <a:round/>
          </a:ln>
        </p:spPr>
        <p:style>
          <a:lnRef idx="0"/>
          <a:fillRef idx="0"/>
          <a:effectRef idx="0"/>
          <a:fontRef idx="minor"/>
        </p:style>
      </p:sp>
      <p:sp>
        <p:nvSpPr>
          <p:cNvPr id="193" name="Google Shape;239;p21"/>
          <p:cNvSpPr/>
          <p:nvPr/>
        </p:nvSpPr>
        <p:spPr>
          <a:xfrm>
            <a:off x="2503080" y="4306680"/>
            <a:ext cx="116532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ffff"/>
                </a:solidFill>
                <a:latin typeface="Calibri"/>
                <a:ea typeface="Calibri"/>
              </a:rPr>
              <a:t>Langkah admin</a:t>
            </a:r>
            <a:endParaRPr b="0" lang="en-US" sz="900" spc="-1" strike="noStrike">
              <a:latin typeface="Arial"/>
            </a:endParaRPr>
          </a:p>
        </p:txBody>
      </p:sp>
      <p:sp>
        <p:nvSpPr>
          <p:cNvPr id="194" name="Google Shape;240;p21"/>
          <p:cNvSpPr/>
          <p:nvPr/>
        </p:nvSpPr>
        <p:spPr>
          <a:xfrm>
            <a:off x="3840480" y="4306680"/>
            <a:ext cx="4525560" cy="232560"/>
          </a:xfrm>
          <a:prstGeom prst="rect">
            <a:avLst/>
          </a:prstGeom>
          <a:no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195" name="Google Shape;246;p22"/>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DETAIL WEBSITE</a:t>
            </a:r>
            <a:endParaRPr b="0" lang="en-US" sz="800" spc="-1" strike="noStrike">
              <a:latin typeface="Arial"/>
            </a:endParaRPr>
          </a:p>
        </p:txBody>
      </p:sp>
      <p:sp>
        <p:nvSpPr>
          <p:cNvPr id="196" name="Google Shape;247;p22"/>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Core Features &amp; Tampilan Utama</a:t>
            </a:r>
            <a:endParaRPr b="0" lang="en-US" sz="2300" spc="-1" strike="noStrike">
              <a:latin typeface="Arial"/>
            </a:endParaRPr>
          </a:p>
        </p:txBody>
      </p:sp>
      <p:sp>
        <p:nvSpPr>
          <p:cNvPr id="197" name="Google Shape;248;p22"/>
          <p:cNvSpPr/>
          <p:nvPr/>
        </p:nvSpPr>
        <p:spPr>
          <a:xfrm>
            <a:off x="445680" y="1200240"/>
            <a:ext cx="2625840" cy="719280"/>
          </a:xfrm>
          <a:prstGeom prst="roundRect">
            <a:avLst>
              <a:gd name="adj" fmla="val 9524"/>
            </a:avLst>
          </a:prstGeom>
          <a:solidFill>
            <a:srgbClr val="2b1f22"/>
          </a:solidFill>
          <a:ln w="12700">
            <a:solidFill>
              <a:srgbClr val="2b1f22"/>
            </a:solidFill>
            <a:round/>
          </a:ln>
        </p:spPr>
        <p:style>
          <a:lnRef idx="0"/>
          <a:fillRef idx="0"/>
          <a:effectRef idx="0"/>
          <a:fontRef idx="minor"/>
        </p:style>
      </p:sp>
      <p:sp>
        <p:nvSpPr>
          <p:cNvPr id="198" name="Google Shape;249;p22"/>
          <p:cNvSpPr/>
          <p:nvPr/>
        </p:nvSpPr>
        <p:spPr>
          <a:xfrm>
            <a:off x="637920" y="1433160"/>
            <a:ext cx="109080" cy="109080"/>
          </a:xfrm>
          <a:prstGeom prst="ellipse">
            <a:avLst/>
          </a:prstGeom>
          <a:solidFill>
            <a:srgbClr val="ffb84d"/>
          </a:solidFill>
          <a:ln w="12700">
            <a:solidFill>
              <a:srgbClr val="ffb84d"/>
            </a:solidFill>
            <a:round/>
          </a:ln>
        </p:spPr>
        <p:style>
          <a:lnRef idx="0"/>
          <a:fillRef idx="0"/>
          <a:effectRef idx="0"/>
          <a:fontRef idx="minor"/>
        </p:style>
      </p:sp>
      <p:sp>
        <p:nvSpPr>
          <p:cNvPr id="199" name="Google Shape;250;p22"/>
          <p:cNvSpPr/>
          <p:nvPr/>
        </p:nvSpPr>
        <p:spPr>
          <a:xfrm>
            <a:off x="829800" y="1337400"/>
            <a:ext cx="207720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Katalog Menu</a:t>
            </a:r>
            <a:endParaRPr b="0" lang="en-US" sz="1000" spc="-1" strike="noStrike">
              <a:latin typeface="Arial"/>
            </a:endParaRPr>
          </a:p>
        </p:txBody>
      </p:sp>
      <p:sp>
        <p:nvSpPr>
          <p:cNvPr id="200" name="Google Shape;251;p22"/>
          <p:cNvSpPr/>
          <p:nvPr/>
        </p:nvSpPr>
        <p:spPr>
          <a:xfrm>
            <a:off x="829800" y="1556640"/>
            <a:ext cx="2077200" cy="307800"/>
          </a:xfrm>
          <a:prstGeom prst="rect">
            <a:avLst/>
          </a:prstGeom>
          <a:noFill/>
          <a:ln w="0">
            <a:noFill/>
          </a:ln>
        </p:spPr>
        <p:style>
          <a:lnRef idx="0"/>
          <a:fillRef idx="0"/>
          <a:effectRef idx="0"/>
          <a:fontRef idx="minor"/>
        </p:style>
        <p:txBody>
          <a:bodyPr lIns="0" rIns="0" tIns="0" bIns="0" anchor="t">
            <a:noAutofit/>
          </a:bodyPr>
          <a:p>
            <a:pPr>
              <a:lnSpc>
                <a:spcPct val="127000"/>
              </a:lnSpc>
              <a:buNone/>
              <a:tabLst>
                <a:tab algn="l" pos="0"/>
              </a:tabLst>
            </a:pPr>
            <a:r>
              <a:rPr b="0" lang="en" sz="800" spc="-1" strike="noStrike">
                <a:solidFill>
                  <a:srgbClr val="c4b2b6"/>
                </a:solidFill>
                <a:latin typeface="Calibri"/>
                <a:ea typeface="Calibri"/>
              </a:rPr>
              <a:t>Search keyword, filter kategori, indikator stok tersisa, pagination</a:t>
            </a:r>
            <a:endParaRPr b="0" lang="en-US" sz="800" spc="-1" strike="noStrike">
              <a:latin typeface="Arial"/>
            </a:endParaRPr>
          </a:p>
        </p:txBody>
      </p:sp>
      <p:sp>
        <p:nvSpPr>
          <p:cNvPr id="201" name="Google Shape;252;p22"/>
          <p:cNvSpPr/>
          <p:nvPr/>
        </p:nvSpPr>
        <p:spPr>
          <a:xfrm>
            <a:off x="3243960" y="1200240"/>
            <a:ext cx="2625840" cy="719280"/>
          </a:xfrm>
          <a:prstGeom prst="roundRect">
            <a:avLst>
              <a:gd name="adj" fmla="val 9524"/>
            </a:avLst>
          </a:prstGeom>
          <a:solidFill>
            <a:srgbClr val="2b1f22"/>
          </a:solidFill>
          <a:ln w="12700">
            <a:solidFill>
              <a:srgbClr val="2b1f22"/>
            </a:solidFill>
            <a:round/>
          </a:ln>
        </p:spPr>
        <p:style>
          <a:lnRef idx="0"/>
          <a:fillRef idx="0"/>
          <a:effectRef idx="0"/>
          <a:fontRef idx="minor"/>
        </p:style>
      </p:sp>
      <p:sp>
        <p:nvSpPr>
          <p:cNvPr id="202" name="Google Shape;253;p22"/>
          <p:cNvSpPr/>
          <p:nvPr/>
        </p:nvSpPr>
        <p:spPr>
          <a:xfrm>
            <a:off x="3435840" y="1433160"/>
            <a:ext cx="109080" cy="109080"/>
          </a:xfrm>
          <a:prstGeom prst="ellipse">
            <a:avLst/>
          </a:prstGeom>
          <a:solidFill>
            <a:srgbClr val="ffb84d"/>
          </a:solidFill>
          <a:ln w="12700">
            <a:solidFill>
              <a:srgbClr val="ffb84d"/>
            </a:solidFill>
            <a:round/>
          </a:ln>
        </p:spPr>
        <p:style>
          <a:lnRef idx="0"/>
          <a:fillRef idx="0"/>
          <a:effectRef idx="0"/>
          <a:fontRef idx="minor"/>
        </p:style>
      </p:sp>
      <p:sp>
        <p:nvSpPr>
          <p:cNvPr id="203" name="Google Shape;254;p22"/>
          <p:cNvSpPr/>
          <p:nvPr/>
        </p:nvSpPr>
        <p:spPr>
          <a:xfrm>
            <a:off x="3627720" y="1337400"/>
            <a:ext cx="207720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Keranjang &amp; Varian</a:t>
            </a:r>
            <a:endParaRPr b="0" lang="en-US" sz="1000" spc="-1" strike="noStrike">
              <a:latin typeface="Arial"/>
            </a:endParaRPr>
          </a:p>
        </p:txBody>
      </p:sp>
      <p:sp>
        <p:nvSpPr>
          <p:cNvPr id="204" name="Google Shape;255;p22"/>
          <p:cNvSpPr/>
          <p:nvPr/>
        </p:nvSpPr>
        <p:spPr>
          <a:xfrm>
            <a:off x="3627720" y="1556640"/>
            <a:ext cx="2077200" cy="307800"/>
          </a:xfrm>
          <a:prstGeom prst="rect">
            <a:avLst/>
          </a:prstGeom>
          <a:noFill/>
          <a:ln w="0">
            <a:noFill/>
          </a:ln>
        </p:spPr>
        <p:style>
          <a:lnRef idx="0"/>
          <a:fillRef idx="0"/>
          <a:effectRef idx="0"/>
          <a:fontRef idx="minor"/>
        </p:style>
        <p:txBody>
          <a:bodyPr lIns="0" rIns="0" tIns="0" bIns="0" anchor="t">
            <a:noAutofit/>
          </a:bodyPr>
          <a:p>
            <a:pPr>
              <a:lnSpc>
                <a:spcPct val="127000"/>
              </a:lnSpc>
              <a:buNone/>
              <a:tabLst>
                <a:tab algn="l" pos="0"/>
              </a:tabLst>
            </a:pPr>
            <a:r>
              <a:rPr b="0" lang="en" sz="800" spc="-1" strike="noStrike">
                <a:solidFill>
                  <a:srgbClr val="c4b2b6"/>
                </a:solidFill>
                <a:latin typeface="Calibri"/>
                <a:ea typeface="Calibri"/>
              </a:rPr>
              <a:t>Pilih ukuran dan level pedas, harga terhitung langsung</a:t>
            </a:r>
            <a:endParaRPr b="0" lang="en-US" sz="800" spc="-1" strike="noStrike">
              <a:latin typeface="Arial"/>
            </a:endParaRPr>
          </a:p>
        </p:txBody>
      </p:sp>
      <p:sp>
        <p:nvSpPr>
          <p:cNvPr id="205" name="Google Shape;256;p22"/>
          <p:cNvSpPr/>
          <p:nvPr/>
        </p:nvSpPr>
        <p:spPr>
          <a:xfrm>
            <a:off x="6041880" y="1200240"/>
            <a:ext cx="2625840" cy="719280"/>
          </a:xfrm>
          <a:prstGeom prst="roundRect">
            <a:avLst>
              <a:gd name="adj" fmla="val 9524"/>
            </a:avLst>
          </a:prstGeom>
          <a:solidFill>
            <a:srgbClr val="2b1f22"/>
          </a:solidFill>
          <a:ln w="12700">
            <a:solidFill>
              <a:srgbClr val="2b1f22"/>
            </a:solidFill>
            <a:round/>
          </a:ln>
        </p:spPr>
        <p:style>
          <a:lnRef idx="0"/>
          <a:fillRef idx="0"/>
          <a:effectRef idx="0"/>
          <a:fontRef idx="minor"/>
        </p:style>
      </p:sp>
      <p:sp>
        <p:nvSpPr>
          <p:cNvPr id="206" name="Google Shape;257;p22"/>
          <p:cNvSpPr/>
          <p:nvPr/>
        </p:nvSpPr>
        <p:spPr>
          <a:xfrm>
            <a:off x="6233760" y="1433160"/>
            <a:ext cx="109080" cy="109080"/>
          </a:xfrm>
          <a:prstGeom prst="ellipse">
            <a:avLst/>
          </a:prstGeom>
          <a:solidFill>
            <a:srgbClr val="ffb84d"/>
          </a:solidFill>
          <a:ln w="12700">
            <a:solidFill>
              <a:srgbClr val="ffb84d"/>
            </a:solidFill>
            <a:round/>
          </a:ln>
        </p:spPr>
        <p:style>
          <a:lnRef idx="0"/>
          <a:fillRef idx="0"/>
          <a:effectRef idx="0"/>
          <a:fontRef idx="minor"/>
        </p:style>
      </p:sp>
      <p:sp>
        <p:nvSpPr>
          <p:cNvPr id="207" name="Google Shape;258;p22"/>
          <p:cNvSpPr/>
          <p:nvPr/>
        </p:nvSpPr>
        <p:spPr>
          <a:xfrm>
            <a:off x="6426000" y="1337400"/>
            <a:ext cx="207720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Antrean Digital</a:t>
            </a:r>
            <a:endParaRPr b="0" lang="en-US" sz="1000" spc="-1" strike="noStrike">
              <a:latin typeface="Arial"/>
            </a:endParaRPr>
          </a:p>
        </p:txBody>
      </p:sp>
      <p:sp>
        <p:nvSpPr>
          <p:cNvPr id="208" name="Google Shape;259;p22"/>
          <p:cNvSpPr/>
          <p:nvPr/>
        </p:nvSpPr>
        <p:spPr>
          <a:xfrm>
            <a:off x="6426000" y="1556640"/>
            <a:ext cx="2077200" cy="307800"/>
          </a:xfrm>
          <a:prstGeom prst="rect">
            <a:avLst/>
          </a:prstGeom>
          <a:noFill/>
          <a:ln w="0">
            <a:noFill/>
          </a:ln>
        </p:spPr>
        <p:style>
          <a:lnRef idx="0"/>
          <a:fillRef idx="0"/>
          <a:effectRef idx="0"/>
          <a:fontRef idx="minor"/>
        </p:style>
        <p:txBody>
          <a:bodyPr lIns="0" rIns="0" tIns="0" bIns="0" anchor="t">
            <a:noAutofit/>
          </a:bodyPr>
          <a:p>
            <a:pPr>
              <a:lnSpc>
                <a:spcPct val="127000"/>
              </a:lnSpc>
              <a:buNone/>
              <a:tabLst>
                <a:tab algn="l" pos="0"/>
              </a:tabLst>
            </a:pPr>
            <a:r>
              <a:rPr b="0" lang="en" sz="800" spc="-1" strike="noStrike">
                <a:solidFill>
                  <a:srgbClr val="c4b2b6"/>
                </a:solidFill>
                <a:latin typeface="Calibri"/>
                <a:ea typeface="Calibri"/>
              </a:rPr>
              <a:t>Nomor antrean harian + estimasi waktu tunggu dari beban dapur</a:t>
            </a:r>
            <a:endParaRPr b="0" lang="en-US" sz="800" spc="-1" strike="noStrike">
              <a:latin typeface="Arial"/>
            </a:endParaRPr>
          </a:p>
        </p:txBody>
      </p:sp>
      <p:sp>
        <p:nvSpPr>
          <p:cNvPr id="209" name="Google Shape;260;p22"/>
          <p:cNvSpPr/>
          <p:nvPr/>
        </p:nvSpPr>
        <p:spPr>
          <a:xfrm>
            <a:off x="445680" y="2057400"/>
            <a:ext cx="2625840" cy="719280"/>
          </a:xfrm>
          <a:prstGeom prst="roundRect">
            <a:avLst>
              <a:gd name="adj" fmla="val 9524"/>
            </a:avLst>
          </a:prstGeom>
          <a:solidFill>
            <a:srgbClr val="2b1f22"/>
          </a:solidFill>
          <a:ln w="12700">
            <a:solidFill>
              <a:srgbClr val="2b1f22"/>
            </a:solidFill>
            <a:round/>
          </a:ln>
        </p:spPr>
        <p:style>
          <a:lnRef idx="0"/>
          <a:fillRef idx="0"/>
          <a:effectRef idx="0"/>
          <a:fontRef idx="minor"/>
        </p:style>
      </p:sp>
      <p:sp>
        <p:nvSpPr>
          <p:cNvPr id="210" name="Google Shape;261;p22"/>
          <p:cNvSpPr/>
          <p:nvPr/>
        </p:nvSpPr>
        <p:spPr>
          <a:xfrm>
            <a:off x="637920" y="2290680"/>
            <a:ext cx="109080" cy="109080"/>
          </a:xfrm>
          <a:prstGeom prst="ellipse">
            <a:avLst/>
          </a:prstGeom>
          <a:solidFill>
            <a:srgbClr val="ffb84d"/>
          </a:solidFill>
          <a:ln w="12700">
            <a:solidFill>
              <a:srgbClr val="ffb84d"/>
            </a:solidFill>
            <a:round/>
          </a:ln>
        </p:spPr>
        <p:style>
          <a:lnRef idx="0"/>
          <a:fillRef idx="0"/>
          <a:effectRef idx="0"/>
          <a:fontRef idx="minor"/>
        </p:style>
      </p:sp>
      <p:sp>
        <p:nvSpPr>
          <p:cNvPr id="211" name="Google Shape;262;p22"/>
          <p:cNvSpPr/>
          <p:nvPr/>
        </p:nvSpPr>
        <p:spPr>
          <a:xfrm>
            <a:off x="829800" y="2194560"/>
            <a:ext cx="207720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Lacak Status</a:t>
            </a:r>
            <a:endParaRPr b="0" lang="en-US" sz="1000" spc="-1" strike="noStrike">
              <a:latin typeface="Arial"/>
            </a:endParaRPr>
          </a:p>
        </p:txBody>
      </p:sp>
      <p:sp>
        <p:nvSpPr>
          <p:cNvPr id="212" name="Google Shape;263;p22"/>
          <p:cNvSpPr/>
          <p:nvPr/>
        </p:nvSpPr>
        <p:spPr>
          <a:xfrm>
            <a:off x="829800" y="2414160"/>
            <a:ext cx="2077200" cy="307800"/>
          </a:xfrm>
          <a:prstGeom prst="rect">
            <a:avLst/>
          </a:prstGeom>
          <a:noFill/>
          <a:ln w="0">
            <a:noFill/>
          </a:ln>
        </p:spPr>
        <p:style>
          <a:lnRef idx="0"/>
          <a:fillRef idx="0"/>
          <a:effectRef idx="0"/>
          <a:fontRef idx="minor"/>
        </p:style>
        <p:txBody>
          <a:bodyPr lIns="0" rIns="0" tIns="0" bIns="0" anchor="t">
            <a:noAutofit/>
          </a:bodyPr>
          <a:p>
            <a:pPr>
              <a:lnSpc>
                <a:spcPct val="127000"/>
              </a:lnSpc>
              <a:buNone/>
              <a:tabLst>
                <a:tab algn="l" pos="0"/>
              </a:tabLst>
            </a:pPr>
            <a:r>
              <a:rPr b="0" lang="en" sz="800" spc="-1" strike="noStrike">
                <a:solidFill>
                  <a:srgbClr val="c4b2b6"/>
                </a:solidFill>
                <a:latin typeface="Calibri"/>
                <a:ea typeface="Calibri"/>
              </a:rPr>
              <a:t>Diantre → diproses → siap, halaman ter-update otomatis</a:t>
            </a:r>
            <a:endParaRPr b="0" lang="en-US" sz="800" spc="-1" strike="noStrike">
              <a:latin typeface="Arial"/>
            </a:endParaRPr>
          </a:p>
        </p:txBody>
      </p:sp>
      <p:sp>
        <p:nvSpPr>
          <p:cNvPr id="213" name="Google Shape;264;p22"/>
          <p:cNvSpPr/>
          <p:nvPr/>
        </p:nvSpPr>
        <p:spPr>
          <a:xfrm>
            <a:off x="3243960" y="2057400"/>
            <a:ext cx="2625840" cy="719280"/>
          </a:xfrm>
          <a:prstGeom prst="roundRect">
            <a:avLst>
              <a:gd name="adj" fmla="val 9524"/>
            </a:avLst>
          </a:prstGeom>
          <a:solidFill>
            <a:srgbClr val="2b1f22"/>
          </a:solidFill>
          <a:ln w="12700">
            <a:solidFill>
              <a:srgbClr val="2b1f22"/>
            </a:solidFill>
            <a:round/>
          </a:ln>
        </p:spPr>
        <p:style>
          <a:lnRef idx="0"/>
          <a:fillRef idx="0"/>
          <a:effectRef idx="0"/>
          <a:fontRef idx="minor"/>
        </p:style>
      </p:sp>
      <p:sp>
        <p:nvSpPr>
          <p:cNvPr id="214" name="Google Shape;265;p22"/>
          <p:cNvSpPr/>
          <p:nvPr/>
        </p:nvSpPr>
        <p:spPr>
          <a:xfrm>
            <a:off x="3435840" y="2290680"/>
            <a:ext cx="109080" cy="109080"/>
          </a:xfrm>
          <a:prstGeom prst="ellipse">
            <a:avLst/>
          </a:prstGeom>
          <a:solidFill>
            <a:srgbClr val="ffb84d"/>
          </a:solidFill>
          <a:ln w="12700">
            <a:solidFill>
              <a:srgbClr val="ffb84d"/>
            </a:solidFill>
            <a:round/>
          </a:ln>
        </p:spPr>
        <p:style>
          <a:lnRef idx="0"/>
          <a:fillRef idx="0"/>
          <a:effectRef idx="0"/>
          <a:fontRef idx="minor"/>
        </p:style>
      </p:sp>
      <p:sp>
        <p:nvSpPr>
          <p:cNvPr id="215" name="Google Shape;266;p22"/>
          <p:cNvSpPr/>
          <p:nvPr/>
        </p:nvSpPr>
        <p:spPr>
          <a:xfrm>
            <a:off x="3627720" y="2194560"/>
            <a:ext cx="207720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Admin — Papan Dapur</a:t>
            </a:r>
            <a:endParaRPr b="0" lang="en-US" sz="1000" spc="-1" strike="noStrike">
              <a:latin typeface="Arial"/>
            </a:endParaRPr>
          </a:p>
        </p:txBody>
      </p:sp>
      <p:sp>
        <p:nvSpPr>
          <p:cNvPr id="216" name="Google Shape;267;p22"/>
          <p:cNvSpPr/>
          <p:nvPr/>
        </p:nvSpPr>
        <p:spPr>
          <a:xfrm>
            <a:off x="3627720" y="2414160"/>
            <a:ext cx="2077200" cy="307800"/>
          </a:xfrm>
          <a:prstGeom prst="rect">
            <a:avLst/>
          </a:prstGeom>
          <a:noFill/>
          <a:ln w="0">
            <a:noFill/>
          </a:ln>
        </p:spPr>
        <p:style>
          <a:lnRef idx="0"/>
          <a:fillRef idx="0"/>
          <a:effectRef idx="0"/>
          <a:fontRef idx="minor"/>
        </p:style>
        <p:txBody>
          <a:bodyPr lIns="0" rIns="0" tIns="0" bIns="0" anchor="t">
            <a:noAutofit/>
          </a:bodyPr>
          <a:p>
            <a:pPr>
              <a:lnSpc>
                <a:spcPct val="127000"/>
              </a:lnSpc>
              <a:buNone/>
              <a:tabLst>
                <a:tab algn="l" pos="0"/>
              </a:tabLst>
            </a:pPr>
            <a:r>
              <a:rPr b="0" lang="en" sz="800" spc="-1" strike="noStrike">
                <a:solidFill>
                  <a:srgbClr val="c4b2b6"/>
                </a:solidFill>
                <a:latin typeface="Calibri"/>
                <a:ea typeface="Calibri"/>
              </a:rPr>
              <a:t>Daftar pesanan berurutan, ubah status satu ketuk</a:t>
            </a:r>
            <a:endParaRPr b="0" lang="en-US" sz="800" spc="-1" strike="noStrike">
              <a:latin typeface="Arial"/>
            </a:endParaRPr>
          </a:p>
        </p:txBody>
      </p:sp>
      <p:sp>
        <p:nvSpPr>
          <p:cNvPr id="217" name="Google Shape;268;p22"/>
          <p:cNvSpPr/>
          <p:nvPr/>
        </p:nvSpPr>
        <p:spPr>
          <a:xfrm>
            <a:off x="6041880" y="2057400"/>
            <a:ext cx="2625840" cy="719280"/>
          </a:xfrm>
          <a:prstGeom prst="roundRect">
            <a:avLst>
              <a:gd name="adj" fmla="val 9524"/>
            </a:avLst>
          </a:prstGeom>
          <a:solidFill>
            <a:srgbClr val="2b1f22"/>
          </a:solidFill>
          <a:ln w="12700">
            <a:solidFill>
              <a:srgbClr val="2b1f22"/>
            </a:solidFill>
            <a:round/>
          </a:ln>
        </p:spPr>
        <p:style>
          <a:lnRef idx="0"/>
          <a:fillRef idx="0"/>
          <a:effectRef idx="0"/>
          <a:fontRef idx="minor"/>
        </p:style>
      </p:sp>
      <p:sp>
        <p:nvSpPr>
          <p:cNvPr id="218" name="Google Shape;269;p22"/>
          <p:cNvSpPr/>
          <p:nvPr/>
        </p:nvSpPr>
        <p:spPr>
          <a:xfrm>
            <a:off x="6233760" y="2290680"/>
            <a:ext cx="109080" cy="109080"/>
          </a:xfrm>
          <a:prstGeom prst="ellipse">
            <a:avLst/>
          </a:prstGeom>
          <a:solidFill>
            <a:srgbClr val="ffb84d"/>
          </a:solidFill>
          <a:ln w="12700">
            <a:solidFill>
              <a:srgbClr val="ffb84d"/>
            </a:solidFill>
            <a:round/>
          </a:ln>
        </p:spPr>
        <p:style>
          <a:lnRef idx="0"/>
          <a:fillRef idx="0"/>
          <a:effectRef idx="0"/>
          <a:fontRef idx="minor"/>
        </p:style>
      </p:sp>
      <p:sp>
        <p:nvSpPr>
          <p:cNvPr id="219" name="Google Shape;270;p22"/>
          <p:cNvSpPr/>
          <p:nvPr/>
        </p:nvSpPr>
        <p:spPr>
          <a:xfrm>
            <a:off x="6426000" y="2194560"/>
            <a:ext cx="207720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000" spc="-1" strike="noStrike">
                <a:solidFill>
                  <a:srgbClr val="ffffff"/>
                </a:solidFill>
                <a:latin typeface="Calibri"/>
                <a:ea typeface="Calibri"/>
              </a:rPr>
              <a:t>Admin — Laporan</a:t>
            </a:r>
            <a:endParaRPr b="0" lang="en-US" sz="1000" spc="-1" strike="noStrike">
              <a:latin typeface="Arial"/>
            </a:endParaRPr>
          </a:p>
        </p:txBody>
      </p:sp>
      <p:sp>
        <p:nvSpPr>
          <p:cNvPr id="220" name="Google Shape;271;p22"/>
          <p:cNvSpPr/>
          <p:nvPr/>
        </p:nvSpPr>
        <p:spPr>
          <a:xfrm>
            <a:off x="6426000" y="2414160"/>
            <a:ext cx="2077200" cy="307800"/>
          </a:xfrm>
          <a:prstGeom prst="rect">
            <a:avLst/>
          </a:prstGeom>
          <a:noFill/>
          <a:ln w="0">
            <a:noFill/>
          </a:ln>
        </p:spPr>
        <p:style>
          <a:lnRef idx="0"/>
          <a:fillRef idx="0"/>
          <a:effectRef idx="0"/>
          <a:fontRef idx="minor"/>
        </p:style>
        <p:txBody>
          <a:bodyPr lIns="0" rIns="0" tIns="0" bIns="0" anchor="t">
            <a:noAutofit/>
          </a:bodyPr>
          <a:p>
            <a:pPr>
              <a:lnSpc>
                <a:spcPct val="127000"/>
              </a:lnSpc>
              <a:buNone/>
              <a:tabLst>
                <a:tab algn="l" pos="0"/>
              </a:tabLst>
            </a:pPr>
            <a:r>
              <a:rPr b="0" lang="en" sz="800" spc="-1" strike="noStrike">
                <a:solidFill>
                  <a:srgbClr val="c4b2b6"/>
                </a:solidFill>
                <a:latin typeface="Calibri"/>
                <a:ea typeface="Calibri"/>
              </a:rPr>
              <a:t>Produk terlaris, stok rendah, jam tersibuk, tren pendapatan</a:t>
            </a:r>
            <a:endParaRPr b="0" lang="en-US" sz="800" spc="-1" strike="noStrike">
              <a:latin typeface="Arial"/>
            </a:endParaRPr>
          </a:p>
        </p:txBody>
      </p:sp>
      <p:sp>
        <p:nvSpPr>
          <p:cNvPr id="221" name="Google Shape;272;p22"/>
          <p:cNvSpPr/>
          <p:nvPr/>
        </p:nvSpPr>
        <p:spPr>
          <a:xfrm>
            <a:off x="445680" y="3257640"/>
            <a:ext cx="8228880" cy="287280"/>
          </a:xfrm>
          <a:prstGeom prst="rect">
            <a:avLst/>
          </a:prstGeom>
          <a:noFill/>
          <a:ln w="0">
            <a:noFill/>
          </a:ln>
        </p:spPr>
        <p:style>
          <a:lnRef idx="0"/>
          <a:fillRef idx="0"/>
          <a:effectRef idx="0"/>
          <a:fontRef idx="minor"/>
        </p:style>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222" name="TextBox 245"/>
          <p:cNvSpPr/>
          <p:nvPr/>
        </p:nvSpPr>
        <p:spPr>
          <a:xfrm>
            <a:off x="4034160" y="288000"/>
            <a:ext cx="1056960" cy="13716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1" lang="en-US" sz="900" spc="-1" strike="noStrike">
                <a:solidFill>
                  <a:srgbClr val="ffb84d"/>
                </a:solidFill>
                <a:latin typeface="Calibri"/>
                <a:ea typeface="Arial"/>
              </a:rPr>
              <a:t>DETAIL WEBSITE</a:t>
            </a:r>
            <a:endParaRPr b="0" lang="en-US" sz="900" spc="-1" strike="noStrike">
              <a:latin typeface="Arial"/>
            </a:endParaRPr>
          </a:p>
        </p:txBody>
      </p:sp>
      <p:sp>
        <p:nvSpPr>
          <p:cNvPr id="223" name="TextBox 246"/>
          <p:cNvSpPr/>
          <p:nvPr/>
        </p:nvSpPr>
        <p:spPr>
          <a:xfrm>
            <a:off x="2417040" y="493920"/>
            <a:ext cx="4290840" cy="30492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1" lang="en-US" sz="2000" spc="-1" strike="noStrike">
                <a:solidFill>
                  <a:srgbClr val="ffffff"/>
                </a:solidFill>
                <a:latin typeface="Calibri"/>
                <a:ea typeface="Arial"/>
              </a:rPr>
              <a:t>Daftar Fitur Lengkap per Role</a:t>
            </a:r>
            <a:endParaRPr b="0" lang="en-US" sz="2000" spc="-1" strike="noStrike">
              <a:latin typeface="Arial"/>
            </a:endParaRPr>
          </a:p>
        </p:txBody>
      </p:sp>
      <p:sp>
        <p:nvSpPr>
          <p:cNvPr id="224" name="Rounded Rectangle 247"/>
          <p:cNvSpPr/>
          <p:nvPr/>
        </p:nvSpPr>
        <p:spPr>
          <a:xfrm>
            <a:off x="448200" y="1234440"/>
            <a:ext cx="2696760" cy="3519720"/>
          </a:xfrm>
          <a:prstGeom prst="roundRect">
            <a:avLst>
              <a:gd name="adj" fmla="val 6000"/>
            </a:avLst>
          </a:prstGeom>
          <a:solidFill>
            <a:srgbClr val="241819"/>
          </a:solidFill>
          <a:ln w="12700">
            <a:solidFill>
              <a:srgbClr val="3a2a2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5" name="Rounded Rectangle 248"/>
          <p:cNvSpPr/>
          <p:nvPr/>
        </p:nvSpPr>
        <p:spPr>
          <a:xfrm>
            <a:off x="448200" y="1234440"/>
            <a:ext cx="2696760" cy="456480"/>
          </a:xfrm>
          <a:prstGeom prst="roundRect">
            <a:avLst>
              <a:gd name="adj" fmla="val 6000"/>
            </a:avLst>
          </a:prstGeom>
          <a:solidFill>
            <a:srgbClr val="3a221e"/>
          </a:solidFill>
          <a:ln w="12700">
            <a:solidFill>
              <a:srgbClr val="3a221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25560" bIns="25560" anchor="ctr">
            <a:noAutofit/>
          </a:bodyPr>
          <a:p>
            <a:pPr algn="ctr">
              <a:lnSpc>
                <a:spcPct val="100000"/>
              </a:lnSpc>
              <a:buNone/>
            </a:pPr>
            <a:r>
              <a:rPr b="1" lang="en-US" sz="1300" spc="-1" strike="noStrike">
                <a:solidFill>
                  <a:srgbClr val="f5533d"/>
                </a:solidFill>
                <a:latin typeface="Calibri"/>
                <a:ea typeface="Arial"/>
              </a:rPr>
              <a:t>Pelanggan</a:t>
            </a:r>
            <a:endParaRPr b="0" lang="en-US" sz="1300" spc="-1" strike="noStrike">
              <a:latin typeface="Arial"/>
            </a:endParaRPr>
          </a:p>
        </p:txBody>
      </p:sp>
      <p:sp>
        <p:nvSpPr>
          <p:cNvPr id="226" name="TextBox 249"/>
          <p:cNvSpPr/>
          <p:nvPr/>
        </p:nvSpPr>
        <p:spPr>
          <a:xfrm>
            <a:off x="612720" y="1856160"/>
            <a:ext cx="2367720" cy="2203200"/>
          </a:xfrm>
          <a:prstGeom prst="rect">
            <a:avLst/>
          </a:prstGeom>
          <a:noFill/>
          <a:ln w="0">
            <a:noFill/>
          </a:ln>
        </p:spPr>
        <p:style>
          <a:lnRef idx="0"/>
          <a:fillRef idx="0"/>
          <a:effectRef idx="0"/>
          <a:fontRef idx="minor"/>
        </p:style>
        <p:txBody>
          <a:bodyPr lIns="0" rIns="0" tIns="0" bIns="0" anchor="t">
            <a:spAutoFit/>
          </a:bodyPr>
          <a:p>
            <a:pPr>
              <a:lnSpc>
                <a:spcPct val="115000"/>
              </a:lnSpc>
              <a:buNone/>
            </a:pPr>
            <a:r>
              <a:rPr b="0" lang="en-US" sz="1050" spc="-1" strike="noStrike">
                <a:solidFill>
                  <a:srgbClr val="f5533d"/>
                </a:solidFill>
                <a:latin typeface="Calibri"/>
                <a:ea typeface="Arial"/>
              </a:rPr>
              <a:t>•  </a:t>
            </a:r>
            <a:r>
              <a:rPr b="0" lang="en-US" sz="1050" spc="-1" strike="noStrike">
                <a:solidFill>
                  <a:srgbClr val="c4b2b6"/>
                </a:solidFill>
                <a:latin typeface="Calibri"/>
                <a:ea typeface="Arial"/>
              </a:rPr>
              <a:t>Katalog menu — cari &amp; filter kategori</a:t>
            </a:r>
            <a:endParaRPr b="0" lang="en-US" sz="1050" spc="-1" strike="noStrike">
              <a:latin typeface="Arial"/>
            </a:endParaRPr>
          </a:p>
          <a:p>
            <a:pPr>
              <a:lnSpc>
                <a:spcPct val="115000"/>
              </a:lnSpc>
              <a:buNone/>
            </a:pPr>
            <a:r>
              <a:rPr b="0" lang="en-US" sz="1050" spc="-1" strike="noStrike">
                <a:solidFill>
                  <a:srgbClr val="f5533d"/>
                </a:solidFill>
                <a:latin typeface="Calibri"/>
                <a:ea typeface="Arial"/>
              </a:rPr>
              <a:t>•  </a:t>
            </a:r>
            <a:r>
              <a:rPr b="0" lang="en-US" sz="1050" spc="-1" strike="noStrike">
                <a:solidFill>
                  <a:srgbClr val="c4b2b6"/>
                </a:solidFill>
                <a:latin typeface="Calibri"/>
                <a:ea typeface="Arial"/>
              </a:rPr>
              <a:t>Keranjang &amp; pilih varian (level pedas/ukuran)</a:t>
            </a:r>
            <a:endParaRPr b="0" lang="en-US" sz="1050" spc="-1" strike="noStrike">
              <a:latin typeface="Arial"/>
            </a:endParaRPr>
          </a:p>
          <a:p>
            <a:pPr>
              <a:lnSpc>
                <a:spcPct val="115000"/>
              </a:lnSpc>
              <a:buNone/>
            </a:pPr>
            <a:r>
              <a:rPr b="0" lang="en-US" sz="1050" spc="-1" strike="noStrike">
                <a:solidFill>
                  <a:srgbClr val="f5533d"/>
                </a:solidFill>
                <a:latin typeface="Calibri"/>
                <a:ea typeface="Arial"/>
              </a:rPr>
              <a:t>•  </a:t>
            </a:r>
            <a:r>
              <a:rPr b="0" lang="en-US" sz="1050" spc="-1" strike="noStrike">
                <a:solidFill>
                  <a:srgbClr val="c4b2b6"/>
                </a:solidFill>
                <a:latin typeface="Calibri"/>
                <a:ea typeface="Arial"/>
              </a:rPr>
              <a:t>Checkout tanpa login (nama &amp; no. HP)</a:t>
            </a:r>
            <a:endParaRPr b="0" lang="en-US" sz="1050" spc="-1" strike="noStrike">
              <a:latin typeface="Arial"/>
            </a:endParaRPr>
          </a:p>
          <a:p>
            <a:pPr>
              <a:lnSpc>
                <a:spcPct val="115000"/>
              </a:lnSpc>
              <a:buNone/>
            </a:pPr>
            <a:r>
              <a:rPr b="0" lang="en-US" sz="1050" spc="-1" strike="noStrike">
                <a:solidFill>
                  <a:srgbClr val="f5533d"/>
                </a:solidFill>
                <a:latin typeface="Calibri"/>
                <a:ea typeface="Arial"/>
              </a:rPr>
              <a:t>•  </a:t>
            </a:r>
            <a:r>
              <a:rPr b="0" lang="en-US" sz="1050" spc="-1" strike="noStrike">
                <a:solidFill>
                  <a:srgbClr val="c4b2b6"/>
                </a:solidFill>
                <a:latin typeface="Calibri"/>
                <a:ea typeface="Arial"/>
              </a:rPr>
              <a:t>Bayar QRIS (Midtrans) + countdown sesi</a:t>
            </a:r>
            <a:endParaRPr b="0" lang="en-US" sz="1050" spc="-1" strike="noStrike">
              <a:latin typeface="Arial"/>
            </a:endParaRPr>
          </a:p>
          <a:p>
            <a:pPr>
              <a:lnSpc>
                <a:spcPct val="115000"/>
              </a:lnSpc>
              <a:buNone/>
            </a:pPr>
            <a:r>
              <a:rPr b="0" lang="en-US" sz="1050" spc="-1" strike="noStrike">
                <a:solidFill>
                  <a:srgbClr val="f5533d"/>
                </a:solidFill>
                <a:latin typeface="Calibri"/>
                <a:ea typeface="Arial"/>
              </a:rPr>
              <a:t>•  </a:t>
            </a:r>
            <a:r>
              <a:rPr b="0" lang="en-US" sz="1050" spc="-1" strike="noStrike">
                <a:solidFill>
                  <a:srgbClr val="c4b2b6"/>
                </a:solidFill>
                <a:latin typeface="Calibri"/>
                <a:ea typeface="Arial"/>
              </a:rPr>
              <a:t>Lacak status pesanan real-time (polling)</a:t>
            </a:r>
            <a:endParaRPr b="0" lang="en-US" sz="1050" spc="-1" strike="noStrike">
              <a:latin typeface="Arial"/>
            </a:endParaRPr>
          </a:p>
          <a:p>
            <a:pPr>
              <a:lnSpc>
                <a:spcPct val="115000"/>
              </a:lnSpc>
              <a:buNone/>
            </a:pPr>
            <a:r>
              <a:rPr b="0" lang="en-US" sz="1050" spc="-1" strike="noStrike">
                <a:solidFill>
                  <a:srgbClr val="f5533d"/>
                </a:solidFill>
                <a:latin typeface="Calibri"/>
                <a:ea typeface="Arial"/>
              </a:rPr>
              <a:t>•  </a:t>
            </a:r>
            <a:r>
              <a:rPr b="0" lang="en-US" sz="1050" spc="-1" strike="noStrike">
                <a:solidFill>
                  <a:srgbClr val="c4b2b6"/>
                </a:solidFill>
                <a:latin typeface="Calibri"/>
                <a:ea typeface="Arial"/>
              </a:rPr>
              <a:t>Unduh QR pembayaran sebagai gambar</a:t>
            </a:r>
            <a:endParaRPr b="0" lang="en-US" sz="1050" spc="-1" strike="noStrike">
              <a:latin typeface="Arial"/>
            </a:endParaRPr>
          </a:p>
        </p:txBody>
      </p:sp>
      <p:sp>
        <p:nvSpPr>
          <p:cNvPr id="227" name="Rounded Rectangle 250"/>
          <p:cNvSpPr/>
          <p:nvPr/>
        </p:nvSpPr>
        <p:spPr>
          <a:xfrm>
            <a:off x="3328560" y="1234440"/>
            <a:ext cx="2696760" cy="3519720"/>
          </a:xfrm>
          <a:prstGeom prst="roundRect">
            <a:avLst>
              <a:gd name="adj" fmla="val 6000"/>
            </a:avLst>
          </a:prstGeom>
          <a:solidFill>
            <a:srgbClr val="241819"/>
          </a:solidFill>
          <a:ln w="12700">
            <a:solidFill>
              <a:srgbClr val="3a2a2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8" name="Rounded Rectangle 251"/>
          <p:cNvSpPr/>
          <p:nvPr/>
        </p:nvSpPr>
        <p:spPr>
          <a:xfrm>
            <a:off x="3328560" y="1234440"/>
            <a:ext cx="2696760" cy="456480"/>
          </a:xfrm>
          <a:prstGeom prst="roundRect">
            <a:avLst>
              <a:gd name="adj" fmla="val 6000"/>
            </a:avLst>
          </a:prstGeom>
          <a:solidFill>
            <a:srgbClr val="3a301e"/>
          </a:solidFill>
          <a:ln w="12700">
            <a:solidFill>
              <a:srgbClr val="3a301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25560" bIns="25560" anchor="ctr">
            <a:noAutofit/>
          </a:bodyPr>
          <a:p>
            <a:pPr algn="ctr">
              <a:lnSpc>
                <a:spcPct val="100000"/>
              </a:lnSpc>
              <a:buNone/>
            </a:pPr>
            <a:r>
              <a:rPr b="1" lang="en-US" sz="1300" spc="-1" strike="noStrike">
                <a:solidFill>
                  <a:srgbClr val="ffb84d"/>
                </a:solidFill>
                <a:latin typeface="Calibri"/>
                <a:ea typeface="Arial"/>
              </a:rPr>
              <a:t>Staff</a:t>
            </a:r>
            <a:endParaRPr b="0" lang="en-US" sz="1300" spc="-1" strike="noStrike">
              <a:latin typeface="Arial"/>
            </a:endParaRPr>
          </a:p>
        </p:txBody>
      </p:sp>
      <p:sp>
        <p:nvSpPr>
          <p:cNvPr id="229" name="TextBox 252"/>
          <p:cNvSpPr/>
          <p:nvPr/>
        </p:nvSpPr>
        <p:spPr>
          <a:xfrm>
            <a:off x="3493080" y="1856160"/>
            <a:ext cx="2367720" cy="1101600"/>
          </a:xfrm>
          <a:prstGeom prst="rect">
            <a:avLst/>
          </a:prstGeom>
          <a:noFill/>
          <a:ln w="0">
            <a:noFill/>
          </a:ln>
        </p:spPr>
        <p:style>
          <a:lnRef idx="0"/>
          <a:fillRef idx="0"/>
          <a:effectRef idx="0"/>
          <a:fontRef idx="minor"/>
        </p:style>
        <p:txBody>
          <a:bodyPr lIns="0" rIns="0" tIns="0" bIns="0" anchor="t">
            <a:spAutoFit/>
          </a:bodyPr>
          <a:p>
            <a:pPr>
              <a:lnSpc>
                <a:spcPct val="115000"/>
              </a:lnSpc>
              <a:buNone/>
            </a:pPr>
            <a:r>
              <a:rPr b="0" lang="en-US" sz="1050" spc="-1" strike="noStrike">
                <a:solidFill>
                  <a:srgbClr val="ffb84d"/>
                </a:solidFill>
                <a:latin typeface="Calibri"/>
                <a:ea typeface="Arial"/>
              </a:rPr>
              <a:t>•  </a:t>
            </a:r>
            <a:r>
              <a:rPr b="0" lang="en-US" sz="1050" spc="-1" strike="noStrike">
                <a:solidFill>
                  <a:srgbClr val="c4b2b6"/>
                </a:solidFill>
                <a:latin typeface="Calibri"/>
                <a:ea typeface="Arial"/>
              </a:rPr>
              <a:t>Papan Dapur (Kanban 4 kolom status)</a:t>
            </a:r>
            <a:endParaRPr b="0" lang="en-US" sz="1050" spc="-1" strike="noStrike">
              <a:latin typeface="Arial"/>
            </a:endParaRPr>
          </a:p>
          <a:p>
            <a:pPr>
              <a:lnSpc>
                <a:spcPct val="115000"/>
              </a:lnSpc>
              <a:buNone/>
            </a:pPr>
            <a:r>
              <a:rPr b="0" lang="en-US" sz="1050" spc="-1" strike="noStrike">
                <a:solidFill>
                  <a:srgbClr val="ffb84d"/>
                </a:solidFill>
                <a:latin typeface="Calibri"/>
                <a:ea typeface="Arial"/>
              </a:rPr>
              <a:t>•  </a:t>
            </a:r>
            <a:r>
              <a:rPr b="0" lang="en-US" sz="1050" spc="-1" strike="noStrike">
                <a:solidFill>
                  <a:srgbClr val="c4b2b6"/>
                </a:solidFill>
                <a:latin typeface="Calibri"/>
                <a:ea typeface="Arial"/>
              </a:rPr>
              <a:t>Ubah status pesanan satu klik</a:t>
            </a:r>
            <a:endParaRPr b="0" lang="en-US" sz="1050" spc="-1" strike="noStrike">
              <a:latin typeface="Arial"/>
            </a:endParaRPr>
          </a:p>
          <a:p>
            <a:pPr>
              <a:lnSpc>
                <a:spcPct val="115000"/>
              </a:lnSpc>
              <a:buNone/>
            </a:pPr>
            <a:r>
              <a:rPr b="0" lang="en-US" sz="1050" spc="-1" strike="noStrike">
                <a:solidFill>
                  <a:srgbClr val="ffb84d"/>
                </a:solidFill>
                <a:latin typeface="Calibri"/>
                <a:ea typeface="Arial"/>
              </a:rPr>
              <a:t>•  </a:t>
            </a:r>
            <a:r>
              <a:rPr b="0" lang="en-US" sz="1050" spc="-1" strike="noStrike">
                <a:solidFill>
                  <a:srgbClr val="c4b2b6"/>
                </a:solidFill>
                <a:latin typeface="Calibri"/>
                <a:ea typeface="Arial"/>
              </a:rPr>
              <a:t>Konfirmasi pembayaran tunai</a:t>
            </a:r>
            <a:endParaRPr b="0" lang="en-US" sz="1050" spc="-1" strike="noStrike">
              <a:latin typeface="Arial"/>
            </a:endParaRPr>
          </a:p>
          <a:p>
            <a:pPr>
              <a:lnSpc>
                <a:spcPct val="115000"/>
              </a:lnSpc>
              <a:buNone/>
            </a:pPr>
            <a:r>
              <a:rPr b="0" lang="en-US" sz="1050" spc="-1" strike="noStrike">
                <a:solidFill>
                  <a:srgbClr val="ffb84d"/>
                </a:solidFill>
                <a:latin typeface="Calibri"/>
                <a:ea typeface="Arial"/>
              </a:rPr>
              <a:t>•  </a:t>
            </a:r>
            <a:r>
              <a:rPr b="0" lang="en-US" sz="1050" spc="-1" strike="noStrike">
                <a:solidFill>
                  <a:srgbClr val="c4b2b6"/>
                </a:solidFill>
                <a:latin typeface="Calibri"/>
                <a:ea typeface="Arial"/>
              </a:rPr>
              <a:t>Dashboard ringkas (tanpa angka pendapatan)</a:t>
            </a:r>
            <a:endParaRPr b="0" lang="en-US" sz="1050" spc="-1" strike="noStrike">
              <a:latin typeface="Arial"/>
            </a:endParaRPr>
          </a:p>
        </p:txBody>
      </p:sp>
      <p:sp>
        <p:nvSpPr>
          <p:cNvPr id="230" name="Rounded Rectangle 253"/>
          <p:cNvSpPr/>
          <p:nvPr/>
        </p:nvSpPr>
        <p:spPr>
          <a:xfrm>
            <a:off x="6208920" y="1234440"/>
            <a:ext cx="2696760" cy="3519720"/>
          </a:xfrm>
          <a:prstGeom prst="roundRect">
            <a:avLst>
              <a:gd name="adj" fmla="val 6000"/>
            </a:avLst>
          </a:prstGeom>
          <a:solidFill>
            <a:srgbClr val="241819"/>
          </a:solidFill>
          <a:ln w="12700">
            <a:solidFill>
              <a:srgbClr val="3a2a2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1" name="Rounded Rectangle 254"/>
          <p:cNvSpPr/>
          <p:nvPr/>
        </p:nvSpPr>
        <p:spPr>
          <a:xfrm>
            <a:off x="6208920" y="1234440"/>
            <a:ext cx="2696760" cy="456480"/>
          </a:xfrm>
          <a:prstGeom prst="roundRect">
            <a:avLst>
              <a:gd name="adj" fmla="val 6000"/>
            </a:avLst>
          </a:prstGeom>
          <a:solidFill>
            <a:srgbClr val="1e3a2c"/>
          </a:solidFill>
          <a:ln w="12700">
            <a:solidFill>
              <a:srgbClr val="1e3a2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25560" bIns="25560" anchor="ctr">
            <a:noAutofit/>
          </a:bodyPr>
          <a:p>
            <a:pPr algn="ctr">
              <a:lnSpc>
                <a:spcPct val="100000"/>
              </a:lnSpc>
              <a:buNone/>
            </a:pPr>
            <a:r>
              <a:rPr b="1" lang="en-US" sz="1300" spc="-1" strike="noStrike">
                <a:solidFill>
                  <a:srgbClr val="4caf7d"/>
                </a:solidFill>
                <a:latin typeface="Calibri"/>
                <a:ea typeface="Arial"/>
              </a:rPr>
              <a:t>Admin</a:t>
            </a:r>
            <a:endParaRPr b="0" lang="en-US" sz="1300" spc="-1" strike="noStrike">
              <a:latin typeface="Arial"/>
            </a:endParaRPr>
          </a:p>
        </p:txBody>
      </p:sp>
      <p:sp>
        <p:nvSpPr>
          <p:cNvPr id="232" name="TextBox 255"/>
          <p:cNvSpPr/>
          <p:nvPr/>
        </p:nvSpPr>
        <p:spPr>
          <a:xfrm>
            <a:off x="6373440" y="1856160"/>
            <a:ext cx="2367720" cy="1468800"/>
          </a:xfrm>
          <a:prstGeom prst="rect">
            <a:avLst/>
          </a:prstGeom>
          <a:noFill/>
          <a:ln w="0">
            <a:noFill/>
          </a:ln>
        </p:spPr>
        <p:style>
          <a:lnRef idx="0"/>
          <a:fillRef idx="0"/>
          <a:effectRef idx="0"/>
          <a:fontRef idx="minor"/>
        </p:style>
        <p:txBody>
          <a:bodyPr lIns="0" rIns="0" tIns="0" bIns="0" anchor="t">
            <a:spAutoFit/>
          </a:bodyPr>
          <a:p>
            <a:pPr>
              <a:lnSpc>
                <a:spcPct val="115000"/>
              </a:lnSpc>
              <a:buNone/>
            </a:pPr>
            <a:r>
              <a:rPr b="0" lang="en-US" sz="1050" spc="-1" strike="noStrike">
                <a:solidFill>
                  <a:srgbClr val="4caf7d"/>
                </a:solidFill>
                <a:latin typeface="Calibri"/>
                <a:ea typeface="Arial"/>
              </a:rPr>
              <a:t>•  </a:t>
            </a:r>
            <a:r>
              <a:rPr b="0" lang="en-US" sz="1050" spc="-1" strike="noStrike">
                <a:solidFill>
                  <a:srgbClr val="c4b2b6"/>
                </a:solidFill>
                <a:latin typeface="Calibri"/>
                <a:ea typeface="Arial"/>
              </a:rPr>
              <a:t>Semua akses Staff, ditambah:</a:t>
            </a:r>
            <a:endParaRPr b="0" lang="en-US" sz="1050" spc="-1" strike="noStrike">
              <a:latin typeface="Arial"/>
            </a:endParaRPr>
          </a:p>
          <a:p>
            <a:pPr>
              <a:lnSpc>
                <a:spcPct val="115000"/>
              </a:lnSpc>
              <a:buNone/>
            </a:pPr>
            <a:r>
              <a:rPr b="0" lang="en-US" sz="1050" spc="-1" strike="noStrike">
                <a:solidFill>
                  <a:srgbClr val="4caf7d"/>
                </a:solidFill>
                <a:latin typeface="Calibri"/>
                <a:ea typeface="Arial"/>
              </a:rPr>
              <a:t>•  </a:t>
            </a:r>
            <a:r>
              <a:rPr b="0" lang="en-US" sz="1050" spc="-1" strike="noStrike">
                <a:solidFill>
                  <a:srgbClr val="c4b2b6"/>
                </a:solidFill>
                <a:latin typeface="Calibri"/>
                <a:ea typeface="Arial"/>
              </a:rPr>
              <a:t>Kelola Produk &amp; Kategori (CRUD + stok)</a:t>
            </a:r>
            <a:endParaRPr b="0" lang="en-US" sz="1050" spc="-1" strike="noStrike">
              <a:latin typeface="Arial"/>
            </a:endParaRPr>
          </a:p>
          <a:p>
            <a:pPr>
              <a:lnSpc>
                <a:spcPct val="115000"/>
              </a:lnSpc>
              <a:buNone/>
            </a:pPr>
            <a:r>
              <a:rPr b="0" lang="en-US" sz="1050" spc="-1" strike="noStrike">
                <a:solidFill>
                  <a:srgbClr val="4caf7d"/>
                </a:solidFill>
                <a:latin typeface="Calibri"/>
                <a:ea typeface="Arial"/>
              </a:rPr>
              <a:t>•  </a:t>
            </a:r>
            <a:r>
              <a:rPr b="0" lang="en-US" sz="1050" spc="-1" strike="noStrike">
                <a:solidFill>
                  <a:srgbClr val="c4b2b6"/>
                </a:solidFill>
                <a:latin typeface="Calibri"/>
                <a:ea typeface="Arial"/>
              </a:rPr>
              <a:t>Penyesuaian stok (ledger tercatat)</a:t>
            </a:r>
            <a:endParaRPr b="0" lang="en-US" sz="1050" spc="-1" strike="noStrike">
              <a:latin typeface="Arial"/>
            </a:endParaRPr>
          </a:p>
          <a:p>
            <a:pPr>
              <a:lnSpc>
                <a:spcPct val="115000"/>
              </a:lnSpc>
              <a:buNone/>
            </a:pPr>
            <a:r>
              <a:rPr b="0" lang="en-US" sz="1050" spc="-1" strike="noStrike">
                <a:solidFill>
                  <a:srgbClr val="4caf7d"/>
                </a:solidFill>
                <a:latin typeface="Calibri"/>
                <a:ea typeface="Arial"/>
              </a:rPr>
              <a:t>•  </a:t>
            </a:r>
            <a:r>
              <a:rPr b="0" lang="en-US" sz="1050" spc="-1" strike="noStrike">
                <a:solidFill>
                  <a:srgbClr val="c4b2b6"/>
                </a:solidFill>
                <a:latin typeface="Calibri"/>
                <a:ea typeface="Arial"/>
              </a:rPr>
              <a:t>Registrasi akun Staff/Admin baru</a:t>
            </a:r>
            <a:endParaRPr b="0" lang="en-US" sz="1050" spc="-1" strike="noStrike">
              <a:latin typeface="Arial"/>
            </a:endParaRPr>
          </a:p>
          <a:p>
            <a:pPr>
              <a:lnSpc>
                <a:spcPct val="115000"/>
              </a:lnSpc>
              <a:buNone/>
            </a:pPr>
            <a:r>
              <a:rPr b="0" lang="en-US" sz="1050" spc="-1" strike="noStrike">
                <a:solidFill>
                  <a:srgbClr val="4caf7d"/>
                </a:solidFill>
                <a:latin typeface="Calibri"/>
                <a:ea typeface="Arial"/>
              </a:rPr>
              <a:t>•  </a:t>
            </a:r>
            <a:r>
              <a:rPr b="0" lang="en-US" sz="1050" spc="-1" strike="noStrike">
                <a:solidFill>
                  <a:srgbClr val="c4b2b6"/>
                </a:solidFill>
                <a:latin typeface="Calibri"/>
                <a:ea typeface="Arial"/>
              </a:rPr>
              <a:t>Laporan: pendapatan, produk terlaris, stok rendah, jam tersibuk</a:t>
            </a:r>
            <a:endParaRPr b="0" lang="en-US" sz="105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233" name="Google Shape;278;p23"/>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TECHNICAL DEPTH</a:t>
            </a:r>
            <a:endParaRPr b="0" lang="en-US" sz="800" spc="-1" strike="noStrike">
              <a:latin typeface="Arial"/>
            </a:endParaRPr>
          </a:p>
        </p:txBody>
      </p:sp>
      <p:sp>
        <p:nvSpPr>
          <p:cNvPr id="234" name="Google Shape;279;p23"/>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Tech Stack &amp; Alasan Pemilihannya</a:t>
            </a:r>
            <a:endParaRPr b="0" lang="en-US" sz="2300" spc="-1" strike="noStrike">
              <a:latin typeface="Arial"/>
            </a:endParaRPr>
          </a:p>
        </p:txBody>
      </p:sp>
      <p:sp>
        <p:nvSpPr>
          <p:cNvPr id="235" name="Google Shape;280;p23"/>
          <p:cNvSpPr/>
          <p:nvPr/>
        </p:nvSpPr>
        <p:spPr>
          <a:xfrm>
            <a:off x="445680" y="1200240"/>
            <a:ext cx="2625840" cy="3600360"/>
          </a:xfrm>
          <a:prstGeom prst="roundRect">
            <a:avLst>
              <a:gd name="adj" fmla="val 2611"/>
            </a:avLst>
          </a:prstGeom>
          <a:solidFill>
            <a:srgbClr val="2b1f22"/>
          </a:solidFill>
          <a:ln w="12700">
            <a:solidFill>
              <a:srgbClr val="2b1f22"/>
            </a:solidFill>
            <a:round/>
          </a:ln>
        </p:spPr>
        <p:style>
          <a:lnRef idx="0"/>
          <a:fillRef idx="0"/>
          <a:effectRef idx="0"/>
          <a:fontRef idx="minor"/>
        </p:style>
      </p:sp>
      <p:sp>
        <p:nvSpPr>
          <p:cNvPr id="236" name="Google Shape;281;p23"/>
          <p:cNvSpPr/>
          <p:nvPr/>
        </p:nvSpPr>
        <p:spPr>
          <a:xfrm>
            <a:off x="665280" y="1357920"/>
            <a:ext cx="2187000" cy="259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400" spc="-1" strike="noStrike">
                <a:solidFill>
                  <a:srgbClr val="ffb84d"/>
                </a:solidFill>
                <a:latin typeface="Calibri"/>
                <a:ea typeface="Calibri"/>
              </a:rPr>
              <a:t>Backend</a:t>
            </a:r>
            <a:endParaRPr b="0" lang="en-US" sz="1400" spc="-1" strike="noStrike">
              <a:latin typeface="Arial"/>
            </a:endParaRPr>
          </a:p>
        </p:txBody>
      </p:sp>
      <p:sp>
        <p:nvSpPr>
          <p:cNvPr id="237" name="Google Shape;282;p23"/>
          <p:cNvSpPr/>
          <p:nvPr/>
        </p:nvSpPr>
        <p:spPr>
          <a:xfrm>
            <a:off x="665280" y="1673280"/>
            <a:ext cx="2187000" cy="1096560"/>
          </a:xfrm>
          <a:prstGeom prst="rect">
            <a:avLst/>
          </a:prstGeom>
          <a:noFill/>
          <a:ln w="0">
            <a:noFill/>
          </a:ln>
        </p:spPr>
        <p:style>
          <a:lnRef idx="0"/>
          <a:fillRef idx="0"/>
          <a:effectRef idx="0"/>
          <a:fontRef idx="minor"/>
        </p:style>
        <p:txBody>
          <a:bodyPr lIns="0" rIns="0" tIns="0" bIns="0" anchor="t">
            <a:noAutofit/>
          </a:bodyPr>
          <a:p>
            <a:pPr marL="139680" indent="-133200">
              <a:lnSpc>
                <a:spcPct val="100000"/>
              </a:lnSpc>
              <a:buClr>
                <a:srgbClr val="ffffff"/>
              </a:buClr>
              <a:buFont typeface="Calibri"/>
              <a:buChar char="•"/>
            </a:pPr>
            <a:r>
              <a:rPr b="0" lang="en" sz="900" spc="-1" strike="noStrike">
                <a:solidFill>
                  <a:srgbClr val="ffffff"/>
                </a:solidFill>
                <a:latin typeface="Calibri"/>
                <a:ea typeface="Calibri"/>
              </a:rPr>
              <a:t>Springboot</a:t>
            </a:r>
            <a:endParaRPr b="0" lang="en-US" sz="900" spc="-1" strike="noStrike">
              <a:latin typeface="Arial"/>
            </a:endParaRPr>
          </a:p>
          <a:p>
            <a:pPr marL="139680" indent="-133200">
              <a:lnSpc>
                <a:spcPct val="100000"/>
              </a:lnSpc>
              <a:spcBef>
                <a:spcPts val="499"/>
              </a:spcBef>
              <a:buClr>
                <a:srgbClr val="ffffff"/>
              </a:buClr>
              <a:buFont typeface="Calibri"/>
              <a:buChar char="•"/>
            </a:pPr>
            <a:r>
              <a:rPr b="0" lang="en" sz="900" spc="-1" strike="noStrike">
                <a:solidFill>
                  <a:srgbClr val="ffffff"/>
                </a:solidFill>
                <a:latin typeface="Calibri"/>
                <a:ea typeface="Calibri"/>
              </a:rPr>
              <a:t>MySQL 8</a:t>
            </a:r>
            <a:endParaRPr b="0" lang="en-US" sz="900" spc="-1" strike="noStrike">
              <a:latin typeface="Arial"/>
            </a:endParaRPr>
          </a:p>
          <a:p>
            <a:pPr marL="139680" indent="-133200">
              <a:lnSpc>
                <a:spcPct val="100000"/>
              </a:lnSpc>
              <a:spcBef>
                <a:spcPts val="499"/>
              </a:spcBef>
              <a:buClr>
                <a:srgbClr val="ffffff"/>
              </a:buClr>
              <a:buFont typeface="Calibri"/>
              <a:buChar char="•"/>
            </a:pPr>
            <a:r>
              <a:rPr b="0" lang="en" sz="900" spc="-1" strike="noStrike">
                <a:solidFill>
                  <a:srgbClr val="ffffff"/>
                </a:solidFill>
                <a:latin typeface="Calibri"/>
                <a:ea typeface="Calibri"/>
              </a:rPr>
              <a:t>Swagger / Postman</a:t>
            </a:r>
            <a:endParaRPr b="0" lang="en-US" sz="900" spc="-1" strike="noStrike">
              <a:latin typeface="Arial"/>
            </a:endParaRPr>
          </a:p>
        </p:txBody>
      </p:sp>
      <p:sp>
        <p:nvSpPr>
          <p:cNvPr id="238" name="Google Shape;283;p23"/>
          <p:cNvSpPr/>
          <p:nvPr/>
        </p:nvSpPr>
        <p:spPr>
          <a:xfrm>
            <a:off x="665280" y="2846160"/>
            <a:ext cx="2187000" cy="7560"/>
          </a:xfrm>
          <a:prstGeom prst="rect">
            <a:avLst/>
          </a:prstGeom>
          <a:solidFill>
            <a:srgbClr val="4e3a3e"/>
          </a:solidFill>
          <a:ln w="12700">
            <a:solidFill>
              <a:srgbClr val="4e3a3e"/>
            </a:solidFill>
            <a:round/>
          </a:ln>
        </p:spPr>
        <p:style>
          <a:lnRef idx="0"/>
          <a:fillRef idx="0"/>
          <a:effectRef idx="0"/>
          <a:fontRef idx="minor"/>
        </p:style>
      </p:sp>
      <p:sp>
        <p:nvSpPr>
          <p:cNvPr id="239" name="Google Shape;284;p23"/>
          <p:cNvSpPr/>
          <p:nvPr/>
        </p:nvSpPr>
        <p:spPr>
          <a:xfrm>
            <a:off x="665280" y="2935080"/>
            <a:ext cx="2187000" cy="177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Kenapa</a:t>
            </a:r>
            <a:endParaRPr b="0" lang="en-US" sz="800" spc="-1" strike="noStrike">
              <a:latin typeface="Arial"/>
            </a:endParaRPr>
          </a:p>
        </p:txBody>
      </p:sp>
      <p:sp>
        <p:nvSpPr>
          <p:cNvPr id="240" name="Google Shape;285;p23"/>
          <p:cNvSpPr/>
          <p:nvPr/>
        </p:nvSpPr>
        <p:spPr>
          <a:xfrm>
            <a:off x="665280" y="3127320"/>
            <a:ext cx="2187000" cy="102816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Inti aplikasi ini adalah transaksi database dengan pessimistic lock saat pengurangan stok. Spring Data JPA menyediakannya lewat @Lock(PESSIMISTIC_WRITE) tanpa perlu raw SQL, dipadu @Transactional agar rollback otomatis kalau validasi gagal.</a:t>
            </a:r>
            <a:endParaRPr b="0" lang="en-US" sz="900" spc="-1" strike="noStrike">
              <a:latin typeface="Arial"/>
            </a:endParaRPr>
          </a:p>
        </p:txBody>
      </p:sp>
      <p:sp>
        <p:nvSpPr>
          <p:cNvPr id="241" name="Google Shape;286;p23"/>
          <p:cNvSpPr/>
          <p:nvPr/>
        </p:nvSpPr>
        <p:spPr>
          <a:xfrm>
            <a:off x="3243960" y="1200240"/>
            <a:ext cx="2625840" cy="3600360"/>
          </a:xfrm>
          <a:prstGeom prst="roundRect">
            <a:avLst>
              <a:gd name="adj" fmla="val 2611"/>
            </a:avLst>
          </a:prstGeom>
          <a:solidFill>
            <a:srgbClr val="2b1f22"/>
          </a:solidFill>
          <a:ln w="12700">
            <a:solidFill>
              <a:srgbClr val="2b1f22"/>
            </a:solidFill>
            <a:round/>
          </a:ln>
        </p:spPr>
        <p:style>
          <a:lnRef idx="0"/>
          <a:fillRef idx="0"/>
          <a:effectRef idx="0"/>
          <a:fontRef idx="minor"/>
        </p:style>
      </p:sp>
      <p:sp>
        <p:nvSpPr>
          <p:cNvPr id="242" name="Google Shape;287;p23"/>
          <p:cNvSpPr/>
          <p:nvPr/>
        </p:nvSpPr>
        <p:spPr>
          <a:xfrm>
            <a:off x="3463200" y="1357920"/>
            <a:ext cx="2187000" cy="259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400" spc="-1" strike="noStrike">
                <a:solidFill>
                  <a:srgbClr val="f5533d"/>
                </a:solidFill>
                <a:latin typeface="Calibri"/>
                <a:ea typeface="Calibri"/>
              </a:rPr>
              <a:t>Frontend</a:t>
            </a:r>
            <a:endParaRPr b="0" lang="en-US" sz="1400" spc="-1" strike="noStrike">
              <a:latin typeface="Arial"/>
            </a:endParaRPr>
          </a:p>
        </p:txBody>
      </p:sp>
      <p:sp>
        <p:nvSpPr>
          <p:cNvPr id="243" name="Google Shape;288;p23"/>
          <p:cNvSpPr/>
          <p:nvPr/>
        </p:nvSpPr>
        <p:spPr>
          <a:xfrm>
            <a:off x="3463200" y="1673280"/>
            <a:ext cx="2187000" cy="1096560"/>
          </a:xfrm>
          <a:prstGeom prst="rect">
            <a:avLst/>
          </a:prstGeom>
          <a:noFill/>
          <a:ln w="0">
            <a:noFill/>
          </a:ln>
        </p:spPr>
        <p:style>
          <a:lnRef idx="0"/>
          <a:fillRef idx="0"/>
          <a:effectRef idx="0"/>
          <a:fontRef idx="minor"/>
        </p:style>
        <p:txBody>
          <a:bodyPr lIns="0" rIns="0" tIns="0" bIns="0" anchor="t">
            <a:noAutofit/>
          </a:bodyPr>
          <a:p>
            <a:pPr marL="139680" indent="-133200">
              <a:lnSpc>
                <a:spcPct val="100000"/>
              </a:lnSpc>
              <a:buClr>
                <a:srgbClr val="ffffff"/>
              </a:buClr>
              <a:buFont typeface="Calibri"/>
              <a:buChar char="•"/>
            </a:pPr>
            <a:r>
              <a:rPr b="0" lang="en" sz="900" spc="-1" strike="noStrike">
                <a:solidFill>
                  <a:srgbClr val="ffffff"/>
                </a:solidFill>
                <a:latin typeface="Calibri"/>
                <a:ea typeface="Calibri"/>
              </a:rPr>
              <a:t>React + Vite</a:t>
            </a:r>
            <a:endParaRPr b="0" lang="en-US" sz="900" spc="-1" strike="noStrike">
              <a:latin typeface="Arial"/>
            </a:endParaRPr>
          </a:p>
          <a:p>
            <a:pPr marL="139680" indent="-133200">
              <a:lnSpc>
                <a:spcPct val="100000"/>
              </a:lnSpc>
              <a:spcBef>
                <a:spcPts val="499"/>
              </a:spcBef>
              <a:buClr>
                <a:srgbClr val="ffffff"/>
              </a:buClr>
              <a:buFont typeface="Calibri"/>
              <a:buChar char="•"/>
            </a:pPr>
            <a:r>
              <a:rPr b="0" lang="en" sz="900" spc="-1" strike="noStrike">
                <a:solidFill>
                  <a:srgbClr val="ffffff"/>
                </a:solidFill>
                <a:latin typeface="Calibri"/>
                <a:ea typeface="Calibri"/>
              </a:rPr>
              <a:t>Tailwind CSS</a:t>
            </a:r>
            <a:endParaRPr b="0" lang="en-US" sz="900" spc="-1" strike="noStrike">
              <a:latin typeface="Arial"/>
            </a:endParaRPr>
          </a:p>
          <a:p>
            <a:pPr marL="139680" indent="-133200">
              <a:lnSpc>
                <a:spcPct val="100000"/>
              </a:lnSpc>
              <a:spcBef>
                <a:spcPts val="499"/>
              </a:spcBef>
              <a:buClr>
                <a:srgbClr val="ffffff"/>
              </a:buClr>
              <a:buFont typeface="Calibri"/>
              <a:buChar char="•"/>
            </a:pPr>
            <a:r>
              <a:rPr b="0" lang="en" sz="900" spc="-1" strike="noStrike">
                <a:solidFill>
                  <a:srgbClr val="ffffff"/>
                </a:solidFill>
                <a:latin typeface="Calibri"/>
                <a:ea typeface="Calibri"/>
              </a:rPr>
              <a:t>TanStack Query</a:t>
            </a:r>
            <a:endParaRPr b="0" lang="en-US" sz="900" spc="-1" strike="noStrike">
              <a:latin typeface="Arial"/>
            </a:endParaRPr>
          </a:p>
        </p:txBody>
      </p:sp>
      <p:sp>
        <p:nvSpPr>
          <p:cNvPr id="244" name="Google Shape;289;p23"/>
          <p:cNvSpPr/>
          <p:nvPr/>
        </p:nvSpPr>
        <p:spPr>
          <a:xfrm>
            <a:off x="3463200" y="2846160"/>
            <a:ext cx="2187000" cy="7560"/>
          </a:xfrm>
          <a:prstGeom prst="rect">
            <a:avLst/>
          </a:prstGeom>
          <a:solidFill>
            <a:srgbClr val="4e3a3e"/>
          </a:solidFill>
          <a:ln w="12700">
            <a:solidFill>
              <a:srgbClr val="4e3a3e"/>
            </a:solidFill>
            <a:round/>
          </a:ln>
        </p:spPr>
        <p:style>
          <a:lnRef idx="0"/>
          <a:fillRef idx="0"/>
          <a:effectRef idx="0"/>
          <a:fontRef idx="minor"/>
        </p:style>
      </p:sp>
      <p:sp>
        <p:nvSpPr>
          <p:cNvPr id="245" name="Google Shape;290;p23"/>
          <p:cNvSpPr/>
          <p:nvPr/>
        </p:nvSpPr>
        <p:spPr>
          <a:xfrm>
            <a:off x="3463200" y="2935080"/>
            <a:ext cx="2187000" cy="177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5533d"/>
                </a:solidFill>
                <a:latin typeface="Calibri"/>
                <a:ea typeface="Calibri"/>
              </a:rPr>
              <a:t>Kenapa</a:t>
            </a:r>
            <a:endParaRPr b="0" lang="en-US" sz="800" spc="-1" strike="noStrike">
              <a:latin typeface="Arial"/>
            </a:endParaRPr>
          </a:p>
        </p:txBody>
      </p:sp>
      <p:sp>
        <p:nvSpPr>
          <p:cNvPr id="246" name="Google Shape;291;p23"/>
          <p:cNvSpPr/>
          <p:nvPr/>
        </p:nvSpPr>
        <p:spPr>
          <a:xfrm>
            <a:off x="3463200" y="3127320"/>
            <a:ext cx="2187000" cy="102816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TanStack Query menangani polling status pesanan dan invalidasi cache, sehingga halaman antrean ter-update sendiri tanpa perlu WebSocket di versi awal.</a:t>
            </a:r>
            <a:endParaRPr b="0" lang="en-US" sz="900" spc="-1" strike="noStrike">
              <a:latin typeface="Arial"/>
            </a:endParaRPr>
          </a:p>
        </p:txBody>
      </p:sp>
      <p:sp>
        <p:nvSpPr>
          <p:cNvPr id="247" name="Google Shape;292;p23"/>
          <p:cNvSpPr/>
          <p:nvPr/>
        </p:nvSpPr>
        <p:spPr>
          <a:xfrm>
            <a:off x="6041880" y="1200240"/>
            <a:ext cx="2625840" cy="3600360"/>
          </a:xfrm>
          <a:prstGeom prst="roundRect">
            <a:avLst>
              <a:gd name="adj" fmla="val 2611"/>
            </a:avLst>
          </a:prstGeom>
          <a:solidFill>
            <a:srgbClr val="2b1f22"/>
          </a:solidFill>
          <a:ln w="12700">
            <a:solidFill>
              <a:srgbClr val="2b1f22"/>
            </a:solidFill>
            <a:round/>
          </a:ln>
        </p:spPr>
        <p:style>
          <a:lnRef idx="0"/>
          <a:fillRef idx="0"/>
          <a:effectRef idx="0"/>
          <a:fontRef idx="minor"/>
        </p:style>
      </p:sp>
      <p:sp>
        <p:nvSpPr>
          <p:cNvPr id="248" name="Google Shape;293;p23"/>
          <p:cNvSpPr/>
          <p:nvPr/>
        </p:nvSpPr>
        <p:spPr>
          <a:xfrm>
            <a:off x="6261480" y="1357920"/>
            <a:ext cx="2187000" cy="259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400" spc="-1" strike="noStrike">
                <a:solidFill>
                  <a:srgbClr val="4caf7d"/>
                </a:solidFill>
                <a:latin typeface="Calibri"/>
                <a:ea typeface="Calibri"/>
              </a:rPr>
              <a:t>Infrastruktur</a:t>
            </a:r>
            <a:endParaRPr b="0" lang="en-US" sz="1400" spc="-1" strike="noStrike">
              <a:latin typeface="Arial"/>
            </a:endParaRPr>
          </a:p>
        </p:txBody>
      </p:sp>
      <p:sp>
        <p:nvSpPr>
          <p:cNvPr id="249" name="Google Shape;294;p23"/>
          <p:cNvSpPr/>
          <p:nvPr/>
        </p:nvSpPr>
        <p:spPr>
          <a:xfrm>
            <a:off x="6261480" y="1673280"/>
            <a:ext cx="2187000" cy="1096560"/>
          </a:xfrm>
          <a:prstGeom prst="rect">
            <a:avLst/>
          </a:prstGeom>
          <a:noFill/>
          <a:ln w="0">
            <a:noFill/>
          </a:ln>
        </p:spPr>
        <p:style>
          <a:lnRef idx="0"/>
          <a:fillRef idx="0"/>
          <a:effectRef idx="0"/>
          <a:fontRef idx="minor"/>
        </p:style>
        <p:txBody>
          <a:bodyPr lIns="0" rIns="0" tIns="0" bIns="0" anchor="t">
            <a:noAutofit/>
          </a:bodyPr>
          <a:p>
            <a:pPr marL="139680" indent="-133200">
              <a:lnSpc>
                <a:spcPct val="100000"/>
              </a:lnSpc>
              <a:buClr>
                <a:srgbClr val="ffffff"/>
              </a:buClr>
              <a:buFont typeface="Calibri"/>
              <a:buChar char="•"/>
            </a:pPr>
            <a:r>
              <a:rPr b="0" lang="en" sz="900" spc="-1" strike="noStrike">
                <a:solidFill>
                  <a:srgbClr val="ffffff"/>
                </a:solidFill>
                <a:latin typeface="Calibri"/>
                <a:ea typeface="Calibri"/>
              </a:rPr>
              <a:t>Railway (API + DB)</a:t>
            </a:r>
            <a:endParaRPr b="0" lang="en-US" sz="900" spc="-1" strike="noStrike">
              <a:latin typeface="Arial"/>
            </a:endParaRPr>
          </a:p>
          <a:p>
            <a:pPr marL="139680" indent="-133200">
              <a:lnSpc>
                <a:spcPct val="100000"/>
              </a:lnSpc>
              <a:spcBef>
                <a:spcPts val="499"/>
              </a:spcBef>
              <a:buClr>
                <a:srgbClr val="ffffff"/>
              </a:buClr>
              <a:buFont typeface="Calibri"/>
              <a:buChar char="•"/>
            </a:pPr>
            <a:r>
              <a:rPr b="0" lang="en" sz="900" spc="-1" strike="noStrike">
                <a:solidFill>
                  <a:srgbClr val="ffffff"/>
                </a:solidFill>
                <a:latin typeface="Calibri"/>
                <a:ea typeface="Calibri"/>
              </a:rPr>
              <a:t>Vercel (frontend)</a:t>
            </a:r>
            <a:endParaRPr b="0" lang="en-US" sz="900" spc="-1" strike="noStrike">
              <a:latin typeface="Arial"/>
            </a:endParaRPr>
          </a:p>
          <a:p>
            <a:pPr marL="139680" indent="-133200">
              <a:lnSpc>
                <a:spcPct val="100000"/>
              </a:lnSpc>
              <a:spcBef>
                <a:spcPts val="499"/>
              </a:spcBef>
              <a:buClr>
                <a:srgbClr val="ffffff"/>
              </a:buClr>
              <a:buFont typeface="Calibri"/>
              <a:buChar char="•"/>
            </a:pPr>
            <a:r>
              <a:rPr b="0" lang="en" sz="900" spc="-1" strike="noStrike">
                <a:solidFill>
                  <a:srgbClr val="ffffff"/>
                </a:solidFill>
                <a:latin typeface="Calibri"/>
                <a:ea typeface="Calibri"/>
              </a:rPr>
              <a:t>Docker Compose</a:t>
            </a:r>
            <a:endParaRPr b="0" lang="en-US" sz="900" spc="-1" strike="noStrike">
              <a:latin typeface="Arial"/>
            </a:endParaRPr>
          </a:p>
          <a:p>
            <a:pPr marL="139680" indent="-133200">
              <a:lnSpc>
                <a:spcPct val="100000"/>
              </a:lnSpc>
              <a:spcBef>
                <a:spcPts val="499"/>
              </a:spcBef>
              <a:buClr>
                <a:srgbClr val="ffffff"/>
              </a:buClr>
              <a:buFont typeface="Calibri"/>
              <a:buChar char="•"/>
            </a:pPr>
            <a:r>
              <a:rPr b="0" lang="en" sz="900" spc="-1" strike="noStrike">
                <a:solidFill>
                  <a:srgbClr val="ffffff"/>
                </a:solidFill>
                <a:latin typeface="Calibri"/>
                <a:ea typeface="Calibri"/>
              </a:rPr>
              <a:t>Caffeine (cache)</a:t>
            </a:r>
            <a:endParaRPr b="0" lang="en-US" sz="900" spc="-1" strike="noStrike">
              <a:latin typeface="Arial"/>
            </a:endParaRPr>
          </a:p>
          <a:p>
            <a:pPr marL="139680" indent="-133200">
              <a:lnSpc>
                <a:spcPct val="100000"/>
              </a:lnSpc>
              <a:spcBef>
                <a:spcPts val="499"/>
              </a:spcBef>
              <a:buClr>
                <a:srgbClr val="ffffff"/>
              </a:buClr>
              <a:buFont typeface="Calibri"/>
              <a:buChar char="•"/>
            </a:pPr>
            <a:r>
              <a:rPr b="0" lang="en" sz="900" spc="-1" strike="noStrike">
                <a:solidFill>
                  <a:srgbClr val="ffffff"/>
                </a:solidFill>
                <a:latin typeface="Calibri"/>
                <a:ea typeface="Calibri"/>
              </a:rPr>
              <a:t>GitHub Actions</a:t>
            </a:r>
            <a:endParaRPr b="0" lang="en-US" sz="900" spc="-1" strike="noStrike">
              <a:latin typeface="Arial"/>
            </a:endParaRPr>
          </a:p>
        </p:txBody>
      </p:sp>
      <p:sp>
        <p:nvSpPr>
          <p:cNvPr id="250" name="Google Shape;295;p23"/>
          <p:cNvSpPr/>
          <p:nvPr/>
        </p:nvSpPr>
        <p:spPr>
          <a:xfrm>
            <a:off x="6261480" y="2846160"/>
            <a:ext cx="2187000" cy="7560"/>
          </a:xfrm>
          <a:prstGeom prst="rect">
            <a:avLst/>
          </a:prstGeom>
          <a:solidFill>
            <a:srgbClr val="4e3a3e"/>
          </a:solidFill>
          <a:ln w="12700">
            <a:solidFill>
              <a:srgbClr val="4e3a3e"/>
            </a:solidFill>
            <a:round/>
          </a:ln>
        </p:spPr>
        <p:style>
          <a:lnRef idx="0"/>
          <a:fillRef idx="0"/>
          <a:effectRef idx="0"/>
          <a:fontRef idx="minor"/>
        </p:style>
      </p:sp>
      <p:sp>
        <p:nvSpPr>
          <p:cNvPr id="251" name="Google Shape;296;p23"/>
          <p:cNvSpPr/>
          <p:nvPr/>
        </p:nvSpPr>
        <p:spPr>
          <a:xfrm>
            <a:off x="6261480" y="2935080"/>
            <a:ext cx="2187000" cy="1774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4caf7d"/>
                </a:solidFill>
                <a:latin typeface="Calibri"/>
                <a:ea typeface="Calibri"/>
              </a:rPr>
              <a:t>Kenapa</a:t>
            </a:r>
            <a:endParaRPr b="0" lang="en-US" sz="800" spc="-1" strike="noStrike">
              <a:latin typeface="Arial"/>
            </a:endParaRPr>
          </a:p>
        </p:txBody>
      </p:sp>
      <p:sp>
        <p:nvSpPr>
          <p:cNvPr id="252" name="Google Shape;297;p23"/>
          <p:cNvSpPr/>
          <p:nvPr/>
        </p:nvSpPr>
        <p:spPr>
          <a:xfrm>
            <a:off x="6261480" y="3127320"/>
            <a:ext cx="2187000" cy="102816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Docker Compose membuat lingkungan lokal identik dengan production, sehingga bug 'jalan di laptop saya' tidak terbawa ke tahap deployment.</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253" name="Google Shape;303;p24"/>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TECHNICAL DEPTH</a:t>
            </a:r>
            <a:endParaRPr b="0" lang="en-US" sz="800" spc="-1" strike="noStrike">
              <a:latin typeface="Arial"/>
            </a:endParaRPr>
          </a:p>
        </p:txBody>
      </p:sp>
      <p:sp>
        <p:nvSpPr>
          <p:cNvPr id="254" name="Google Shape;304;p24"/>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System Architecture</a:t>
            </a:r>
            <a:endParaRPr b="0" lang="en-US" sz="2300" spc="-1" strike="noStrike">
              <a:latin typeface="Arial"/>
            </a:endParaRPr>
          </a:p>
        </p:txBody>
      </p:sp>
      <p:sp>
        <p:nvSpPr>
          <p:cNvPr id="255" name="Google Shape;305;p24"/>
          <p:cNvSpPr/>
          <p:nvPr/>
        </p:nvSpPr>
        <p:spPr>
          <a:xfrm>
            <a:off x="1063080" y="1234440"/>
            <a:ext cx="6994440" cy="650880"/>
          </a:xfrm>
          <a:prstGeom prst="roundRect">
            <a:avLst>
              <a:gd name="adj" fmla="val 10526"/>
            </a:avLst>
          </a:prstGeom>
          <a:solidFill>
            <a:srgbClr val="2b1f22"/>
          </a:solidFill>
          <a:ln w="12700">
            <a:solidFill>
              <a:srgbClr val="2b1f22"/>
            </a:solidFill>
            <a:round/>
          </a:ln>
        </p:spPr>
        <p:style>
          <a:lnRef idx="0"/>
          <a:fillRef idx="0"/>
          <a:effectRef idx="0"/>
          <a:fontRef idx="minor"/>
        </p:style>
      </p:sp>
      <p:sp>
        <p:nvSpPr>
          <p:cNvPr id="256" name="Google Shape;306;p24"/>
          <p:cNvSpPr/>
          <p:nvPr/>
        </p:nvSpPr>
        <p:spPr>
          <a:xfrm>
            <a:off x="1268640" y="1498320"/>
            <a:ext cx="122760" cy="122760"/>
          </a:xfrm>
          <a:prstGeom prst="ellipse">
            <a:avLst/>
          </a:prstGeom>
          <a:solidFill>
            <a:srgbClr val="f5533d"/>
          </a:solidFill>
          <a:ln w="12700">
            <a:solidFill>
              <a:srgbClr val="f5533d"/>
            </a:solidFill>
            <a:round/>
          </a:ln>
        </p:spPr>
        <p:style>
          <a:lnRef idx="0"/>
          <a:fillRef idx="0"/>
          <a:effectRef idx="0"/>
          <a:fontRef idx="minor"/>
        </p:style>
      </p:sp>
      <p:sp>
        <p:nvSpPr>
          <p:cNvPr id="257" name="Google Shape;307;p24"/>
          <p:cNvSpPr/>
          <p:nvPr/>
        </p:nvSpPr>
        <p:spPr>
          <a:xfrm>
            <a:off x="1508760" y="1357920"/>
            <a:ext cx="294840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Client — React 19 + Vite</a:t>
            </a:r>
            <a:endParaRPr b="0" lang="en-US" sz="1100" spc="-1" strike="noStrike">
              <a:latin typeface="Arial"/>
            </a:endParaRPr>
          </a:p>
        </p:txBody>
      </p:sp>
      <p:sp>
        <p:nvSpPr>
          <p:cNvPr id="258" name="Google Shape;308;p24"/>
          <p:cNvSpPr/>
          <p:nvPr/>
        </p:nvSpPr>
        <p:spPr>
          <a:xfrm>
            <a:off x="1508760" y="1591200"/>
            <a:ext cx="6377400" cy="3423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noStrike">
                <a:solidFill>
                  <a:srgbClr val="c4b2b6"/>
                </a:solidFill>
                <a:latin typeface="Calibri"/>
                <a:ea typeface="Calibri"/>
              </a:rPr>
              <a:t>Katalog &amp; keranjang, halaman antrean dengan polling, admin panel dengan route guard</a:t>
            </a:r>
            <a:endParaRPr b="0" lang="en-US" sz="900" spc="-1" strike="noStrike">
              <a:latin typeface="Arial"/>
            </a:endParaRPr>
          </a:p>
        </p:txBody>
      </p:sp>
      <p:sp>
        <p:nvSpPr>
          <p:cNvPr id="259" name="Google Shape;309;p24"/>
          <p:cNvSpPr/>
          <p:nvPr/>
        </p:nvSpPr>
        <p:spPr>
          <a:xfrm>
            <a:off x="4539960" y="1927080"/>
            <a:ext cx="16560" cy="136440"/>
          </a:xfrm>
          <a:prstGeom prst="rect">
            <a:avLst/>
          </a:prstGeom>
          <a:solidFill>
            <a:srgbClr val="8a7278"/>
          </a:solidFill>
          <a:ln w="12700">
            <a:solidFill>
              <a:srgbClr val="8a7278"/>
            </a:solidFill>
            <a:round/>
          </a:ln>
        </p:spPr>
        <p:style>
          <a:lnRef idx="0"/>
          <a:fillRef idx="0"/>
          <a:effectRef idx="0"/>
          <a:fontRef idx="minor"/>
        </p:style>
      </p:sp>
      <p:sp>
        <p:nvSpPr>
          <p:cNvPr id="260" name="Google Shape;310;p24"/>
          <p:cNvSpPr/>
          <p:nvPr/>
        </p:nvSpPr>
        <p:spPr>
          <a:xfrm>
            <a:off x="1063080" y="2105280"/>
            <a:ext cx="6994440" cy="788040"/>
          </a:xfrm>
          <a:prstGeom prst="roundRect">
            <a:avLst>
              <a:gd name="adj" fmla="val 8696"/>
            </a:avLst>
          </a:prstGeom>
          <a:solidFill>
            <a:srgbClr val="3a2a2e"/>
          </a:solidFill>
          <a:ln w="12700">
            <a:solidFill>
              <a:srgbClr val="3a2a2e"/>
            </a:solidFill>
            <a:round/>
          </a:ln>
        </p:spPr>
        <p:style>
          <a:lnRef idx="0"/>
          <a:fillRef idx="0"/>
          <a:effectRef idx="0"/>
          <a:fontRef idx="minor"/>
        </p:style>
      </p:sp>
      <p:sp>
        <p:nvSpPr>
          <p:cNvPr id="261" name="Google Shape;311;p24"/>
          <p:cNvSpPr/>
          <p:nvPr/>
        </p:nvSpPr>
        <p:spPr>
          <a:xfrm>
            <a:off x="1268640" y="2437920"/>
            <a:ext cx="122760" cy="122760"/>
          </a:xfrm>
          <a:prstGeom prst="ellipse">
            <a:avLst/>
          </a:prstGeom>
          <a:solidFill>
            <a:srgbClr val="ffb84d"/>
          </a:solidFill>
          <a:ln w="12700">
            <a:solidFill>
              <a:srgbClr val="ffb84d"/>
            </a:solidFill>
            <a:round/>
          </a:ln>
        </p:spPr>
        <p:style>
          <a:lnRef idx="0"/>
          <a:fillRef idx="0"/>
          <a:effectRef idx="0"/>
          <a:fontRef idx="minor"/>
        </p:style>
      </p:sp>
      <p:sp>
        <p:nvSpPr>
          <p:cNvPr id="262" name="Google Shape;312;p24"/>
          <p:cNvSpPr/>
          <p:nvPr/>
        </p:nvSpPr>
        <p:spPr>
          <a:xfrm>
            <a:off x="1508760" y="2228760"/>
            <a:ext cx="294840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API Layer — Springboot</a:t>
            </a:r>
            <a:endParaRPr b="0" lang="en-US" sz="1100" spc="-1" strike="noStrike">
              <a:latin typeface="Arial"/>
            </a:endParaRPr>
          </a:p>
        </p:txBody>
      </p:sp>
      <p:sp>
        <p:nvSpPr>
          <p:cNvPr id="263" name="Google Shape;313;p24"/>
          <p:cNvSpPr/>
          <p:nvPr/>
        </p:nvSpPr>
        <p:spPr>
          <a:xfrm>
            <a:off x="1508760" y="2462040"/>
            <a:ext cx="6377400" cy="3423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noStrike">
                <a:solidFill>
                  <a:srgbClr val="e7e6e6"/>
                </a:solidFill>
                <a:latin typeface="Calibri"/>
                <a:ea typeface="Calibri"/>
              </a:rPr>
              <a:t>Spring Security Filter Chain → Security Annotation (@PreAuthorize) → Rate Limit Filter (Bucket4j)  ·  RestController → Request DTO (@Valid) → Service → Response DTO</a:t>
            </a:r>
            <a:endParaRPr b="0" lang="en-US" sz="900" spc="-1" strike="noStrike">
              <a:latin typeface="Arial"/>
            </a:endParaRPr>
          </a:p>
        </p:txBody>
      </p:sp>
      <p:sp>
        <p:nvSpPr>
          <p:cNvPr id="264" name="Google Shape;314;p24"/>
          <p:cNvSpPr/>
          <p:nvPr/>
        </p:nvSpPr>
        <p:spPr>
          <a:xfrm>
            <a:off x="4539960" y="2935080"/>
            <a:ext cx="16560" cy="136440"/>
          </a:xfrm>
          <a:prstGeom prst="rect">
            <a:avLst/>
          </a:prstGeom>
          <a:solidFill>
            <a:srgbClr val="8a7278"/>
          </a:solidFill>
          <a:ln w="12700">
            <a:solidFill>
              <a:srgbClr val="8a7278"/>
            </a:solidFill>
            <a:round/>
          </a:ln>
        </p:spPr>
        <p:style>
          <a:lnRef idx="0"/>
          <a:fillRef idx="0"/>
          <a:effectRef idx="0"/>
          <a:fontRef idx="minor"/>
        </p:style>
      </p:sp>
      <p:sp>
        <p:nvSpPr>
          <p:cNvPr id="265" name="Google Shape;315;p24"/>
          <p:cNvSpPr/>
          <p:nvPr/>
        </p:nvSpPr>
        <p:spPr>
          <a:xfrm>
            <a:off x="1063080" y="3113640"/>
            <a:ext cx="6994440" cy="650880"/>
          </a:xfrm>
          <a:prstGeom prst="roundRect">
            <a:avLst>
              <a:gd name="adj" fmla="val 10526"/>
            </a:avLst>
          </a:prstGeom>
          <a:solidFill>
            <a:srgbClr val="3a2a2e"/>
          </a:solidFill>
          <a:ln w="12700">
            <a:solidFill>
              <a:srgbClr val="3a2a2e"/>
            </a:solidFill>
            <a:round/>
          </a:ln>
        </p:spPr>
        <p:style>
          <a:lnRef idx="0"/>
          <a:fillRef idx="0"/>
          <a:effectRef idx="0"/>
          <a:fontRef idx="minor"/>
        </p:style>
      </p:sp>
      <p:sp>
        <p:nvSpPr>
          <p:cNvPr id="266" name="Google Shape;316;p24"/>
          <p:cNvSpPr/>
          <p:nvPr/>
        </p:nvSpPr>
        <p:spPr>
          <a:xfrm>
            <a:off x="1268640" y="3377520"/>
            <a:ext cx="122760" cy="122760"/>
          </a:xfrm>
          <a:prstGeom prst="ellipse">
            <a:avLst/>
          </a:prstGeom>
          <a:solidFill>
            <a:srgbClr val="ffb84d"/>
          </a:solidFill>
          <a:ln w="12700">
            <a:solidFill>
              <a:srgbClr val="ffb84d"/>
            </a:solidFill>
            <a:round/>
          </a:ln>
        </p:spPr>
        <p:style>
          <a:lnRef idx="0"/>
          <a:fillRef idx="0"/>
          <a:effectRef idx="0"/>
          <a:fontRef idx="minor"/>
        </p:style>
      </p:sp>
      <p:sp>
        <p:nvSpPr>
          <p:cNvPr id="267" name="Google Shape;317;p24"/>
          <p:cNvSpPr/>
          <p:nvPr/>
        </p:nvSpPr>
        <p:spPr>
          <a:xfrm>
            <a:off x="1508760" y="3237120"/>
            <a:ext cx="294840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Business Logic — Service Layer</a:t>
            </a:r>
            <a:endParaRPr b="0" lang="en-US" sz="1100" spc="-1" strike="noStrike">
              <a:latin typeface="Arial"/>
            </a:endParaRPr>
          </a:p>
        </p:txBody>
      </p:sp>
      <p:sp>
        <p:nvSpPr>
          <p:cNvPr id="268" name="Google Shape;318;p24"/>
          <p:cNvSpPr/>
          <p:nvPr/>
        </p:nvSpPr>
        <p:spPr>
          <a:xfrm>
            <a:off x="1508760" y="3470040"/>
            <a:ext cx="6377400" cy="3423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noStrike">
                <a:solidFill>
                  <a:srgbClr val="c4b2b6"/>
                </a:solidFill>
                <a:latin typeface="Calibri"/>
                <a:ea typeface="Calibri"/>
              </a:rPr>
              <a:t>OrderService  ·  StockService  ·  QueueService  ·  ReportService</a:t>
            </a:r>
            <a:endParaRPr b="0" lang="en-US" sz="900" spc="-1" strike="noStrike">
              <a:latin typeface="Arial"/>
            </a:endParaRPr>
          </a:p>
        </p:txBody>
      </p:sp>
      <p:sp>
        <p:nvSpPr>
          <p:cNvPr id="269" name="Google Shape;319;p24"/>
          <p:cNvSpPr/>
          <p:nvPr/>
        </p:nvSpPr>
        <p:spPr>
          <a:xfrm>
            <a:off x="4539960" y="3806280"/>
            <a:ext cx="16560" cy="136440"/>
          </a:xfrm>
          <a:prstGeom prst="rect">
            <a:avLst/>
          </a:prstGeom>
          <a:solidFill>
            <a:srgbClr val="8a7278"/>
          </a:solidFill>
          <a:ln w="12700">
            <a:solidFill>
              <a:srgbClr val="8a7278"/>
            </a:solidFill>
            <a:round/>
          </a:ln>
        </p:spPr>
        <p:style>
          <a:lnRef idx="0"/>
          <a:fillRef idx="0"/>
          <a:effectRef idx="0"/>
          <a:fontRef idx="minor"/>
        </p:style>
      </p:sp>
      <p:sp>
        <p:nvSpPr>
          <p:cNvPr id="270" name="Google Shape;320;p24"/>
          <p:cNvSpPr/>
          <p:nvPr/>
        </p:nvSpPr>
        <p:spPr>
          <a:xfrm>
            <a:off x="1063080" y="3984480"/>
            <a:ext cx="6994440" cy="650880"/>
          </a:xfrm>
          <a:prstGeom prst="roundRect">
            <a:avLst>
              <a:gd name="adj" fmla="val 10526"/>
            </a:avLst>
          </a:prstGeom>
          <a:solidFill>
            <a:srgbClr val="2b1f22"/>
          </a:solidFill>
          <a:ln w="12700">
            <a:solidFill>
              <a:srgbClr val="2b1f22"/>
            </a:solidFill>
            <a:round/>
          </a:ln>
        </p:spPr>
        <p:style>
          <a:lnRef idx="0"/>
          <a:fillRef idx="0"/>
          <a:effectRef idx="0"/>
          <a:fontRef idx="minor"/>
        </p:style>
      </p:sp>
      <p:sp>
        <p:nvSpPr>
          <p:cNvPr id="271" name="Google Shape;321;p24"/>
          <p:cNvSpPr/>
          <p:nvPr/>
        </p:nvSpPr>
        <p:spPr>
          <a:xfrm>
            <a:off x="1268640" y="4248360"/>
            <a:ext cx="122760" cy="122760"/>
          </a:xfrm>
          <a:prstGeom prst="ellipse">
            <a:avLst/>
          </a:prstGeom>
          <a:solidFill>
            <a:srgbClr val="4caf7d"/>
          </a:solidFill>
          <a:ln w="12700">
            <a:solidFill>
              <a:srgbClr val="4caf7d"/>
            </a:solidFill>
            <a:round/>
          </a:ln>
        </p:spPr>
        <p:style>
          <a:lnRef idx="0"/>
          <a:fillRef idx="0"/>
          <a:effectRef idx="0"/>
          <a:fontRef idx="minor"/>
        </p:style>
      </p:sp>
      <p:sp>
        <p:nvSpPr>
          <p:cNvPr id="272" name="Google Shape;322;p24"/>
          <p:cNvSpPr/>
          <p:nvPr/>
        </p:nvSpPr>
        <p:spPr>
          <a:xfrm>
            <a:off x="1508760" y="4107960"/>
            <a:ext cx="294840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Data — MySQL 8 + Caffein</a:t>
            </a:r>
            <a:endParaRPr b="0" lang="en-US" sz="1100" spc="-1" strike="noStrike">
              <a:latin typeface="Arial"/>
            </a:endParaRPr>
          </a:p>
        </p:txBody>
      </p:sp>
      <p:sp>
        <p:nvSpPr>
          <p:cNvPr id="273" name="Google Shape;323;p24"/>
          <p:cNvSpPr/>
          <p:nvPr/>
        </p:nvSpPr>
        <p:spPr>
          <a:xfrm>
            <a:off x="1508760" y="4341240"/>
            <a:ext cx="6377400" cy="3423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noStrike">
                <a:solidFill>
                  <a:srgbClr val="c4b2b6"/>
                </a:solidFill>
                <a:latin typeface="Calibri"/>
                <a:ea typeface="Calibri"/>
              </a:rPr>
              <a:t>Transaksi dengan lockForUpdate saat checkout  ·  Cache katalog &amp; laporan</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274" name="TextBox 302"/>
          <p:cNvSpPr/>
          <p:nvPr/>
        </p:nvSpPr>
        <p:spPr>
          <a:xfrm>
            <a:off x="3967920" y="288000"/>
            <a:ext cx="1189440" cy="13716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1" lang="en-US" sz="900" spc="-1" strike="noStrike">
                <a:solidFill>
                  <a:srgbClr val="ffb84d"/>
                </a:solidFill>
                <a:latin typeface="Calibri"/>
                <a:ea typeface="Arial"/>
              </a:rPr>
              <a:t>TECHNICAL DEPTH</a:t>
            </a:r>
            <a:endParaRPr b="0" lang="en-US" sz="900" spc="-1" strike="noStrike">
              <a:latin typeface="Arial"/>
            </a:endParaRPr>
          </a:p>
        </p:txBody>
      </p:sp>
      <p:sp>
        <p:nvSpPr>
          <p:cNvPr id="275" name="TextBox 303"/>
          <p:cNvSpPr/>
          <p:nvPr/>
        </p:nvSpPr>
        <p:spPr>
          <a:xfrm>
            <a:off x="1834200" y="493920"/>
            <a:ext cx="5456520" cy="30492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1" lang="en-US" sz="2000" spc="-1" strike="noStrike">
                <a:solidFill>
                  <a:srgbClr val="ffffff"/>
                </a:solidFill>
                <a:latin typeface="Calibri"/>
                <a:ea typeface="Arial"/>
              </a:rPr>
              <a:t>Arsitektur Deployment (Infrastruktur)</a:t>
            </a:r>
            <a:endParaRPr b="0" lang="en-US" sz="2000" spc="-1" strike="noStrike">
              <a:latin typeface="Arial"/>
            </a:endParaRPr>
          </a:p>
        </p:txBody>
      </p:sp>
      <p:sp>
        <p:nvSpPr>
          <p:cNvPr id="276" name="Rounded Rectangle 304"/>
          <p:cNvSpPr/>
          <p:nvPr/>
        </p:nvSpPr>
        <p:spPr>
          <a:xfrm>
            <a:off x="448200" y="1417320"/>
            <a:ext cx="1599480" cy="959400"/>
          </a:xfrm>
          <a:prstGeom prst="roundRect">
            <a:avLst>
              <a:gd name="adj" fmla="val 6000"/>
            </a:avLst>
          </a:prstGeom>
          <a:solidFill>
            <a:srgbClr val="241819"/>
          </a:solidFill>
          <a:ln w="12700">
            <a:solidFill>
              <a:srgbClr val="c4b2b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rIns="76320" tIns="50760" bIns="50760" anchor="t">
            <a:noAutofit/>
          </a:bodyPr>
          <a:p>
            <a:pPr algn="ctr">
              <a:lnSpc>
                <a:spcPct val="100000"/>
              </a:lnSpc>
              <a:buNone/>
            </a:pPr>
            <a:r>
              <a:rPr b="1" lang="en-US" sz="1100" spc="-1" strike="noStrike">
                <a:solidFill>
                  <a:srgbClr val="c4b2b6"/>
                </a:solidFill>
                <a:latin typeface="Calibri"/>
                <a:ea typeface="Arial"/>
              </a:rPr>
              <a:t>Pelanggan</a:t>
            </a:r>
            <a:endParaRPr b="0" lang="en-US" sz="1100" spc="-1" strike="noStrike">
              <a:latin typeface="Arial"/>
            </a:endParaRPr>
          </a:p>
          <a:p>
            <a:pPr algn="ctr">
              <a:lnSpc>
                <a:spcPct val="100000"/>
              </a:lnSpc>
              <a:buNone/>
            </a:pPr>
            <a:r>
              <a:rPr b="0" lang="en-US" sz="800" spc="-1" strike="noStrike">
                <a:solidFill>
                  <a:srgbClr val="c4b2b6"/>
                </a:solidFill>
                <a:latin typeface="Calibri"/>
                <a:ea typeface="Arial"/>
              </a:rPr>
              <a:t>Browser HP</a:t>
            </a:r>
            <a:endParaRPr b="0" lang="en-US" sz="800" spc="-1" strike="noStrike">
              <a:latin typeface="Arial"/>
            </a:endParaRPr>
          </a:p>
          <a:p>
            <a:pPr algn="ctr">
              <a:lnSpc>
                <a:spcPct val="100000"/>
              </a:lnSpc>
              <a:buNone/>
            </a:pPr>
            <a:r>
              <a:rPr b="0" lang="en-US" sz="800" spc="-1" strike="noStrike">
                <a:solidFill>
                  <a:srgbClr val="c4b2b6"/>
                </a:solidFill>
                <a:latin typeface="Calibri"/>
                <a:ea typeface="Arial"/>
              </a:rPr>
              <a:t>scan QR meja</a:t>
            </a:r>
            <a:endParaRPr b="0" lang="en-US" sz="800" spc="-1" strike="noStrike">
              <a:latin typeface="Arial"/>
            </a:endParaRPr>
          </a:p>
        </p:txBody>
      </p:sp>
      <p:sp>
        <p:nvSpPr>
          <p:cNvPr id="277" name="Rounded Rectangle 305"/>
          <p:cNvSpPr/>
          <p:nvPr/>
        </p:nvSpPr>
        <p:spPr>
          <a:xfrm>
            <a:off x="448200" y="2880360"/>
            <a:ext cx="1599480" cy="959400"/>
          </a:xfrm>
          <a:prstGeom prst="roundRect">
            <a:avLst>
              <a:gd name="adj" fmla="val 6000"/>
            </a:avLst>
          </a:prstGeom>
          <a:solidFill>
            <a:srgbClr val="241819"/>
          </a:solidFill>
          <a:ln w="12700">
            <a:solidFill>
              <a:srgbClr val="c4b2b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rIns="76320" tIns="50760" bIns="50760" anchor="t">
            <a:noAutofit/>
          </a:bodyPr>
          <a:p>
            <a:pPr algn="ctr">
              <a:lnSpc>
                <a:spcPct val="100000"/>
              </a:lnSpc>
              <a:buNone/>
            </a:pPr>
            <a:r>
              <a:rPr b="1" lang="en-US" sz="1100" spc="-1" strike="noStrike">
                <a:solidFill>
                  <a:srgbClr val="c4b2b6"/>
                </a:solidFill>
                <a:latin typeface="Calibri"/>
                <a:ea typeface="Arial"/>
              </a:rPr>
              <a:t>Admin / Staff</a:t>
            </a:r>
            <a:endParaRPr b="0" lang="en-US" sz="1100" spc="-1" strike="noStrike">
              <a:latin typeface="Arial"/>
            </a:endParaRPr>
          </a:p>
          <a:p>
            <a:pPr algn="ctr">
              <a:lnSpc>
                <a:spcPct val="100000"/>
              </a:lnSpc>
              <a:buNone/>
            </a:pPr>
            <a:r>
              <a:rPr b="0" lang="en-US" sz="800" spc="-1" strike="noStrike">
                <a:solidFill>
                  <a:srgbClr val="c4b2b6"/>
                </a:solidFill>
                <a:latin typeface="Calibri"/>
                <a:ea typeface="Arial"/>
              </a:rPr>
              <a:t>Browser desktop</a:t>
            </a:r>
            <a:endParaRPr b="0" lang="en-US" sz="800" spc="-1" strike="noStrike">
              <a:latin typeface="Arial"/>
            </a:endParaRPr>
          </a:p>
          <a:p>
            <a:pPr algn="ctr">
              <a:lnSpc>
                <a:spcPct val="100000"/>
              </a:lnSpc>
              <a:buNone/>
            </a:pPr>
            <a:r>
              <a:rPr b="0" lang="en-US" sz="800" spc="-1" strike="noStrike">
                <a:solidFill>
                  <a:srgbClr val="c4b2b6"/>
                </a:solidFill>
                <a:latin typeface="Calibri"/>
                <a:ea typeface="Arial"/>
              </a:rPr>
              <a:t>login JWT</a:t>
            </a:r>
            <a:endParaRPr b="0" lang="en-US" sz="800" spc="-1" strike="noStrike">
              <a:latin typeface="Arial"/>
            </a:endParaRPr>
          </a:p>
        </p:txBody>
      </p:sp>
      <p:sp>
        <p:nvSpPr>
          <p:cNvPr id="278" name="Rounded Rectangle 306"/>
          <p:cNvSpPr/>
          <p:nvPr/>
        </p:nvSpPr>
        <p:spPr>
          <a:xfrm>
            <a:off x="2514600" y="2103120"/>
            <a:ext cx="1828080" cy="1050840"/>
          </a:xfrm>
          <a:prstGeom prst="roundRect">
            <a:avLst>
              <a:gd name="adj" fmla="val 6000"/>
            </a:avLst>
          </a:prstGeom>
          <a:solidFill>
            <a:srgbClr val="3a221e"/>
          </a:solidFill>
          <a:ln w="12700">
            <a:solidFill>
              <a:srgbClr val="f553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rIns="76320" tIns="50760" bIns="50760" anchor="t">
            <a:noAutofit/>
          </a:bodyPr>
          <a:p>
            <a:pPr algn="ctr">
              <a:lnSpc>
                <a:spcPct val="100000"/>
              </a:lnSpc>
              <a:buNone/>
            </a:pPr>
            <a:r>
              <a:rPr b="1" lang="en-US" sz="1100" spc="-1" strike="noStrike">
                <a:solidFill>
                  <a:srgbClr val="f5533d"/>
                </a:solidFill>
                <a:latin typeface="Calibri"/>
                <a:ea typeface="Arial"/>
              </a:rPr>
              <a:t>Frontend</a:t>
            </a:r>
            <a:endParaRPr b="0" lang="en-US" sz="1100" spc="-1" strike="noStrike">
              <a:latin typeface="Arial"/>
            </a:endParaRPr>
          </a:p>
          <a:p>
            <a:pPr algn="ctr">
              <a:lnSpc>
                <a:spcPct val="100000"/>
              </a:lnSpc>
              <a:buNone/>
            </a:pPr>
            <a:r>
              <a:rPr b="0" lang="en-US" sz="800" spc="-1" strike="noStrike">
                <a:solidFill>
                  <a:srgbClr val="c4b2b6"/>
                </a:solidFill>
                <a:latin typeface="Calibri"/>
                <a:ea typeface="Arial"/>
              </a:rPr>
              <a:t>React + Vite</a:t>
            </a:r>
            <a:endParaRPr b="0" lang="en-US" sz="800" spc="-1" strike="noStrike">
              <a:latin typeface="Arial"/>
            </a:endParaRPr>
          </a:p>
          <a:p>
            <a:pPr algn="ctr">
              <a:lnSpc>
                <a:spcPct val="100000"/>
              </a:lnSpc>
              <a:buNone/>
            </a:pPr>
            <a:r>
              <a:rPr b="0" lang="en-US" sz="800" spc="-1" strike="noStrike">
                <a:solidFill>
                  <a:srgbClr val="c4b2b6"/>
                </a:solidFill>
                <a:latin typeface="Calibri"/>
                <a:ea typeface="Arial"/>
              </a:rPr>
              <a:t>Vercel</a:t>
            </a:r>
            <a:endParaRPr b="0" lang="en-US" sz="800" spc="-1" strike="noStrike">
              <a:latin typeface="Arial"/>
            </a:endParaRPr>
          </a:p>
        </p:txBody>
      </p:sp>
      <p:sp>
        <p:nvSpPr>
          <p:cNvPr id="279" name="Rounded Rectangle 307"/>
          <p:cNvSpPr/>
          <p:nvPr/>
        </p:nvSpPr>
        <p:spPr>
          <a:xfrm>
            <a:off x="4800600" y="2103120"/>
            <a:ext cx="2010960" cy="1050840"/>
          </a:xfrm>
          <a:prstGeom prst="roundRect">
            <a:avLst>
              <a:gd name="adj" fmla="val 6000"/>
            </a:avLst>
          </a:prstGeom>
          <a:solidFill>
            <a:srgbClr val="3a301e"/>
          </a:solidFill>
          <a:ln w="12700">
            <a:solidFill>
              <a:srgbClr val="ffb84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rIns="76320" tIns="50760" bIns="50760" anchor="t">
            <a:noAutofit/>
          </a:bodyPr>
          <a:p>
            <a:pPr algn="ctr">
              <a:lnSpc>
                <a:spcPct val="100000"/>
              </a:lnSpc>
              <a:buNone/>
            </a:pPr>
            <a:r>
              <a:rPr b="1" lang="en-US" sz="1100" spc="-1" strike="noStrike">
                <a:solidFill>
                  <a:srgbClr val="ffb84d"/>
                </a:solidFill>
                <a:latin typeface="Calibri"/>
                <a:ea typeface="Arial"/>
              </a:rPr>
              <a:t>Backend API</a:t>
            </a:r>
            <a:endParaRPr b="0" lang="en-US" sz="1100" spc="-1" strike="noStrike">
              <a:latin typeface="Arial"/>
            </a:endParaRPr>
          </a:p>
          <a:p>
            <a:pPr algn="ctr">
              <a:lnSpc>
                <a:spcPct val="100000"/>
              </a:lnSpc>
              <a:buNone/>
            </a:pPr>
            <a:r>
              <a:rPr b="0" lang="en-US" sz="800" spc="-1" strike="noStrike">
                <a:solidFill>
                  <a:srgbClr val="c4b2b6"/>
                </a:solidFill>
                <a:latin typeface="Calibri"/>
                <a:ea typeface="Arial"/>
              </a:rPr>
              <a:t>Spring Boot</a:t>
            </a:r>
            <a:endParaRPr b="0" lang="en-US" sz="800" spc="-1" strike="noStrike">
              <a:latin typeface="Arial"/>
            </a:endParaRPr>
          </a:p>
          <a:p>
            <a:pPr algn="ctr">
              <a:lnSpc>
                <a:spcPct val="100000"/>
              </a:lnSpc>
              <a:buNone/>
            </a:pPr>
            <a:r>
              <a:rPr b="0" lang="en-US" sz="800" spc="-1" strike="noStrike">
                <a:solidFill>
                  <a:srgbClr val="c4b2b6"/>
                </a:solidFill>
                <a:latin typeface="Calibri"/>
                <a:ea typeface="Arial"/>
              </a:rPr>
              <a:t>Railway (Docker)</a:t>
            </a:r>
            <a:endParaRPr b="0" lang="en-US" sz="800" spc="-1" strike="noStrike">
              <a:latin typeface="Arial"/>
            </a:endParaRPr>
          </a:p>
        </p:txBody>
      </p:sp>
      <p:sp>
        <p:nvSpPr>
          <p:cNvPr id="280" name="Rounded Rectangle 308"/>
          <p:cNvSpPr/>
          <p:nvPr/>
        </p:nvSpPr>
        <p:spPr>
          <a:xfrm>
            <a:off x="4800600" y="3703320"/>
            <a:ext cx="2010960" cy="913680"/>
          </a:xfrm>
          <a:prstGeom prst="roundRect">
            <a:avLst>
              <a:gd name="adj" fmla="val 6000"/>
            </a:avLst>
          </a:prstGeom>
          <a:solidFill>
            <a:srgbClr val="1e3a2c"/>
          </a:solidFill>
          <a:ln w="12700">
            <a:solidFill>
              <a:srgbClr val="4caf7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rIns="76320" tIns="50760" bIns="50760" anchor="t">
            <a:noAutofit/>
          </a:bodyPr>
          <a:p>
            <a:pPr algn="ctr">
              <a:lnSpc>
                <a:spcPct val="100000"/>
              </a:lnSpc>
              <a:buNone/>
            </a:pPr>
            <a:r>
              <a:rPr b="1" lang="en-US" sz="1100" spc="-1" strike="noStrike">
                <a:solidFill>
                  <a:srgbClr val="4caf7d"/>
                </a:solidFill>
                <a:latin typeface="Calibri"/>
                <a:ea typeface="Arial"/>
              </a:rPr>
              <a:t>MySQL 8</a:t>
            </a:r>
            <a:endParaRPr b="0" lang="en-US" sz="1100" spc="-1" strike="noStrike">
              <a:latin typeface="Arial"/>
            </a:endParaRPr>
          </a:p>
          <a:p>
            <a:pPr algn="ctr">
              <a:lnSpc>
                <a:spcPct val="100000"/>
              </a:lnSpc>
              <a:buNone/>
            </a:pPr>
            <a:r>
              <a:rPr b="0" lang="en-US" sz="800" spc="-1" strike="noStrike">
                <a:solidFill>
                  <a:srgbClr val="c4b2b6"/>
                </a:solidFill>
                <a:latin typeface="Calibri"/>
                <a:ea typeface="Arial"/>
              </a:rPr>
              <a:t>Data pesanan,</a:t>
            </a:r>
            <a:endParaRPr b="0" lang="en-US" sz="800" spc="-1" strike="noStrike">
              <a:latin typeface="Arial"/>
            </a:endParaRPr>
          </a:p>
          <a:p>
            <a:pPr algn="ctr">
              <a:lnSpc>
                <a:spcPct val="100000"/>
              </a:lnSpc>
              <a:buNone/>
            </a:pPr>
            <a:r>
              <a:rPr b="0" lang="en-US" sz="800" spc="-1" strike="noStrike">
                <a:solidFill>
                  <a:srgbClr val="c4b2b6"/>
                </a:solidFill>
                <a:latin typeface="Calibri"/>
                <a:ea typeface="Arial"/>
              </a:rPr>
              <a:t>produk, user</a:t>
            </a:r>
            <a:endParaRPr b="0" lang="en-US" sz="800" spc="-1" strike="noStrike">
              <a:latin typeface="Arial"/>
            </a:endParaRPr>
          </a:p>
        </p:txBody>
      </p:sp>
      <p:sp>
        <p:nvSpPr>
          <p:cNvPr id="281" name="Rounded Rectangle 309"/>
          <p:cNvSpPr/>
          <p:nvPr/>
        </p:nvSpPr>
        <p:spPr>
          <a:xfrm>
            <a:off x="7269480" y="2103120"/>
            <a:ext cx="1553760" cy="1050840"/>
          </a:xfrm>
          <a:prstGeom prst="roundRect">
            <a:avLst>
              <a:gd name="adj" fmla="val 6000"/>
            </a:avLst>
          </a:prstGeom>
          <a:solidFill>
            <a:srgbClr val="3a1e28"/>
          </a:solidFill>
          <a:ln w="12700">
            <a:solidFill>
              <a:srgbClr val="e06c8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rIns="76320" tIns="50760" bIns="50760" anchor="t">
            <a:noAutofit/>
          </a:bodyPr>
          <a:p>
            <a:pPr algn="ctr">
              <a:lnSpc>
                <a:spcPct val="100000"/>
              </a:lnSpc>
              <a:buNone/>
            </a:pPr>
            <a:r>
              <a:rPr b="1" lang="en-US" sz="1100" spc="-1" strike="noStrike">
                <a:solidFill>
                  <a:srgbClr val="e06c8a"/>
                </a:solidFill>
                <a:latin typeface="Calibri"/>
                <a:ea typeface="Arial"/>
              </a:rPr>
              <a:t>Midtrans</a:t>
            </a:r>
            <a:endParaRPr b="0" lang="en-US" sz="1100" spc="-1" strike="noStrike">
              <a:latin typeface="Arial"/>
            </a:endParaRPr>
          </a:p>
          <a:p>
            <a:pPr algn="ctr">
              <a:lnSpc>
                <a:spcPct val="100000"/>
              </a:lnSpc>
              <a:buNone/>
            </a:pPr>
            <a:r>
              <a:rPr b="0" lang="en-US" sz="800" spc="-1" strike="noStrike">
                <a:solidFill>
                  <a:srgbClr val="c4b2b6"/>
                </a:solidFill>
                <a:latin typeface="Calibri"/>
                <a:ea typeface="Arial"/>
              </a:rPr>
              <a:t>QRIS Sandbox</a:t>
            </a:r>
            <a:endParaRPr b="0" lang="en-US" sz="800" spc="-1" strike="noStrike">
              <a:latin typeface="Arial"/>
            </a:endParaRPr>
          </a:p>
          <a:p>
            <a:pPr algn="ctr">
              <a:lnSpc>
                <a:spcPct val="100000"/>
              </a:lnSpc>
              <a:buNone/>
            </a:pPr>
            <a:r>
              <a:rPr b="0" lang="en-US" sz="800" spc="-1" strike="noStrike">
                <a:solidFill>
                  <a:srgbClr val="c4b2b6"/>
                </a:solidFill>
                <a:latin typeface="Calibri"/>
                <a:ea typeface="Arial"/>
              </a:rPr>
              <a:t>Core API</a:t>
            </a:r>
            <a:endParaRPr b="0" lang="en-US" sz="800" spc="-1" strike="noStrike">
              <a:latin typeface="Arial"/>
            </a:endParaRPr>
          </a:p>
        </p:txBody>
      </p:sp>
      <p:sp>
        <p:nvSpPr>
          <p:cNvPr id="282" name="Connector 310"/>
          <p:cNvSpPr/>
          <p:nvPr/>
        </p:nvSpPr>
        <p:spPr>
          <a:xfrm>
            <a:off x="2048040" y="1897200"/>
            <a:ext cx="466560" cy="731520"/>
          </a:xfrm>
          <a:prstGeom prst="line">
            <a:avLst/>
          </a:prstGeom>
          <a:ln w="15875">
            <a:solidFill>
              <a:srgbClr val="8a7278"/>
            </a:solidFill>
            <a:round/>
          </a:ln>
        </p:spPr>
        <p:style>
          <a:lnRef idx="2">
            <a:schemeClr val="accent1"/>
          </a:lnRef>
          <a:fillRef idx="0">
            <a:schemeClr val="accent1"/>
          </a:fillRef>
          <a:effectRef idx="1">
            <a:schemeClr val="accent1"/>
          </a:effectRef>
          <a:fontRef idx="minor"/>
        </p:style>
      </p:sp>
      <p:sp>
        <p:nvSpPr>
          <p:cNvPr id="283" name="Isosceles Triangle 311"/>
          <p:cNvSpPr/>
          <p:nvPr/>
        </p:nvSpPr>
        <p:spPr>
          <a:xfrm rot="5400000">
            <a:off x="2387160" y="2565000"/>
            <a:ext cx="127440" cy="127440"/>
          </a:xfrm>
          <a:prstGeom prst="triangle">
            <a:avLst>
              <a:gd name="adj" fmla="val 50000"/>
            </a:avLst>
          </a:prstGeom>
          <a:solidFill>
            <a:srgbClr val="8a72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4" name="Connector 312"/>
          <p:cNvSpPr/>
          <p:nvPr/>
        </p:nvSpPr>
        <p:spPr>
          <a:xfrm flipV="1">
            <a:off x="2048040" y="2948760"/>
            <a:ext cx="466560" cy="411480"/>
          </a:xfrm>
          <a:prstGeom prst="line">
            <a:avLst/>
          </a:prstGeom>
          <a:ln w="15875">
            <a:solidFill>
              <a:srgbClr val="8a7278"/>
            </a:solidFill>
            <a:round/>
          </a:ln>
        </p:spPr>
        <p:style>
          <a:lnRef idx="2">
            <a:schemeClr val="accent1"/>
          </a:lnRef>
          <a:fillRef idx="0">
            <a:schemeClr val="accent1"/>
          </a:fillRef>
          <a:effectRef idx="1">
            <a:schemeClr val="accent1"/>
          </a:effectRef>
          <a:fontRef idx="minor"/>
        </p:style>
      </p:sp>
      <p:sp>
        <p:nvSpPr>
          <p:cNvPr id="285" name="Connector 313"/>
          <p:cNvSpPr/>
          <p:nvPr/>
        </p:nvSpPr>
        <p:spPr>
          <a:xfrm>
            <a:off x="4343400" y="2628720"/>
            <a:ext cx="457200" cy="360"/>
          </a:xfrm>
          <a:prstGeom prst="line">
            <a:avLst/>
          </a:prstGeom>
          <a:ln w="15875">
            <a:solidFill>
              <a:srgbClr val="8a7278"/>
            </a:solidFill>
            <a:round/>
          </a:ln>
        </p:spPr>
        <p:style>
          <a:lnRef idx="2">
            <a:schemeClr val="accent1"/>
          </a:lnRef>
          <a:fillRef idx="0">
            <a:schemeClr val="accent1"/>
          </a:fillRef>
          <a:effectRef idx="1">
            <a:schemeClr val="accent1"/>
          </a:effectRef>
          <a:fontRef idx="minor"/>
        </p:style>
      </p:sp>
      <p:sp>
        <p:nvSpPr>
          <p:cNvPr id="286" name="Isosceles Triangle 314"/>
          <p:cNvSpPr/>
          <p:nvPr/>
        </p:nvSpPr>
        <p:spPr>
          <a:xfrm rot="5400000">
            <a:off x="4673160" y="2565000"/>
            <a:ext cx="127440" cy="127440"/>
          </a:xfrm>
          <a:prstGeom prst="triangle">
            <a:avLst>
              <a:gd name="adj" fmla="val 50000"/>
            </a:avLst>
          </a:prstGeom>
          <a:solidFill>
            <a:srgbClr val="8a72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7" name="Connector 315"/>
          <p:cNvSpPr/>
          <p:nvPr/>
        </p:nvSpPr>
        <p:spPr>
          <a:xfrm>
            <a:off x="5806440" y="3154320"/>
            <a:ext cx="360" cy="549000"/>
          </a:xfrm>
          <a:prstGeom prst="line">
            <a:avLst/>
          </a:prstGeom>
          <a:ln w="15875">
            <a:solidFill>
              <a:srgbClr val="8a7278"/>
            </a:solidFill>
            <a:round/>
          </a:ln>
        </p:spPr>
        <p:style>
          <a:lnRef idx="2">
            <a:schemeClr val="accent1"/>
          </a:lnRef>
          <a:fillRef idx="0">
            <a:schemeClr val="accent1"/>
          </a:fillRef>
          <a:effectRef idx="1">
            <a:schemeClr val="accent1"/>
          </a:effectRef>
          <a:fontRef idx="minor"/>
        </p:style>
      </p:sp>
      <p:sp>
        <p:nvSpPr>
          <p:cNvPr id="288" name="Isosceles Triangle 316"/>
          <p:cNvSpPr/>
          <p:nvPr/>
        </p:nvSpPr>
        <p:spPr>
          <a:xfrm rot="10800000">
            <a:off x="5743080" y="3685680"/>
            <a:ext cx="127440" cy="127440"/>
          </a:xfrm>
          <a:prstGeom prst="triangle">
            <a:avLst>
              <a:gd name="adj" fmla="val 50000"/>
            </a:avLst>
          </a:prstGeom>
          <a:solidFill>
            <a:srgbClr val="8a72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9" name="Connector 317"/>
          <p:cNvSpPr/>
          <p:nvPr/>
        </p:nvSpPr>
        <p:spPr>
          <a:xfrm>
            <a:off x="6812280" y="2628720"/>
            <a:ext cx="457200" cy="360"/>
          </a:xfrm>
          <a:prstGeom prst="line">
            <a:avLst/>
          </a:prstGeom>
          <a:ln w="15875">
            <a:solidFill>
              <a:srgbClr val="8a7278"/>
            </a:solidFill>
            <a:round/>
          </a:ln>
        </p:spPr>
        <p:style>
          <a:lnRef idx="2">
            <a:schemeClr val="accent1"/>
          </a:lnRef>
          <a:fillRef idx="0">
            <a:schemeClr val="accent1"/>
          </a:fillRef>
          <a:effectRef idx="1">
            <a:schemeClr val="accent1"/>
          </a:effectRef>
          <a:fontRef idx="minor"/>
        </p:style>
      </p:sp>
      <p:sp>
        <p:nvSpPr>
          <p:cNvPr id="290" name="Isosceles Triangle 318"/>
          <p:cNvSpPr/>
          <p:nvPr/>
        </p:nvSpPr>
        <p:spPr>
          <a:xfrm rot="5400000">
            <a:off x="7142040" y="2565000"/>
            <a:ext cx="127440" cy="127440"/>
          </a:xfrm>
          <a:prstGeom prst="triangle">
            <a:avLst>
              <a:gd name="adj" fmla="val 50000"/>
            </a:avLst>
          </a:prstGeom>
          <a:solidFill>
            <a:srgbClr val="8a72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1" name="TextBox 319"/>
          <p:cNvSpPr/>
          <p:nvPr/>
        </p:nvSpPr>
        <p:spPr>
          <a:xfrm>
            <a:off x="448200" y="4709160"/>
            <a:ext cx="8228880" cy="15984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0" lang="en-US" sz="1050" spc="-1" strike="noStrike">
                <a:solidFill>
                  <a:srgbClr val="8a7278"/>
                </a:solidFill>
                <a:latin typeface="Calibri"/>
                <a:ea typeface="Arial"/>
              </a:rPr>
              <a:t>Frontend &amp; backend deploy terpisah, disambungkan lewat HTTPS + CORS — bukan docker network internal.</a:t>
            </a:r>
            <a:endParaRPr b="0" lang="en-US" sz="105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292" name="TextBox 302"/>
          <p:cNvSpPr/>
          <p:nvPr/>
        </p:nvSpPr>
        <p:spPr>
          <a:xfrm>
            <a:off x="3967920" y="288000"/>
            <a:ext cx="1189440" cy="13716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1" lang="en-US" sz="900" spc="-1" strike="noStrike">
                <a:solidFill>
                  <a:srgbClr val="ffb84d"/>
                </a:solidFill>
                <a:latin typeface="Calibri"/>
                <a:ea typeface="Arial"/>
              </a:rPr>
              <a:t>TECHNICAL DEPTH</a:t>
            </a:r>
            <a:endParaRPr b="0" lang="en-US" sz="900" spc="-1" strike="noStrike">
              <a:latin typeface="Arial"/>
            </a:endParaRPr>
          </a:p>
        </p:txBody>
      </p:sp>
      <p:sp>
        <p:nvSpPr>
          <p:cNvPr id="293" name="TextBox 303"/>
          <p:cNvSpPr/>
          <p:nvPr/>
        </p:nvSpPr>
        <p:spPr>
          <a:xfrm>
            <a:off x="3259080" y="493920"/>
            <a:ext cx="2606760" cy="30492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1" lang="en-US" sz="2000" spc="-1" strike="noStrike">
                <a:solidFill>
                  <a:srgbClr val="ffffff"/>
                </a:solidFill>
                <a:latin typeface="Calibri"/>
                <a:ea typeface="Arial"/>
              </a:rPr>
              <a:t>Use Case Diagram</a:t>
            </a:r>
            <a:endParaRPr b="0" lang="en-US" sz="2000" spc="-1" strike="noStrike">
              <a:latin typeface="Arial"/>
            </a:endParaRPr>
          </a:p>
        </p:txBody>
      </p:sp>
      <p:sp>
        <p:nvSpPr>
          <p:cNvPr id="294" name="Connector 304"/>
          <p:cNvSpPr/>
          <p:nvPr/>
        </p:nvSpPr>
        <p:spPr>
          <a:xfrm flipV="1">
            <a:off x="1554480" y="1517760"/>
            <a:ext cx="411480" cy="99684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295" name="Connector 305"/>
          <p:cNvSpPr/>
          <p:nvPr/>
        </p:nvSpPr>
        <p:spPr>
          <a:xfrm flipV="1">
            <a:off x="1554480" y="1517760"/>
            <a:ext cx="2422800" cy="99684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296" name="Connector 306"/>
          <p:cNvSpPr/>
          <p:nvPr/>
        </p:nvSpPr>
        <p:spPr>
          <a:xfrm flipV="1">
            <a:off x="1554480" y="2249280"/>
            <a:ext cx="411480" cy="26532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297" name="Connector 307"/>
          <p:cNvSpPr/>
          <p:nvPr/>
        </p:nvSpPr>
        <p:spPr>
          <a:xfrm flipV="1">
            <a:off x="1554480" y="2249280"/>
            <a:ext cx="411480" cy="117972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298" name="Connector 308"/>
          <p:cNvSpPr/>
          <p:nvPr/>
        </p:nvSpPr>
        <p:spPr>
          <a:xfrm flipV="1">
            <a:off x="1554480" y="2249280"/>
            <a:ext cx="2422800" cy="117972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299" name="Connector 309"/>
          <p:cNvSpPr/>
          <p:nvPr/>
        </p:nvSpPr>
        <p:spPr>
          <a:xfrm flipV="1">
            <a:off x="1554480" y="2980800"/>
            <a:ext cx="411480" cy="44820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300" name="Connector 310"/>
          <p:cNvSpPr/>
          <p:nvPr/>
        </p:nvSpPr>
        <p:spPr>
          <a:xfrm flipV="1">
            <a:off x="1554480" y="2980800"/>
            <a:ext cx="2422800" cy="136260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301" name="Connector 311"/>
          <p:cNvSpPr/>
          <p:nvPr/>
        </p:nvSpPr>
        <p:spPr>
          <a:xfrm flipV="1">
            <a:off x="1554480" y="3712320"/>
            <a:ext cx="411480" cy="63108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302" name="Connector 312"/>
          <p:cNvSpPr/>
          <p:nvPr/>
        </p:nvSpPr>
        <p:spPr>
          <a:xfrm flipV="1">
            <a:off x="1554480" y="3712320"/>
            <a:ext cx="2422800" cy="63108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303" name="Connector 313"/>
          <p:cNvSpPr/>
          <p:nvPr/>
        </p:nvSpPr>
        <p:spPr>
          <a:xfrm>
            <a:off x="1554480" y="4343400"/>
            <a:ext cx="411480" cy="10044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304" name="Connector 314"/>
          <p:cNvSpPr/>
          <p:nvPr/>
        </p:nvSpPr>
        <p:spPr>
          <a:xfrm>
            <a:off x="7452360" y="3346560"/>
            <a:ext cx="137160" cy="8244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305" name="Connector 315"/>
          <p:cNvSpPr/>
          <p:nvPr/>
        </p:nvSpPr>
        <p:spPr>
          <a:xfrm>
            <a:off x="5668920" y="1517760"/>
            <a:ext cx="320400" cy="1828800"/>
          </a:xfrm>
          <a:prstGeom prst="line">
            <a:avLst/>
          </a:prstGeom>
          <a:ln w="12700">
            <a:solidFill>
              <a:srgbClr val="4e3a3e"/>
            </a:solidFill>
            <a:round/>
          </a:ln>
        </p:spPr>
        <p:style>
          <a:lnRef idx="2">
            <a:schemeClr val="accent1"/>
          </a:lnRef>
          <a:fillRef idx="0">
            <a:schemeClr val="accent1"/>
          </a:fillRef>
          <a:effectRef idx="1">
            <a:schemeClr val="accent1"/>
          </a:effectRef>
          <a:fontRef idx="minor"/>
        </p:style>
      </p:sp>
      <p:sp>
        <p:nvSpPr>
          <p:cNvPr id="306" name="Rounded Rectangle 316"/>
          <p:cNvSpPr/>
          <p:nvPr/>
        </p:nvSpPr>
        <p:spPr>
          <a:xfrm>
            <a:off x="365760" y="2148840"/>
            <a:ext cx="1188000" cy="730800"/>
          </a:xfrm>
          <a:prstGeom prst="roundRect">
            <a:avLst>
              <a:gd name="adj" fmla="val 6000"/>
            </a:avLst>
          </a:prstGeom>
          <a:solidFill>
            <a:srgbClr val="2b1f22"/>
          </a:solidFill>
          <a:ln w="12700">
            <a:solidFill>
              <a:srgbClr val="8a72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1000" spc="-1" strike="noStrike">
                <a:solidFill>
                  <a:srgbClr val="c4b2b6"/>
                </a:solidFill>
                <a:latin typeface="Calibri"/>
                <a:ea typeface="Arial"/>
              </a:rPr>
              <a:t>Pelanggan</a:t>
            </a:r>
            <a:endParaRPr b="0" lang="en-US" sz="1000" spc="-1" strike="noStrike">
              <a:latin typeface="Arial"/>
            </a:endParaRPr>
          </a:p>
        </p:txBody>
      </p:sp>
      <p:sp>
        <p:nvSpPr>
          <p:cNvPr id="307" name="Rounded Rectangle 317"/>
          <p:cNvSpPr/>
          <p:nvPr/>
        </p:nvSpPr>
        <p:spPr>
          <a:xfrm>
            <a:off x="365760" y="3063240"/>
            <a:ext cx="1188000" cy="730800"/>
          </a:xfrm>
          <a:prstGeom prst="roundRect">
            <a:avLst>
              <a:gd name="adj" fmla="val 6000"/>
            </a:avLst>
          </a:prstGeom>
          <a:solidFill>
            <a:srgbClr val="2b1f22"/>
          </a:solidFill>
          <a:ln w="12700">
            <a:solidFill>
              <a:srgbClr val="8a72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1000" spc="-1" strike="noStrike">
                <a:solidFill>
                  <a:srgbClr val="c4b2b6"/>
                </a:solidFill>
                <a:latin typeface="Calibri"/>
                <a:ea typeface="Arial"/>
              </a:rPr>
              <a:t>Staff</a:t>
            </a:r>
            <a:endParaRPr b="0" lang="en-US" sz="1000" spc="-1" strike="noStrike">
              <a:latin typeface="Arial"/>
            </a:endParaRPr>
          </a:p>
        </p:txBody>
      </p:sp>
      <p:sp>
        <p:nvSpPr>
          <p:cNvPr id="308" name="Rounded Rectangle 318"/>
          <p:cNvSpPr/>
          <p:nvPr/>
        </p:nvSpPr>
        <p:spPr>
          <a:xfrm>
            <a:off x="365760" y="3977640"/>
            <a:ext cx="1188000" cy="730800"/>
          </a:xfrm>
          <a:prstGeom prst="roundRect">
            <a:avLst>
              <a:gd name="adj" fmla="val 6000"/>
            </a:avLst>
          </a:prstGeom>
          <a:solidFill>
            <a:srgbClr val="2b1f22"/>
          </a:solidFill>
          <a:ln w="12700">
            <a:solidFill>
              <a:srgbClr val="8a72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1000" spc="-1" strike="noStrike">
                <a:solidFill>
                  <a:srgbClr val="c4b2b6"/>
                </a:solidFill>
                <a:latin typeface="Calibri"/>
                <a:ea typeface="Arial"/>
              </a:rPr>
              <a:t>Admin</a:t>
            </a:r>
            <a:endParaRPr b="0" lang="en-US" sz="1000" spc="-1" strike="noStrike">
              <a:latin typeface="Arial"/>
            </a:endParaRPr>
          </a:p>
        </p:txBody>
      </p:sp>
      <p:sp>
        <p:nvSpPr>
          <p:cNvPr id="309" name="Rounded Rectangle 319"/>
          <p:cNvSpPr/>
          <p:nvPr/>
        </p:nvSpPr>
        <p:spPr>
          <a:xfrm>
            <a:off x="7589520" y="3063240"/>
            <a:ext cx="1188000" cy="730800"/>
          </a:xfrm>
          <a:prstGeom prst="roundRect">
            <a:avLst>
              <a:gd name="adj" fmla="val 6000"/>
            </a:avLst>
          </a:prstGeom>
          <a:solidFill>
            <a:srgbClr val="2b1f22"/>
          </a:solidFill>
          <a:ln w="12700">
            <a:solidFill>
              <a:srgbClr val="8a727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buNone/>
            </a:pPr>
            <a:r>
              <a:rPr b="1" lang="en-US" sz="1000" spc="-1" strike="noStrike">
                <a:solidFill>
                  <a:srgbClr val="c4b2b6"/>
                </a:solidFill>
                <a:latin typeface="Calibri"/>
                <a:ea typeface="Arial"/>
              </a:rPr>
              <a:t>Sistem</a:t>
            </a:r>
            <a:endParaRPr b="0" lang="en-US" sz="1000" spc="-1" strike="noStrike">
              <a:latin typeface="Arial"/>
            </a:endParaRPr>
          </a:p>
          <a:p>
            <a:pPr algn="ctr">
              <a:lnSpc>
                <a:spcPct val="100000"/>
              </a:lnSpc>
              <a:buNone/>
            </a:pPr>
            <a:r>
              <a:rPr b="1" lang="en-US" sz="1000" spc="-1" strike="noStrike">
                <a:solidFill>
                  <a:srgbClr val="c4b2b6"/>
                </a:solidFill>
                <a:latin typeface="Calibri"/>
                <a:ea typeface="Arial"/>
              </a:rPr>
              <a:t>Midtrans</a:t>
            </a:r>
            <a:endParaRPr b="0" lang="en-US" sz="1000" spc="-1" strike="noStrike">
              <a:latin typeface="Arial"/>
            </a:endParaRPr>
          </a:p>
        </p:txBody>
      </p:sp>
      <p:sp>
        <p:nvSpPr>
          <p:cNvPr id="310" name="Oval 320"/>
          <p:cNvSpPr/>
          <p:nvPr/>
        </p:nvSpPr>
        <p:spPr>
          <a:xfrm>
            <a:off x="1965960" y="1234440"/>
            <a:ext cx="1690920" cy="566280"/>
          </a:xfrm>
          <a:prstGeom prst="ellipse">
            <a:avLst/>
          </a:prstGeom>
          <a:solidFill>
            <a:srgbClr val="241819"/>
          </a:solidFill>
          <a:ln w="12700">
            <a:solidFill>
              <a:srgbClr val="f553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rIns="38160" tIns="45000" bIns="45000" anchor="ctr">
            <a:noAutofit/>
          </a:bodyPr>
          <a:p>
            <a:pPr algn="ctr">
              <a:lnSpc>
                <a:spcPct val="100000"/>
              </a:lnSpc>
              <a:buNone/>
            </a:pPr>
            <a:r>
              <a:rPr b="0" lang="en-US" sz="850" spc="-1" strike="noStrike">
                <a:solidFill>
                  <a:srgbClr val="ffffff"/>
                </a:solidFill>
                <a:latin typeface="Calibri"/>
                <a:ea typeface="Arial"/>
              </a:rPr>
              <a:t>Lihat Menu</a:t>
            </a:r>
            <a:endParaRPr b="0" lang="en-US" sz="850" spc="-1" strike="noStrike">
              <a:latin typeface="Arial"/>
            </a:endParaRPr>
          </a:p>
          <a:p>
            <a:pPr algn="ctr">
              <a:lnSpc>
                <a:spcPct val="100000"/>
              </a:lnSpc>
              <a:buNone/>
            </a:pPr>
            <a:r>
              <a:rPr b="0" lang="en-US" sz="850" spc="-1" strike="noStrike">
                <a:solidFill>
                  <a:srgbClr val="ffffff"/>
                </a:solidFill>
                <a:latin typeface="Calibri"/>
                <a:ea typeface="Arial"/>
              </a:rPr>
              <a:t>&amp; Kategori</a:t>
            </a:r>
            <a:endParaRPr b="0" lang="en-US" sz="850" spc="-1" strike="noStrike">
              <a:latin typeface="Arial"/>
            </a:endParaRPr>
          </a:p>
        </p:txBody>
      </p:sp>
      <p:sp>
        <p:nvSpPr>
          <p:cNvPr id="311" name="Oval 321"/>
          <p:cNvSpPr/>
          <p:nvPr/>
        </p:nvSpPr>
        <p:spPr>
          <a:xfrm>
            <a:off x="3977640" y="1234440"/>
            <a:ext cx="1690920" cy="566280"/>
          </a:xfrm>
          <a:prstGeom prst="ellipse">
            <a:avLst/>
          </a:prstGeom>
          <a:solidFill>
            <a:srgbClr val="241819"/>
          </a:solidFill>
          <a:ln w="12700">
            <a:solidFill>
              <a:srgbClr val="f553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rIns="38160" tIns="45000" bIns="45000" anchor="ctr">
            <a:noAutofit/>
          </a:bodyPr>
          <a:p>
            <a:pPr algn="ctr">
              <a:lnSpc>
                <a:spcPct val="100000"/>
              </a:lnSpc>
              <a:buNone/>
            </a:pPr>
            <a:r>
              <a:rPr b="0" lang="en-US" sz="850" spc="-1" strike="noStrike">
                <a:solidFill>
                  <a:srgbClr val="ffffff"/>
                </a:solidFill>
                <a:latin typeface="Calibri"/>
                <a:ea typeface="Arial"/>
              </a:rPr>
              <a:t>Checkout &amp;</a:t>
            </a:r>
            <a:endParaRPr b="0" lang="en-US" sz="850" spc="-1" strike="noStrike">
              <a:latin typeface="Arial"/>
            </a:endParaRPr>
          </a:p>
          <a:p>
            <a:pPr algn="ctr">
              <a:lnSpc>
                <a:spcPct val="100000"/>
              </a:lnSpc>
              <a:buNone/>
            </a:pPr>
            <a:r>
              <a:rPr b="0" lang="en-US" sz="850" spc="-1" strike="noStrike">
                <a:solidFill>
                  <a:srgbClr val="ffffff"/>
                </a:solidFill>
                <a:latin typeface="Calibri"/>
                <a:ea typeface="Arial"/>
              </a:rPr>
              <a:t>Bayar QRIS</a:t>
            </a:r>
            <a:endParaRPr b="0" lang="en-US" sz="850" spc="-1" strike="noStrike">
              <a:latin typeface="Arial"/>
            </a:endParaRPr>
          </a:p>
        </p:txBody>
      </p:sp>
      <p:sp>
        <p:nvSpPr>
          <p:cNvPr id="312" name="Oval 322"/>
          <p:cNvSpPr/>
          <p:nvPr/>
        </p:nvSpPr>
        <p:spPr>
          <a:xfrm>
            <a:off x="1965960" y="1965960"/>
            <a:ext cx="1690920" cy="566280"/>
          </a:xfrm>
          <a:prstGeom prst="ellipse">
            <a:avLst/>
          </a:prstGeom>
          <a:solidFill>
            <a:srgbClr val="241819"/>
          </a:solidFill>
          <a:ln w="12700">
            <a:solidFill>
              <a:srgbClr val="f553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rIns="38160" tIns="45000" bIns="45000" anchor="ctr">
            <a:noAutofit/>
          </a:bodyPr>
          <a:p>
            <a:pPr algn="ctr">
              <a:lnSpc>
                <a:spcPct val="100000"/>
              </a:lnSpc>
              <a:buNone/>
            </a:pPr>
            <a:r>
              <a:rPr b="0" lang="en-US" sz="850" spc="-1" strike="noStrike">
                <a:solidFill>
                  <a:srgbClr val="ffffff"/>
                </a:solidFill>
                <a:latin typeface="Calibri"/>
                <a:ea typeface="Arial"/>
              </a:rPr>
              <a:t>Lacak Status</a:t>
            </a:r>
            <a:endParaRPr b="0" lang="en-US" sz="850" spc="-1" strike="noStrike">
              <a:latin typeface="Arial"/>
            </a:endParaRPr>
          </a:p>
          <a:p>
            <a:pPr algn="ctr">
              <a:lnSpc>
                <a:spcPct val="100000"/>
              </a:lnSpc>
              <a:buNone/>
            </a:pPr>
            <a:r>
              <a:rPr b="0" lang="en-US" sz="850" spc="-1" strike="noStrike">
                <a:solidFill>
                  <a:srgbClr val="ffffff"/>
                </a:solidFill>
                <a:latin typeface="Calibri"/>
                <a:ea typeface="Arial"/>
              </a:rPr>
              <a:t>Pesanan</a:t>
            </a:r>
            <a:endParaRPr b="0" lang="en-US" sz="850" spc="-1" strike="noStrike">
              <a:latin typeface="Arial"/>
            </a:endParaRPr>
          </a:p>
        </p:txBody>
      </p:sp>
      <p:sp>
        <p:nvSpPr>
          <p:cNvPr id="313" name="Oval 323"/>
          <p:cNvSpPr/>
          <p:nvPr/>
        </p:nvSpPr>
        <p:spPr>
          <a:xfrm>
            <a:off x="3977640" y="1965960"/>
            <a:ext cx="1690920" cy="566280"/>
          </a:xfrm>
          <a:prstGeom prst="ellipse">
            <a:avLst/>
          </a:prstGeom>
          <a:solidFill>
            <a:srgbClr val="241819"/>
          </a:solidFill>
          <a:ln w="12700">
            <a:solidFill>
              <a:srgbClr val="ffb84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rIns="38160" tIns="45000" bIns="45000" anchor="ctr">
            <a:noAutofit/>
          </a:bodyPr>
          <a:p>
            <a:pPr algn="ctr">
              <a:lnSpc>
                <a:spcPct val="100000"/>
              </a:lnSpc>
              <a:buNone/>
            </a:pPr>
            <a:r>
              <a:rPr b="0" lang="en-US" sz="850" spc="-1" strike="noStrike">
                <a:solidFill>
                  <a:srgbClr val="ffffff"/>
                </a:solidFill>
                <a:latin typeface="Calibri"/>
                <a:ea typeface="Arial"/>
              </a:rPr>
              <a:t>Kelola Papan</a:t>
            </a:r>
            <a:endParaRPr b="0" lang="en-US" sz="850" spc="-1" strike="noStrike">
              <a:latin typeface="Arial"/>
            </a:endParaRPr>
          </a:p>
          <a:p>
            <a:pPr algn="ctr">
              <a:lnSpc>
                <a:spcPct val="100000"/>
              </a:lnSpc>
              <a:buNone/>
            </a:pPr>
            <a:r>
              <a:rPr b="0" lang="en-US" sz="850" spc="-1" strike="noStrike">
                <a:solidFill>
                  <a:srgbClr val="ffffff"/>
                </a:solidFill>
                <a:latin typeface="Calibri"/>
                <a:ea typeface="Arial"/>
              </a:rPr>
              <a:t>Dapur</a:t>
            </a:r>
            <a:endParaRPr b="0" lang="en-US" sz="850" spc="-1" strike="noStrike">
              <a:latin typeface="Arial"/>
            </a:endParaRPr>
          </a:p>
        </p:txBody>
      </p:sp>
      <p:sp>
        <p:nvSpPr>
          <p:cNvPr id="314" name="Oval 324"/>
          <p:cNvSpPr/>
          <p:nvPr/>
        </p:nvSpPr>
        <p:spPr>
          <a:xfrm>
            <a:off x="1965960" y="2697480"/>
            <a:ext cx="1690920" cy="566280"/>
          </a:xfrm>
          <a:prstGeom prst="ellipse">
            <a:avLst/>
          </a:prstGeom>
          <a:solidFill>
            <a:srgbClr val="241819"/>
          </a:solidFill>
          <a:ln w="12700">
            <a:solidFill>
              <a:srgbClr val="ffb84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rIns="38160" tIns="45000" bIns="45000" anchor="ctr">
            <a:noAutofit/>
          </a:bodyPr>
          <a:p>
            <a:pPr algn="ctr">
              <a:lnSpc>
                <a:spcPct val="100000"/>
              </a:lnSpc>
              <a:buNone/>
            </a:pPr>
            <a:r>
              <a:rPr b="0" lang="en-US" sz="850" spc="-1" strike="noStrike">
                <a:solidFill>
                  <a:srgbClr val="ffffff"/>
                </a:solidFill>
                <a:latin typeface="Calibri"/>
                <a:ea typeface="Arial"/>
              </a:rPr>
              <a:t>Konfirmasi</a:t>
            </a:r>
            <a:endParaRPr b="0" lang="en-US" sz="850" spc="-1" strike="noStrike">
              <a:latin typeface="Arial"/>
            </a:endParaRPr>
          </a:p>
          <a:p>
            <a:pPr algn="ctr">
              <a:lnSpc>
                <a:spcPct val="100000"/>
              </a:lnSpc>
              <a:buNone/>
            </a:pPr>
            <a:r>
              <a:rPr b="0" lang="en-US" sz="850" spc="-1" strike="noStrike">
                <a:solidFill>
                  <a:srgbClr val="ffffff"/>
                </a:solidFill>
                <a:latin typeface="Calibri"/>
                <a:ea typeface="Arial"/>
              </a:rPr>
              <a:t>Bayar Tunai</a:t>
            </a:r>
            <a:endParaRPr b="0" lang="en-US" sz="850" spc="-1" strike="noStrike">
              <a:latin typeface="Arial"/>
            </a:endParaRPr>
          </a:p>
        </p:txBody>
      </p:sp>
      <p:sp>
        <p:nvSpPr>
          <p:cNvPr id="315" name="Oval 325"/>
          <p:cNvSpPr/>
          <p:nvPr/>
        </p:nvSpPr>
        <p:spPr>
          <a:xfrm>
            <a:off x="3977640" y="2697480"/>
            <a:ext cx="1690920" cy="566280"/>
          </a:xfrm>
          <a:prstGeom prst="ellipse">
            <a:avLst/>
          </a:prstGeom>
          <a:solidFill>
            <a:srgbClr val="241819"/>
          </a:solidFill>
          <a:ln w="12700">
            <a:solidFill>
              <a:srgbClr val="4caf7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rIns="38160" tIns="45000" bIns="45000" anchor="ctr">
            <a:noAutofit/>
          </a:bodyPr>
          <a:p>
            <a:pPr algn="ctr">
              <a:lnSpc>
                <a:spcPct val="100000"/>
              </a:lnSpc>
              <a:buNone/>
            </a:pPr>
            <a:r>
              <a:rPr b="0" lang="en-US" sz="850" spc="-1" strike="noStrike">
                <a:solidFill>
                  <a:srgbClr val="ffffff"/>
                </a:solidFill>
                <a:latin typeface="Calibri"/>
                <a:ea typeface="Arial"/>
              </a:rPr>
              <a:t>Kelola Produk</a:t>
            </a:r>
            <a:endParaRPr b="0" lang="en-US" sz="850" spc="-1" strike="noStrike">
              <a:latin typeface="Arial"/>
            </a:endParaRPr>
          </a:p>
          <a:p>
            <a:pPr algn="ctr">
              <a:lnSpc>
                <a:spcPct val="100000"/>
              </a:lnSpc>
              <a:buNone/>
            </a:pPr>
            <a:r>
              <a:rPr b="0" lang="en-US" sz="850" spc="-1" strike="noStrike">
                <a:solidFill>
                  <a:srgbClr val="ffffff"/>
                </a:solidFill>
                <a:latin typeface="Calibri"/>
                <a:ea typeface="Arial"/>
              </a:rPr>
              <a:t>&amp; Stok</a:t>
            </a:r>
            <a:endParaRPr b="0" lang="en-US" sz="850" spc="-1" strike="noStrike">
              <a:latin typeface="Arial"/>
            </a:endParaRPr>
          </a:p>
        </p:txBody>
      </p:sp>
      <p:sp>
        <p:nvSpPr>
          <p:cNvPr id="316" name="Oval 326"/>
          <p:cNvSpPr/>
          <p:nvPr/>
        </p:nvSpPr>
        <p:spPr>
          <a:xfrm>
            <a:off x="1965960" y="3429000"/>
            <a:ext cx="1690920" cy="566280"/>
          </a:xfrm>
          <a:prstGeom prst="ellipse">
            <a:avLst/>
          </a:prstGeom>
          <a:solidFill>
            <a:srgbClr val="241819"/>
          </a:solidFill>
          <a:ln w="12700">
            <a:solidFill>
              <a:srgbClr val="4caf7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rIns="38160" tIns="45000" bIns="45000" anchor="ctr">
            <a:noAutofit/>
          </a:bodyPr>
          <a:p>
            <a:pPr algn="ctr">
              <a:lnSpc>
                <a:spcPct val="100000"/>
              </a:lnSpc>
              <a:buNone/>
            </a:pPr>
            <a:r>
              <a:rPr b="0" lang="en-US" sz="850" spc="-1" strike="noStrike">
                <a:solidFill>
                  <a:srgbClr val="ffffff"/>
                </a:solidFill>
                <a:latin typeface="Calibri"/>
                <a:ea typeface="Arial"/>
              </a:rPr>
              <a:t>Kelola</a:t>
            </a:r>
            <a:endParaRPr b="0" lang="en-US" sz="850" spc="-1" strike="noStrike">
              <a:latin typeface="Arial"/>
            </a:endParaRPr>
          </a:p>
          <a:p>
            <a:pPr algn="ctr">
              <a:lnSpc>
                <a:spcPct val="100000"/>
              </a:lnSpc>
              <a:buNone/>
            </a:pPr>
            <a:r>
              <a:rPr b="0" lang="en-US" sz="850" spc="-1" strike="noStrike">
                <a:solidFill>
                  <a:srgbClr val="ffffff"/>
                </a:solidFill>
                <a:latin typeface="Calibri"/>
                <a:ea typeface="Arial"/>
              </a:rPr>
              <a:t>Kategori</a:t>
            </a:r>
            <a:endParaRPr b="0" lang="en-US" sz="850" spc="-1" strike="noStrike">
              <a:latin typeface="Arial"/>
            </a:endParaRPr>
          </a:p>
        </p:txBody>
      </p:sp>
      <p:sp>
        <p:nvSpPr>
          <p:cNvPr id="317" name="Oval 327"/>
          <p:cNvSpPr/>
          <p:nvPr/>
        </p:nvSpPr>
        <p:spPr>
          <a:xfrm>
            <a:off x="3977640" y="3429000"/>
            <a:ext cx="1690920" cy="566280"/>
          </a:xfrm>
          <a:prstGeom prst="ellipse">
            <a:avLst/>
          </a:prstGeom>
          <a:solidFill>
            <a:srgbClr val="241819"/>
          </a:solidFill>
          <a:ln w="12700">
            <a:solidFill>
              <a:srgbClr val="4caf7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rIns="38160" tIns="45000" bIns="45000" anchor="ctr">
            <a:noAutofit/>
          </a:bodyPr>
          <a:p>
            <a:pPr algn="ctr">
              <a:lnSpc>
                <a:spcPct val="100000"/>
              </a:lnSpc>
              <a:buNone/>
            </a:pPr>
            <a:r>
              <a:rPr b="0" lang="en-US" sz="850" spc="-1" strike="noStrike">
                <a:solidFill>
                  <a:srgbClr val="ffffff"/>
                </a:solidFill>
                <a:latin typeface="Calibri"/>
                <a:ea typeface="Arial"/>
              </a:rPr>
              <a:t>Registrasi</a:t>
            </a:r>
            <a:endParaRPr b="0" lang="en-US" sz="850" spc="-1" strike="noStrike">
              <a:latin typeface="Arial"/>
            </a:endParaRPr>
          </a:p>
          <a:p>
            <a:pPr algn="ctr">
              <a:lnSpc>
                <a:spcPct val="100000"/>
              </a:lnSpc>
              <a:buNone/>
            </a:pPr>
            <a:r>
              <a:rPr b="0" lang="en-US" sz="850" spc="-1" strike="noStrike">
                <a:solidFill>
                  <a:srgbClr val="ffffff"/>
                </a:solidFill>
                <a:latin typeface="Calibri"/>
                <a:ea typeface="Arial"/>
              </a:rPr>
              <a:t>Staff</a:t>
            </a:r>
            <a:endParaRPr b="0" lang="en-US" sz="850" spc="-1" strike="noStrike">
              <a:latin typeface="Arial"/>
            </a:endParaRPr>
          </a:p>
        </p:txBody>
      </p:sp>
      <p:sp>
        <p:nvSpPr>
          <p:cNvPr id="318" name="Oval 328"/>
          <p:cNvSpPr/>
          <p:nvPr/>
        </p:nvSpPr>
        <p:spPr>
          <a:xfrm>
            <a:off x="1965960" y="4160520"/>
            <a:ext cx="1690920" cy="566280"/>
          </a:xfrm>
          <a:prstGeom prst="ellipse">
            <a:avLst/>
          </a:prstGeom>
          <a:solidFill>
            <a:srgbClr val="241819"/>
          </a:solidFill>
          <a:ln w="12700">
            <a:solidFill>
              <a:srgbClr val="4caf7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rIns="38160" tIns="45000" bIns="45000" anchor="ctr">
            <a:noAutofit/>
          </a:bodyPr>
          <a:p>
            <a:pPr algn="ctr">
              <a:lnSpc>
                <a:spcPct val="100000"/>
              </a:lnSpc>
              <a:buNone/>
            </a:pPr>
            <a:r>
              <a:rPr b="0" lang="en-US" sz="850" spc="-1" strike="noStrike">
                <a:solidFill>
                  <a:srgbClr val="ffffff"/>
                </a:solidFill>
                <a:latin typeface="Calibri"/>
                <a:ea typeface="Arial"/>
              </a:rPr>
              <a:t>Lihat Laporan</a:t>
            </a:r>
            <a:endParaRPr b="0" lang="en-US" sz="850" spc="-1" strike="noStrike">
              <a:latin typeface="Arial"/>
            </a:endParaRPr>
          </a:p>
          <a:p>
            <a:pPr algn="ctr">
              <a:lnSpc>
                <a:spcPct val="100000"/>
              </a:lnSpc>
              <a:buNone/>
            </a:pPr>
            <a:r>
              <a:rPr b="0" lang="en-US" sz="850" spc="-1" strike="noStrike">
                <a:solidFill>
                  <a:srgbClr val="ffffff"/>
                </a:solidFill>
                <a:latin typeface="Calibri"/>
                <a:ea typeface="Arial"/>
              </a:rPr>
              <a:t>Penjualan</a:t>
            </a:r>
            <a:endParaRPr b="0" lang="en-US" sz="850" spc="-1" strike="noStrike">
              <a:latin typeface="Arial"/>
            </a:endParaRPr>
          </a:p>
        </p:txBody>
      </p:sp>
      <p:sp>
        <p:nvSpPr>
          <p:cNvPr id="319" name="Oval 329"/>
          <p:cNvSpPr/>
          <p:nvPr/>
        </p:nvSpPr>
        <p:spPr>
          <a:xfrm>
            <a:off x="5989320" y="3063240"/>
            <a:ext cx="1462320" cy="566280"/>
          </a:xfrm>
          <a:prstGeom prst="ellipse">
            <a:avLst/>
          </a:prstGeom>
          <a:solidFill>
            <a:srgbClr val="241819"/>
          </a:solidFill>
          <a:ln w="12700">
            <a:solidFill>
              <a:srgbClr val="e06c8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38160" rIns="38160" tIns="45000" bIns="45000" anchor="ctr">
            <a:noAutofit/>
          </a:bodyPr>
          <a:p>
            <a:pPr algn="ctr">
              <a:lnSpc>
                <a:spcPct val="100000"/>
              </a:lnSpc>
              <a:buNone/>
            </a:pPr>
            <a:r>
              <a:rPr b="0" lang="en-US" sz="850" spc="-1" strike="noStrike">
                <a:solidFill>
                  <a:srgbClr val="ffffff"/>
                </a:solidFill>
                <a:latin typeface="Calibri"/>
                <a:ea typeface="Arial"/>
              </a:rPr>
              <a:t>Kirim Notifikasi</a:t>
            </a:r>
            <a:endParaRPr b="0" lang="en-US" sz="850" spc="-1" strike="noStrike">
              <a:latin typeface="Arial"/>
            </a:endParaRPr>
          </a:p>
          <a:p>
            <a:pPr algn="ctr">
              <a:lnSpc>
                <a:spcPct val="100000"/>
              </a:lnSpc>
              <a:buNone/>
            </a:pPr>
            <a:r>
              <a:rPr b="0" lang="en-US" sz="850" spc="-1" strike="noStrike">
                <a:solidFill>
                  <a:srgbClr val="ffffff"/>
                </a:solidFill>
                <a:latin typeface="Calibri"/>
                <a:ea typeface="Arial"/>
              </a:rPr>
              <a:t>Pembayaran</a:t>
            </a:r>
            <a:endParaRPr b="0" lang="en-US" sz="85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320" name="Google Shape;329;p25"/>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TECHNICAL DEPTH</a:t>
            </a:r>
            <a:endParaRPr b="0" lang="en-US" sz="800" spc="-1" strike="noStrike">
              <a:latin typeface="Arial"/>
            </a:endParaRPr>
          </a:p>
        </p:txBody>
      </p:sp>
      <p:sp>
        <p:nvSpPr>
          <p:cNvPr id="321" name="Google Shape;330;p25"/>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Database Design</a:t>
            </a:r>
            <a:endParaRPr b="0" lang="en-US" sz="2300" spc="-1" strike="noStrike">
              <a:latin typeface="Arial"/>
            </a:endParaRPr>
          </a:p>
        </p:txBody>
      </p:sp>
      <p:sp>
        <p:nvSpPr>
          <p:cNvPr id="322" name="Google Shape;331;p25"/>
          <p:cNvSpPr/>
          <p:nvPr/>
        </p:nvSpPr>
        <p:spPr>
          <a:xfrm>
            <a:off x="445680" y="1200240"/>
            <a:ext cx="4786200" cy="3085560"/>
          </a:xfrm>
          <a:prstGeom prst="roundRect">
            <a:avLst>
              <a:gd name="adj" fmla="val 2222"/>
            </a:avLst>
          </a:prstGeom>
          <a:solidFill>
            <a:srgbClr val="3a2a2e"/>
          </a:solidFill>
          <a:ln w="12700">
            <a:solidFill>
              <a:srgbClr val="3a2a2e"/>
            </a:solidFill>
            <a:round/>
          </a:ln>
        </p:spPr>
        <p:style>
          <a:lnRef idx="0"/>
          <a:fillRef idx="0"/>
          <a:effectRef idx="0"/>
          <a:fontRef idx="minor"/>
        </p:style>
      </p:sp>
      <p:sp>
        <p:nvSpPr>
          <p:cNvPr id="323" name="Google Shape;332;p25"/>
          <p:cNvSpPr/>
          <p:nvPr/>
        </p:nvSpPr>
        <p:spPr>
          <a:xfrm>
            <a:off x="5794920" y="1220760"/>
            <a:ext cx="2879640" cy="2394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200" spc="-1" strike="noStrike">
                <a:solidFill>
                  <a:srgbClr val="ffffff"/>
                </a:solidFill>
                <a:latin typeface="Calibri"/>
                <a:ea typeface="Calibri"/>
              </a:rPr>
              <a:t>10 tabel inti</a:t>
            </a:r>
            <a:endParaRPr b="0" lang="en-US" sz="1200" spc="-1" strike="noStrike">
              <a:latin typeface="Arial"/>
            </a:endParaRPr>
          </a:p>
        </p:txBody>
      </p:sp>
      <p:sp>
        <p:nvSpPr>
          <p:cNvPr id="324" name="Google Shape;333;p25"/>
          <p:cNvSpPr/>
          <p:nvPr/>
        </p:nvSpPr>
        <p:spPr>
          <a:xfrm>
            <a:off x="5794920" y="1508760"/>
            <a:ext cx="2879640" cy="1028160"/>
          </a:xfrm>
          <a:prstGeom prst="rect">
            <a:avLst/>
          </a:prstGeom>
          <a:noFill/>
          <a:ln w="0">
            <a:noFill/>
          </a:ln>
        </p:spPr>
        <p:style>
          <a:lnRef idx="0"/>
          <a:fillRef idx="0"/>
          <a:effectRef idx="0"/>
          <a:fontRef idx="minor"/>
        </p:style>
        <p:txBody>
          <a:bodyPr lIns="0" rIns="0" tIns="0" bIns="0" anchor="t">
            <a:noAutofit/>
          </a:bodyPr>
          <a:p>
            <a:pPr marL="139680" indent="-146160">
              <a:lnSpc>
                <a:spcPct val="100000"/>
              </a:lnSpc>
              <a:buClr>
                <a:srgbClr val="c4b2b6"/>
              </a:buClr>
              <a:buFont typeface="Calibri"/>
              <a:buChar char="•"/>
            </a:pPr>
            <a:r>
              <a:rPr b="0" lang="en" sz="900" spc="-1" strike="noStrike">
                <a:solidFill>
                  <a:srgbClr val="c4b2b6"/>
                </a:solidFill>
                <a:latin typeface="Calibri"/>
                <a:ea typeface="Calibri"/>
              </a:rPr>
              <a:t>users  ·  categories  ·  products</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product_variants</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orders  ·  order_items  ·  payments</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order_status_logs  ·  stock_movements</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store_settings</a:t>
            </a:r>
            <a:endParaRPr b="0" lang="en-US" sz="900" spc="-1" strike="noStrike">
              <a:latin typeface="Arial"/>
            </a:endParaRPr>
          </a:p>
        </p:txBody>
      </p:sp>
      <p:sp>
        <p:nvSpPr>
          <p:cNvPr id="325" name="Google Shape;334;p25"/>
          <p:cNvSpPr/>
          <p:nvPr/>
        </p:nvSpPr>
        <p:spPr>
          <a:xfrm>
            <a:off x="5794920" y="2709000"/>
            <a:ext cx="287964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200" spc="-1" strike="noStrike">
                <a:solidFill>
                  <a:srgbClr val="ffffff"/>
                </a:solidFill>
                <a:latin typeface="Calibri"/>
                <a:ea typeface="Calibri"/>
              </a:rPr>
              <a:t>Keputusan desain</a:t>
            </a:r>
            <a:endParaRPr b="0" lang="en-US" sz="1200" spc="-1" strike="noStrike">
              <a:latin typeface="Arial"/>
            </a:endParaRPr>
          </a:p>
        </p:txBody>
      </p:sp>
      <p:sp>
        <p:nvSpPr>
          <p:cNvPr id="326" name="Google Shape;335;p25"/>
          <p:cNvSpPr/>
          <p:nvPr/>
        </p:nvSpPr>
        <p:spPr>
          <a:xfrm>
            <a:off x="5794920" y="2983320"/>
            <a:ext cx="2879640" cy="1302480"/>
          </a:xfrm>
          <a:prstGeom prst="rect">
            <a:avLst/>
          </a:prstGeom>
          <a:noFill/>
          <a:ln w="0">
            <a:noFill/>
          </a:ln>
        </p:spPr>
        <p:style>
          <a:lnRef idx="0"/>
          <a:fillRef idx="0"/>
          <a:effectRef idx="0"/>
          <a:fontRef idx="minor"/>
        </p:style>
        <p:txBody>
          <a:bodyPr lIns="0" rIns="0" tIns="0" bIns="0" anchor="t">
            <a:noAutofit/>
          </a:bodyPr>
          <a:p>
            <a:pPr marL="139680" indent="-139680">
              <a:lnSpc>
                <a:spcPct val="100000"/>
              </a:lnSpc>
              <a:buClr>
                <a:srgbClr val="c4b2b6"/>
              </a:buClr>
              <a:buFont typeface="Calibri"/>
              <a:buChar char="•"/>
            </a:pPr>
            <a:r>
              <a:rPr b="0" lang="en" sz="800" spc="-1" strike="noStrike">
                <a:solidFill>
                  <a:srgbClr val="c4b2b6"/>
                </a:solidFill>
                <a:latin typeface="Calibri"/>
                <a:ea typeface="Calibri"/>
              </a:rPr>
              <a:t>order_items menyimpan nama &amp; harga sebagai snapshot — perubahan menu tidak mengubah riwayat transaksi</a:t>
            </a:r>
            <a:endParaRPr b="0" lang="en-US" sz="800" spc="-1" strike="noStrike">
              <a:latin typeface="Arial"/>
            </a:endParaRPr>
          </a:p>
          <a:p>
            <a:pPr marL="139680" indent="-139680">
              <a:lnSpc>
                <a:spcPct val="100000"/>
              </a:lnSpc>
              <a:spcBef>
                <a:spcPts val="499"/>
              </a:spcBef>
              <a:buClr>
                <a:srgbClr val="c4b2b6"/>
              </a:buClr>
              <a:buFont typeface="Calibri"/>
              <a:buChar char="•"/>
            </a:pPr>
            <a:r>
              <a:rPr b="0" lang="en" sz="800" spc="-1" strike="noStrike">
                <a:solidFill>
                  <a:srgbClr val="c4b2b6"/>
                </a:solidFill>
                <a:latin typeface="Calibri"/>
                <a:ea typeface="Calibri"/>
              </a:rPr>
              <a:t>stock_movements adalah ledger; kolom products.stock hanya cache yang bisa direkonsiliasi</a:t>
            </a:r>
            <a:endParaRPr b="0" lang="en-US" sz="800" spc="-1" strike="noStrike">
              <a:latin typeface="Arial"/>
            </a:endParaRPr>
          </a:p>
          <a:p>
            <a:pPr marL="139680" indent="-139680">
              <a:lnSpc>
                <a:spcPct val="100000"/>
              </a:lnSpc>
              <a:spcBef>
                <a:spcPts val="499"/>
              </a:spcBef>
              <a:buClr>
                <a:srgbClr val="c4b2b6"/>
              </a:buClr>
              <a:buFont typeface="Calibri"/>
              <a:buChar char="•"/>
            </a:pPr>
            <a:r>
              <a:rPr b="0" lang="en" sz="800" spc="-1" strike="noStrike">
                <a:solidFill>
                  <a:srgbClr val="c4b2b6"/>
                </a:solidFill>
                <a:latin typeface="Calibri"/>
                <a:ea typeface="Calibri"/>
              </a:rPr>
              <a:t>Unique index (business_date, queue_number) menjamin nomor antrean tidak pernah ganda</a:t>
            </a:r>
            <a:endParaRPr b="0" lang="en-US" sz="800" spc="-1" strike="noStrike">
              <a:latin typeface="Arial"/>
            </a:endParaRPr>
          </a:p>
        </p:txBody>
      </p:sp>
      <p:pic>
        <p:nvPicPr>
          <p:cNvPr id="327" name="Google Shape;336;p25" descr=""/>
          <p:cNvPicPr/>
          <p:nvPr/>
        </p:nvPicPr>
        <p:blipFill>
          <a:blip r:embed="rId1"/>
          <a:stretch/>
        </p:blipFill>
        <p:spPr>
          <a:xfrm>
            <a:off x="445680" y="1022400"/>
            <a:ext cx="4786200" cy="384768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328" name="Google Shape;342;p26"/>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TECHNICAL DEPTH</a:t>
            </a:r>
            <a:endParaRPr b="0" lang="en-US" sz="800" spc="-1" strike="noStrike">
              <a:latin typeface="Arial"/>
            </a:endParaRPr>
          </a:p>
        </p:txBody>
      </p:sp>
      <p:sp>
        <p:nvSpPr>
          <p:cNvPr id="329" name="Google Shape;343;p26"/>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API Design &amp; Best Practices</a:t>
            </a:r>
            <a:endParaRPr b="0" lang="en-US" sz="2300" spc="-1" strike="noStrike">
              <a:latin typeface="Arial"/>
            </a:endParaRPr>
          </a:p>
        </p:txBody>
      </p:sp>
      <p:sp>
        <p:nvSpPr>
          <p:cNvPr id="330" name="Google Shape;344;p26"/>
          <p:cNvSpPr/>
          <p:nvPr/>
        </p:nvSpPr>
        <p:spPr>
          <a:xfrm>
            <a:off x="445680" y="1200240"/>
            <a:ext cx="4388400" cy="3085560"/>
          </a:xfrm>
          <a:prstGeom prst="roundRect">
            <a:avLst>
              <a:gd name="adj" fmla="val 2222"/>
            </a:avLst>
          </a:prstGeom>
          <a:solidFill>
            <a:srgbClr val="2b1f22"/>
          </a:solidFill>
          <a:ln w="12700">
            <a:solidFill>
              <a:srgbClr val="2b1f22"/>
            </a:solidFill>
            <a:round/>
          </a:ln>
        </p:spPr>
        <p:style>
          <a:lnRef idx="0"/>
          <a:fillRef idx="0"/>
          <a:effectRef idx="0"/>
          <a:fontRef idx="minor"/>
        </p:style>
      </p:sp>
      <p:sp>
        <p:nvSpPr>
          <p:cNvPr id="331" name="Google Shape;345;p26"/>
          <p:cNvSpPr/>
          <p:nvPr/>
        </p:nvSpPr>
        <p:spPr>
          <a:xfrm>
            <a:off x="665280" y="1357920"/>
            <a:ext cx="397692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200" spc="-1" strike="noStrike">
                <a:solidFill>
                  <a:srgbClr val="ffb84d"/>
                </a:solidFill>
                <a:latin typeface="Calibri"/>
                <a:ea typeface="Calibri"/>
              </a:rPr>
              <a:t>Struktur RESTful</a:t>
            </a:r>
            <a:endParaRPr b="0" lang="en-US" sz="1200" spc="-1" strike="noStrike">
              <a:latin typeface="Arial"/>
            </a:endParaRPr>
          </a:p>
        </p:txBody>
      </p:sp>
      <p:sp>
        <p:nvSpPr>
          <p:cNvPr id="332" name="Google Shape;346;p26"/>
          <p:cNvSpPr/>
          <p:nvPr/>
        </p:nvSpPr>
        <p:spPr>
          <a:xfrm>
            <a:off x="665280" y="1680120"/>
            <a:ext cx="58212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4caf7d"/>
                </a:solidFill>
                <a:latin typeface="Courier New"/>
                <a:ea typeface="Courier New"/>
              </a:rPr>
              <a:t>GET</a:t>
            </a:r>
            <a:endParaRPr b="0" lang="en-US" sz="800" spc="-1" strike="noStrike">
              <a:latin typeface="Arial"/>
            </a:endParaRPr>
          </a:p>
        </p:txBody>
      </p:sp>
      <p:sp>
        <p:nvSpPr>
          <p:cNvPr id="333" name="Google Shape;347;p26"/>
          <p:cNvSpPr/>
          <p:nvPr/>
        </p:nvSpPr>
        <p:spPr>
          <a:xfrm>
            <a:off x="1268640" y="1680120"/>
            <a:ext cx="3359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ourier New"/>
                <a:ea typeface="Courier New"/>
              </a:rPr>
              <a:t>/api/v1/products?search=&amp;page=</a:t>
            </a:r>
            <a:endParaRPr b="0" lang="en-US" sz="800" spc="-1" strike="noStrike">
              <a:latin typeface="Arial"/>
            </a:endParaRPr>
          </a:p>
        </p:txBody>
      </p:sp>
      <p:sp>
        <p:nvSpPr>
          <p:cNvPr id="334" name="Google Shape;348;p26"/>
          <p:cNvSpPr/>
          <p:nvPr/>
        </p:nvSpPr>
        <p:spPr>
          <a:xfrm>
            <a:off x="665280" y="1940760"/>
            <a:ext cx="58212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ourier New"/>
                <a:ea typeface="Courier New"/>
              </a:rPr>
              <a:t>POST</a:t>
            </a:r>
            <a:endParaRPr b="0" lang="en-US" sz="800" spc="-1" strike="noStrike">
              <a:latin typeface="Arial"/>
            </a:endParaRPr>
          </a:p>
        </p:txBody>
      </p:sp>
      <p:sp>
        <p:nvSpPr>
          <p:cNvPr id="335" name="Google Shape;349;p26"/>
          <p:cNvSpPr/>
          <p:nvPr/>
        </p:nvSpPr>
        <p:spPr>
          <a:xfrm>
            <a:off x="1268640" y="1940760"/>
            <a:ext cx="3359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ourier New"/>
                <a:ea typeface="Courier New"/>
              </a:rPr>
              <a:t>/api/v1/orders</a:t>
            </a:r>
            <a:endParaRPr b="0" lang="en-US" sz="800" spc="-1" strike="noStrike">
              <a:latin typeface="Arial"/>
            </a:endParaRPr>
          </a:p>
        </p:txBody>
      </p:sp>
      <p:sp>
        <p:nvSpPr>
          <p:cNvPr id="336" name="Google Shape;350;p26"/>
          <p:cNvSpPr/>
          <p:nvPr/>
        </p:nvSpPr>
        <p:spPr>
          <a:xfrm>
            <a:off x="665280" y="2201400"/>
            <a:ext cx="58212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4caf7d"/>
                </a:solidFill>
                <a:latin typeface="Courier New"/>
                <a:ea typeface="Courier New"/>
              </a:rPr>
              <a:t>GET</a:t>
            </a:r>
            <a:endParaRPr b="0" lang="en-US" sz="800" spc="-1" strike="noStrike">
              <a:latin typeface="Arial"/>
            </a:endParaRPr>
          </a:p>
        </p:txBody>
      </p:sp>
      <p:sp>
        <p:nvSpPr>
          <p:cNvPr id="337" name="Google Shape;351;p26"/>
          <p:cNvSpPr/>
          <p:nvPr/>
        </p:nvSpPr>
        <p:spPr>
          <a:xfrm>
            <a:off x="1268640" y="2201400"/>
            <a:ext cx="3359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ourier New"/>
                <a:ea typeface="Courier New"/>
              </a:rPr>
              <a:t>/api/v1/orders/{number}/status</a:t>
            </a:r>
            <a:endParaRPr b="0" lang="en-US" sz="800" spc="-1" strike="noStrike">
              <a:latin typeface="Arial"/>
            </a:endParaRPr>
          </a:p>
        </p:txBody>
      </p:sp>
      <p:sp>
        <p:nvSpPr>
          <p:cNvPr id="338" name="Google Shape;352;p26"/>
          <p:cNvSpPr/>
          <p:nvPr/>
        </p:nvSpPr>
        <p:spPr>
          <a:xfrm>
            <a:off x="665280" y="2462040"/>
            <a:ext cx="58212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5533d"/>
                </a:solidFill>
                <a:latin typeface="Courier New"/>
                <a:ea typeface="Courier New"/>
              </a:rPr>
              <a:t>PATCH</a:t>
            </a:r>
            <a:endParaRPr b="0" lang="en-US" sz="800" spc="-1" strike="noStrike">
              <a:latin typeface="Arial"/>
            </a:endParaRPr>
          </a:p>
        </p:txBody>
      </p:sp>
      <p:sp>
        <p:nvSpPr>
          <p:cNvPr id="339" name="Google Shape;353;p26"/>
          <p:cNvSpPr/>
          <p:nvPr/>
        </p:nvSpPr>
        <p:spPr>
          <a:xfrm>
            <a:off x="1268640" y="2462040"/>
            <a:ext cx="3359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ourier New"/>
                <a:ea typeface="Courier New"/>
              </a:rPr>
              <a:t>/api/v1/orders/{number}/cancel</a:t>
            </a:r>
            <a:endParaRPr b="0" lang="en-US" sz="800" spc="-1" strike="noStrike">
              <a:latin typeface="Arial"/>
            </a:endParaRPr>
          </a:p>
        </p:txBody>
      </p:sp>
      <p:sp>
        <p:nvSpPr>
          <p:cNvPr id="340" name="Google Shape;354;p26"/>
          <p:cNvSpPr/>
          <p:nvPr/>
        </p:nvSpPr>
        <p:spPr>
          <a:xfrm>
            <a:off x="665280" y="2722680"/>
            <a:ext cx="58212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4caf7d"/>
                </a:solidFill>
                <a:latin typeface="Courier New"/>
                <a:ea typeface="Courier New"/>
              </a:rPr>
              <a:t>GET</a:t>
            </a:r>
            <a:endParaRPr b="0" lang="en-US" sz="800" spc="-1" strike="noStrike">
              <a:latin typeface="Arial"/>
            </a:endParaRPr>
          </a:p>
        </p:txBody>
      </p:sp>
      <p:sp>
        <p:nvSpPr>
          <p:cNvPr id="341" name="Google Shape;355;p26"/>
          <p:cNvSpPr/>
          <p:nvPr/>
        </p:nvSpPr>
        <p:spPr>
          <a:xfrm>
            <a:off x="1268640" y="2722680"/>
            <a:ext cx="3359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ourier New"/>
                <a:ea typeface="Courier New"/>
              </a:rPr>
              <a:t>/api/v1/admin/orders/board</a:t>
            </a:r>
            <a:endParaRPr b="0" lang="en-US" sz="800" spc="-1" strike="noStrike">
              <a:latin typeface="Arial"/>
            </a:endParaRPr>
          </a:p>
        </p:txBody>
      </p:sp>
      <p:sp>
        <p:nvSpPr>
          <p:cNvPr id="342" name="Google Shape;356;p26"/>
          <p:cNvSpPr/>
          <p:nvPr/>
        </p:nvSpPr>
        <p:spPr>
          <a:xfrm>
            <a:off x="665280" y="2983320"/>
            <a:ext cx="58212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4caf7d"/>
                </a:solidFill>
                <a:latin typeface="Courier New"/>
                <a:ea typeface="Courier New"/>
              </a:rPr>
              <a:t>GET</a:t>
            </a:r>
            <a:endParaRPr b="0" lang="en-US" sz="800" spc="-1" strike="noStrike">
              <a:latin typeface="Arial"/>
            </a:endParaRPr>
          </a:p>
        </p:txBody>
      </p:sp>
      <p:sp>
        <p:nvSpPr>
          <p:cNvPr id="343" name="Google Shape;357;p26"/>
          <p:cNvSpPr/>
          <p:nvPr/>
        </p:nvSpPr>
        <p:spPr>
          <a:xfrm>
            <a:off x="1268640" y="2983320"/>
            <a:ext cx="3359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c4b2b6"/>
                </a:solidFill>
                <a:latin typeface="Courier New"/>
                <a:ea typeface="Courier New"/>
              </a:rPr>
              <a:t>/api/v1/admin/reports/low-stock</a:t>
            </a:r>
            <a:endParaRPr b="0" lang="en-US" sz="800" spc="-1" strike="noStrike">
              <a:latin typeface="Arial"/>
            </a:endParaRPr>
          </a:p>
        </p:txBody>
      </p:sp>
      <p:sp>
        <p:nvSpPr>
          <p:cNvPr id="344" name="Google Shape;358;p26"/>
          <p:cNvSpPr/>
          <p:nvPr/>
        </p:nvSpPr>
        <p:spPr>
          <a:xfrm>
            <a:off x="665280" y="3394800"/>
            <a:ext cx="3976920" cy="61668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i="1" lang="en" sz="900" spc="-1" strike="noStrike">
                <a:solidFill>
                  <a:srgbClr val="8a7278"/>
                </a:solidFill>
                <a:latin typeface="Calibri"/>
                <a:ea typeface="Calibri"/>
              </a:rPr>
              <a:t>Harga tidak pernah diterima dari request — payload hanya berisi product_id, quantity, dan variant_ids. Seluruh nilai dihitung ulang di server.</a:t>
            </a:r>
            <a:endParaRPr b="0" lang="en-US" sz="900" spc="-1" strike="noStrike">
              <a:latin typeface="Arial"/>
            </a:endParaRPr>
          </a:p>
        </p:txBody>
      </p:sp>
      <p:sp>
        <p:nvSpPr>
          <p:cNvPr id="345" name="Google Shape;359;p26"/>
          <p:cNvSpPr/>
          <p:nvPr/>
        </p:nvSpPr>
        <p:spPr>
          <a:xfrm>
            <a:off x="5109120" y="1200240"/>
            <a:ext cx="3565440" cy="1473840"/>
          </a:xfrm>
          <a:prstGeom prst="roundRect">
            <a:avLst>
              <a:gd name="adj" fmla="val 4651"/>
            </a:avLst>
          </a:prstGeom>
          <a:solidFill>
            <a:srgbClr val="3a2a2e"/>
          </a:solidFill>
          <a:ln w="12700">
            <a:solidFill>
              <a:srgbClr val="3a2a2e"/>
            </a:solidFill>
            <a:round/>
          </a:ln>
        </p:spPr>
        <p:style>
          <a:lnRef idx="0"/>
          <a:fillRef idx="0"/>
          <a:effectRef idx="0"/>
          <a:fontRef idx="minor"/>
        </p:style>
      </p:sp>
      <p:sp>
        <p:nvSpPr>
          <p:cNvPr id="346" name="Google Shape;360;p26"/>
          <p:cNvSpPr/>
          <p:nvPr/>
        </p:nvSpPr>
        <p:spPr>
          <a:xfrm>
            <a:off x="5315040" y="1337400"/>
            <a:ext cx="315396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5533d"/>
                </a:solidFill>
                <a:latin typeface="Calibri"/>
                <a:ea typeface="Calibri"/>
              </a:rPr>
              <a:t>HTTP Status Code</a:t>
            </a:r>
            <a:endParaRPr b="0" lang="en-US" sz="1100" spc="-1" strike="noStrike">
              <a:latin typeface="Arial"/>
            </a:endParaRPr>
          </a:p>
        </p:txBody>
      </p:sp>
      <p:sp>
        <p:nvSpPr>
          <p:cNvPr id="347" name="Google Shape;361;p26"/>
          <p:cNvSpPr/>
          <p:nvPr/>
        </p:nvSpPr>
        <p:spPr>
          <a:xfrm>
            <a:off x="5315040" y="161172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b84d"/>
                </a:solidFill>
                <a:latin typeface="Courier New"/>
                <a:ea typeface="Courier New"/>
              </a:rPr>
              <a:t>201</a:t>
            </a:r>
            <a:endParaRPr b="0" lang="en-US" sz="900" spc="-1" strike="noStrike">
              <a:latin typeface="Arial"/>
            </a:endParaRPr>
          </a:p>
        </p:txBody>
      </p:sp>
      <p:sp>
        <p:nvSpPr>
          <p:cNvPr id="348" name="Google Shape;362;p26"/>
          <p:cNvSpPr/>
          <p:nvPr/>
        </p:nvSpPr>
        <p:spPr>
          <a:xfrm>
            <a:off x="5794920" y="1611720"/>
            <a:ext cx="26740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noStrike">
                <a:solidFill>
                  <a:srgbClr val="c4b2b6"/>
                </a:solidFill>
                <a:latin typeface="Calibri"/>
                <a:ea typeface="Calibri"/>
              </a:rPr>
              <a:t>Pesanan dibuat</a:t>
            </a:r>
            <a:endParaRPr b="0" lang="en-US" sz="900" spc="-1" strike="noStrike">
              <a:latin typeface="Arial"/>
            </a:endParaRPr>
          </a:p>
        </p:txBody>
      </p:sp>
      <p:sp>
        <p:nvSpPr>
          <p:cNvPr id="349" name="Google Shape;363;p26"/>
          <p:cNvSpPr/>
          <p:nvPr/>
        </p:nvSpPr>
        <p:spPr>
          <a:xfrm>
            <a:off x="5315040" y="185868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b84d"/>
                </a:solidFill>
                <a:latin typeface="Courier New"/>
                <a:ea typeface="Courier New"/>
              </a:rPr>
              <a:t>403</a:t>
            </a:r>
            <a:endParaRPr b="0" lang="en-US" sz="900" spc="-1" strike="noStrike">
              <a:latin typeface="Arial"/>
            </a:endParaRPr>
          </a:p>
        </p:txBody>
      </p:sp>
      <p:sp>
        <p:nvSpPr>
          <p:cNvPr id="350" name="Google Shape;364;p26"/>
          <p:cNvSpPr/>
          <p:nvPr/>
        </p:nvSpPr>
        <p:spPr>
          <a:xfrm>
            <a:off x="5794920" y="1858680"/>
            <a:ext cx="26740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noStrike">
                <a:solidFill>
                  <a:srgbClr val="c4b2b6"/>
                </a:solidFill>
                <a:latin typeface="Calibri"/>
                <a:ea typeface="Calibri"/>
              </a:rPr>
              <a:t>Role tidak berhak</a:t>
            </a:r>
            <a:endParaRPr b="0" lang="en-US" sz="900" spc="-1" strike="noStrike">
              <a:latin typeface="Arial"/>
            </a:endParaRPr>
          </a:p>
        </p:txBody>
      </p:sp>
      <p:sp>
        <p:nvSpPr>
          <p:cNvPr id="351" name="Google Shape;365;p26"/>
          <p:cNvSpPr/>
          <p:nvPr/>
        </p:nvSpPr>
        <p:spPr>
          <a:xfrm>
            <a:off x="5315040" y="210528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b84d"/>
                </a:solidFill>
                <a:latin typeface="Courier New"/>
                <a:ea typeface="Courier New"/>
              </a:rPr>
              <a:t>409</a:t>
            </a:r>
            <a:endParaRPr b="0" lang="en-US" sz="900" spc="-1" strike="noStrike">
              <a:latin typeface="Arial"/>
            </a:endParaRPr>
          </a:p>
        </p:txBody>
      </p:sp>
      <p:sp>
        <p:nvSpPr>
          <p:cNvPr id="352" name="Google Shape;366;p26"/>
          <p:cNvSpPr/>
          <p:nvPr/>
        </p:nvSpPr>
        <p:spPr>
          <a:xfrm>
            <a:off x="5794920" y="2105280"/>
            <a:ext cx="26740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noStrike">
                <a:solidFill>
                  <a:srgbClr val="c4b2b6"/>
                </a:solidFill>
                <a:latin typeface="Calibri"/>
                <a:ea typeface="Calibri"/>
              </a:rPr>
              <a:t>Transisi status tidak valid</a:t>
            </a:r>
            <a:endParaRPr b="0" lang="en-US" sz="900" spc="-1" strike="noStrike">
              <a:latin typeface="Arial"/>
            </a:endParaRPr>
          </a:p>
        </p:txBody>
      </p:sp>
      <p:sp>
        <p:nvSpPr>
          <p:cNvPr id="353" name="Google Shape;367;p26"/>
          <p:cNvSpPr/>
          <p:nvPr/>
        </p:nvSpPr>
        <p:spPr>
          <a:xfrm>
            <a:off x="5315040" y="2352240"/>
            <a:ext cx="41076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b84d"/>
                </a:solidFill>
                <a:latin typeface="Courier New"/>
                <a:ea typeface="Courier New"/>
              </a:rPr>
              <a:t>422</a:t>
            </a:r>
            <a:endParaRPr b="0" lang="en-US" sz="900" spc="-1" strike="noStrike">
              <a:latin typeface="Arial"/>
            </a:endParaRPr>
          </a:p>
        </p:txBody>
      </p:sp>
      <p:sp>
        <p:nvSpPr>
          <p:cNvPr id="354" name="Google Shape;368;p26"/>
          <p:cNvSpPr/>
          <p:nvPr/>
        </p:nvSpPr>
        <p:spPr>
          <a:xfrm>
            <a:off x="5794920" y="2352240"/>
            <a:ext cx="26740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noStrike">
                <a:solidFill>
                  <a:srgbClr val="c4b2b6"/>
                </a:solidFill>
                <a:latin typeface="Calibri"/>
                <a:ea typeface="Calibri"/>
              </a:rPr>
              <a:t>Stok tidak mencukupi</a:t>
            </a:r>
            <a:endParaRPr b="0" lang="en-US" sz="900" spc="-1" strike="noStrike">
              <a:latin typeface="Arial"/>
            </a:endParaRPr>
          </a:p>
        </p:txBody>
      </p:sp>
      <p:sp>
        <p:nvSpPr>
          <p:cNvPr id="355" name="Google Shape;369;p26"/>
          <p:cNvSpPr/>
          <p:nvPr/>
        </p:nvSpPr>
        <p:spPr>
          <a:xfrm>
            <a:off x="5109120" y="2811960"/>
            <a:ext cx="3565440" cy="1473840"/>
          </a:xfrm>
          <a:prstGeom prst="roundRect">
            <a:avLst>
              <a:gd name="adj" fmla="val 4651"/>
            </a:avLst>
          </a:prstGeom>
          <a:solidFill>
            <a:srgbClr val="3a2a2e"/>
          </a:solidFill>
          <a:ln w="12700">
            <a:solidFill>
              <a:srgbClr val="3a2a2e"/>
            </a:solidFill>
            <a:round/>
          </a:ln>
        </p:spPr>
        <p:style>
          <a:lnRef idx="0"/>
          <a:fillRef idx="0"/>
          <a:effectRef idx="0"/>
          <a:fontRef idx="minor"/>
        </p:style>
      </p:sp>
      <p:sp>
        <p:nvSpPr>
          <p:cNvPr id="356" name="Google Shape;370;p26"/>
          <p:cNvSpPr/>
          <p:nvPr/>
        </p:nvSpPr>
        <p:spPr>
          <a:xfrm>
            <a:off x="5315040" y="2949120"/>
            <a:ext cx="3153960" cy="218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5533d"/>
                </a:solidFill>
                <a:latin typeface="Calibri"/>
                <a:ea typeface="Calibri"/>
              </a:rPr>
              <a:t>Validasi &amp; Konsistensi</a:t>
            </a:r>
            <a:endParaRPr b="0" lang="en-US" sz="1100" spc="-1" strike="noStrike">
              <a:latin typeface="Arial"/>
            </a:endParaRPr>
          </a:p>
        </p:txBody>
      </p:sp>
      <p:sp>
        <p:nvSpPr>
          <p:cNvPr id="357" name="Google Shape;371;p26"/>
          <p:cNvSpPr/>
          <p:nvPr/>
        </p:nvSpPr>
        <p:spPr>
          <a:xfrm>
            <a:off x="5315040" y="3209400"/>
            <a:ext cx="3153960" cy="959400"/>
          </a:xfrm>
          <a:prstGeom prst="rect">
            <a:avLst/>
          </a:prstGeom>
          <a:noFill/>
          <a:ln w="0">
            <a:noFill/>
          </a:ln>
        </p:spPr>
        <p:style>
          <a:lnRef idx="0"/>
          <a:fillRef idx="0"/>
          <a:effectRef idx="0"/>
          <a:fontRef idx="minor"/>
        </p:style>
        <p:txBody>
          <a:bodyPr lIns="0" rIns="0" tIns="0" bIns="0" anchor="t">
            <a:noAutofit/>
          </a:bodyPr>
          <a:p>
            <a:pPr marL="139680" indent="-146160">
              <a:lnSpc>
                <a:spcPct val="100000"/>
              </a:lnSpc>
              <a:buClr>
                <a:srgbClr val="c4b2b6"/>
              </a:buClr>
              <a:buFont typeface="Calibri"/>
              <a:buChar char="•"/>
            </a:pPr>
            <a:r>
              <a:rPr b="0" lang="en" sz="900" spc="-1" strike="noStrike">
                <a:solidFill>
                  <a:srgbClr val="c4b2b6"/>
                </a:solidFill>
                <a:latin typeface="Calibri"/>
                <a:ea typeface="Calibri"/>
              </a:rPr>
              <a:t>FormRequest di setiap endpoint bermuatan body</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API Resource menyeragamkan bentuk response</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Global exception handler → format error tunggal</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358" name="TextBox 341"/>
          <p:cNvSpPr/>
          <p:nvPr/>
        </p:nvSpPr>
        <p:spPr>
          <a:xfrm>
            <a:off x="3967920" y="288000"/>
            <a:ext cx="1189440" cy="13716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1" lang="en-US" sz="900" spc="-1" strike="noStrike">
                <a:solidFill>
                  <a:srgbClr val="ffb84d"/>
                </a:solidFill>
                <a:latin typeface="Calibri"/>
                <a:ea typeface="Arial"/>
              </a:rPr>
              <a:t>TECHNICAL DEPTH</a:t>
            </a:r>
            <a:endParaRPr b="0" lang="en-US" sz="900" spc="-1" strike="noStrike">
              <a:latin typeface="Arial"/>
            </a:endParaRPr>
          </a:p>
        </p:txBody>
      </p:sp>
      <p:sp>
        <p:nvSpPr>
          <p:cNvPr id="359" name="TextBox 342"/>
          <p:cNvSpPr/>
          <p:nvPr/>
        </p:nvSpPr>
        <p:spPr>
          <a:xfrm>
            <a:off x="1847880" y="493920"/>
            <a:ext cx="5429160" cy="30492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1" lang="en-US" sz="2000" spc="-1" strike="noStrike">
                <a:solidFill>
                  <a:srgbClr val="ffffff"/>
                </a:solidFill>
                <a:latin typeface="Calibri"/>
                <a:ea typeface="Arial"/>
              </a:rPr>
              <a:t>Alur Autentikasi — Token-Based (JWT)</a:t>
            </a:r>
            <a:endParaRPr b="0" lang="en-US" sz="2000" spc="-1" strike="noStrike">
              <a:latin typeface="Arial"/>
            </a:endParaRPr>
          </a:p>
        </p:txBody>
      </p:sp>
      <p:sp>
        <p:nvSpPr>
          <p:cNvPr id="360" name="TextBox 343"/>
          <p:cNvSpPr/>
          <p:nvPr/>
        </p:nvSpPr>
        <p:spPr>
          <a:xfrm>
            <a:off x="448200" y="896040"/>
            <a:ext cx="3931200" cy="15228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lang="en-US" sz="1000" spc="-1" strike="noStrike">
                <a:solidFill>
                  <a:srgbClr val="8a7278"/>
                </a:solidFill>
                <a:latin typeface="Calibri"/>
                <a:ea typeface="Arial"/>
              </a:rPr>
              <a:t>FRONTEND (React)</a:t>
            </a:r>
            <a:endParaRPr b="0" lang="en-US" sz="1000" spc="-1" strike="noStrike">
              <a:latin typeface="Arial"/>
            </a:endParaRPr>
          </a:p>
        </p:txBody>
      </p:sp>
      <p:sp>
        <p:nvSpPr>
          <p:cNvPr id="361" name="TextBox 344"/>
          <p:cNvSpPr/>
          <p:nvPr/>
        </p:nvSpPr>
        <p:spPr>
          <a:xfrm>
            <a:off x="4754880" y="896040"/>
            <a:ext cx="3931200" cy="15228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lang="en-US" sz="1000" spc="-1" strike="noStrike">
                <a:solidFill>
                  <a:srgbClr val="8a7278"/>
                </a:solidFill>
                <a:latin typeface="Calibri"/>
                <a:ea typeface="Arial"/>
              </a:rPr>
              <a:t>BACKEND (Spring Boot)</a:t>
            </a:r>
            <a:endParaRPr b="0" lang="en-US" sz="1000" spc="-1" strike="noStrike">
              <a:latin typeface="Arial"/>
            </a:endParaRPr>
          </a:p>
        </p:txBody>
      </p:sp>
      <p:sp>
        <p:nvSpPr>
          <p:cNvPr id="362" name="Connector 345"/>
          <p:cNvSpPr/>
          <p:nvPr/>
        </p:nvSpPr>
        <p:spPr>
          <a:xfrm>
            <a:off x="2413800" y="1188720"/>
            <a:ext cx="360" cy="3429000"/>
          </a:xfrm>
          <a:prstGeom prst="line">
            <a:avLst/>
          </a:prstGeom>
          <a:ln w="9525">
            <a:solidFill>
              <a:srgbClr val="3a2a2e"/>
            </a:solidFill>
            <a:round/>
          </a:ln>
        </p:spPr>
        <p:style>
          <a:lnRef idx="2">
            <a:schemeClr val="accent1"/>
          </a:lnRef>
          <a:fillRef idx="0">
            <a:schemeClr val="accent1"/>
          </a:fillRef>
          <a:effectRef idx="1">
            <a:schemeClr val="accent1"/>
          </a:effectRef>
          <a:fontRef idx="minor"/>
        </p:style>
      </p:sp>
      <p:sp>
        <p:nvSpPr>
          <p:cNvPr id="363" name="Connector 346"/>
          <p:cNvSpPr/>
          <p:nvPr/>
        </p:nvSpPr>
        <p:spPr>
          <a:xfrm>
            <a:off x="6720840" y="1188720"/>
            <a:ext cx="360" cy="3429000"/>
          </a:xfrm>
          <a:prstGeom prst="line">
            <a:avLst/>
          </a:prstGeom>
          <a:ln w="9525">
            <a:solidFill>
              <a:srgbClr val="3a2a2e"/>
            </a:solidFill>
            <a:round/>
          </a:ln>
        </p:spPr>
        <p:style>
          <a:lnRef idx="2">
            <a:schemeClr val="accent1"/>
          </a:lnRef>
          <a:fillRef idx="0">
            <a:schemeClr val="accent1"/>
          </a:fillRef>
          <a:effectRef idx="1">
            <a:schemeClr val="accent1"/>
          </a:effectRef>
          <a:fontRef idx="minor"/>
        </p:style>
      </p:sp>
      <p:sp>
        <p:nvSpPr>
          <p:cNvPr id="364" name="Rounded Rectangle 347"/>
          <p:cNvSpPr/>
          <p:nvPr/>
        </p:nvSpPr>
        <p:spPr>
          <a:xfrm>
            <a:off x="585360" y="1234440"/>
            <a:ext cx="3656880" cy="474840"/>
          </a:xfrm>
          <a:prstGeom prst="roundRect">
            <a:avLst>
              <a:gd name="adj" fmla="val 6000"/>
            </a:avLst>
          </a:prstGeom>
          <a:solidFill>
            <a:srgbClr val="241819"/>
          </a:solidFill>
          <a:ln w="12700">
            <a:solidFill>
              <a:srgbClr val="f553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1520" rIns="101520" tIns="25560" bIns="25560" anchor="ctr">
            <a:noAutofit/>
          </a:bodyPr>
          <a:p>
            <a:pPr>
              <a:lnSpc>
                <a:spcPct val="100000"/>
              </a:lnSpc>
              <a:buNone/>
            </a:pPr>
            <a:r>
              <a:rPr b="1" lang="en-US" sz="850" spc="-1" strike="noStrike">
                <a:solidFill>
                  <a:srgbClr val="ffffff"/>
                </a:solidFill>
                <a:latin typeface="Calibri"/>
                <a:ea typeface="Arial"/>
              </a:rPr>
              <a:t>POST /auth/login</a:t>
            </a:r>
            <a:endParaRPr b="0" lang="en-US" sz="850" spc="-1" strike="noStrike">
              <a:latin typeface="Arial"/>
            </a:endParaRPr>
          </a:p>
          <a:p>
            <a:pPr>
              <a:lnSpc>
                <a:spcPct val="100000"/>
              </a:lnSpc>
              <a:buNone/>
            </a:pPr>
            <a:r>
              <a:rPr b="0" lang="en-US" sz="850" spc="-1" strike="noStrike">
                <a:solidFill>
                  <a:srgbClr val="c4b2b6"/>
                </a:solidFill>
                <a:latin typeface="Calibri"/>
                <a:ea typeface="Arial"/>
              </a:rPr>
              <a:t>{ email, password }</a:t>
            </a:r>
            <a:endParaRPr b="0" lang="en-US" sz="850" spc="-1" strike="noStrike">
              <a:latin typeface="Arial"/>
            </a:endParaRPr>
          </a:p>
        </p:txBody>
      </p:sp>
      <p:sp>
        <p:nvSpPr>
          <p:cNvPr id="365" name="Oval 348"/>
          <p:cNvSpPr/>
          <p:nvPr/>
        </p:nvSpPr>
        <p:spPr>
          <a:xfrm>
            <a:off x="365760" y="1334880"/>
            <a:ext cx="273600" cy="273600"/>
          </a:xfrm>
          <a:prstGeom prst="ellipse">
            <a:avLst/>
          </a:prstGeom>
          <a:solidFill>
            <a:srgbClr val="1a1214"/>
          </a:solidFill>
          <a:ln w="15875">
            <a:solidFill>
              <a:srgbClr val="f553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25560" bIns="25560" anchor="ctr">
            <a:noAutofit/>
          </a:bodyPr>
          <a:p>
            <a:pPr algn="ctr">
              <a:lnSpc>
                <a:spcPct val="100000"/>
              </a:lnSpc>
              <a:buNone/>
            </a:pPr>
            <a:r>
              <a:rPr b="1" lang="en-US" sz="900" spc="-1" strike="noStrike">
                <a:solidFill>
                  <a:srgbClr val="f5533d"/>
                </a:solidFill>
                <a:latin typeface="Calibri"/>
                <a:ea typeface="Arial"/>
              </a:rPr>
              <a:t>1</a:t>
            </a:r>
            <a:endParaRPr b="0" lang="en-US" sz="900" spc="-1" strike="noStrike">
              <a:latin typeface="Arial"/>
            </a:endParaRPr>
          </a:p>
        </p:txBody>
      </p:sp>
      <p:sp>
        <p:nvSpPr>
          <p:cNvPr id="366" name="Rounded Rectangle 349"/>
          <p:cNvSpPr/>
          <p:nvPr/>
        </p:nvSpPr>
        <p:spPr>
          <a:xfrm>
            <a:off x="4892040" y="1892880"/>
            <a:ext cx="3656880" cy="474840"/>
          </a:xfrm>
          <a:prstGeom prst="roundRect">
            <a:avLst>
              <a:gd name="adj" fmla="val 6000"/>
            </a:avLst>
          </a:prstGeom>
          <a:solidFill>
            <a:srgbClr val="241819"/>
          </a:solidFill>
          <a:ln w="12700">
            <a:solidFill>
              <a:srgbClr val="ffb84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1520" rIns="101520" tIns="25560" bIns="25560" anchor="ctr">
            <a:noAutofit/>
          </a:bodyPr>
          <a:p>
            <a:pPr>
              <a:lnSpc>
                <a:spcPct val="100000"/>
              </a:lnSpc>
              <a:buNone/>
            </a:pPr>
            <a:r>
              <a:rPr b="1" lang="en-US" sz="850" spc="-1" strike="noStrike">
                <a:solidFill>
                  <a:srgbClr val="ffffff"/>
                </a:solidFill>
                <a:latin typeface="Calibri"/>
                <a:ea typeface="Arial"/>
              </a:rPr>
              <a:t>Verifikasi BCrypt →</a:t>
            </a:r>
            <a:endParaRPr b="0" lang="en-US" sz="850" spc="-1" strike="noStrike">
              <a:latin typeface="Arial"/>
            </a:endParaRPr>
          </a:p>
          <a:p>
            <a:pPr>
              <a:lnSpc>
                <a:spcPct val="100000"/>
              </a:lnSpc>
              <a:buNone/>
            </a:pPr>
            <a:r>
              <a:rPr b="0" lang="en-US" sz="850" spc="-1" strike="noStrike">
                <a:solidFill>
                  <a:srgbClr val="c4b2b6"/>
                </a:solidFill>
                <a:latin typeface="Calibri"/>
                <a:ea typeface="Arial"/>
              </a:rPr>
              <a:t>generate JWT (sub, role, exp)</a:t>
            </a:r>
            <a:endParaRPr b="0" lang="en-US" sz="850" spc="-1" strike="noStrike">
              <a:latin typeface="Arial"/>
            </a:endParaRPr>
          </a:p>
        </p:txBody>
      </p:sp>
      <p:sp>
        <p:nvSpPr>
          <p:cNvPr id="367" name="Oval 350"/>
          <p:cNvSpPr/>
          <p:nvPr/>
        </p:nvSpPr>
        <p:spPr>
          <a:xfrm>
            <a:off x="4672440" y="1993320"/>
            <a:ext cx="273600" cy="273600"/>
          </a:xfrm>
          <a:prstGeom prst="ellipse">
            <a:avLst/>
          </a:prstGeom>
          <a:solidFill>
            <a:srgbClr val="1a1214"/>
          </a:solidFill>
          <a:ln w="15875">
            <a:solidFill>
              <a:srgbClr val="ffb84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25560" bIns="25560" anchor="ctr">
            <a:noAutofit/>
          </a:bodyPr>
          <a:p>
            <a:pPr algn="ctr">
              <a:lnSpc>
                <a:spcPct val="100000"/>
              </a:lnSpc>
              <a:buNone/>
            </a:pPr>
            <a:r>
              <a:rPr b="1" lang="en-US" sz="900" spc="-1" strike="noStrike">
                <a:solidFill>
                  <a:srgbClr val="ffb84d"/>
                </a:solidFill>
                <a:latin typeface="Calibri"/>
                <a:ea typeface="Arial"/>
              </a:rPr>
              <a:t>2</a:t>
            </a:r>
            <a:endParaRPr b="0" lang="en-US" sz="900" spc="-1" strike="noStrike">
              <a:latin typeface="Arial"/>
            </a:endParaRPr>
          </a:p>
        </p:txBody>
      </p:sp>
      <p:sp>
        <p:nvSpPr>
          <p:cNvPr id="368" name="Connector 351"/>
          <p:cNvSpPr/>
          <p:nvPr/>
        </p:nvSpPr>
        <p:spPr>
          <a:xfrm>
            <a:off x="2413800" y="1709640"/>
            <a:ext cx="4307040" cy="182880"/>
          </a:xfrm>
          <a:prstGeom prst="line">
            <a:avLst/>
          </a:prstGeom>
          <a:ln w="12700">
            <a:solidFill>
              <a:srgbClr val="8a7278"/>
            </a:solidFill>
            <a:round/>
          </a:ln>
        </p:spPr>
        <p:style>
          <a:lnRef idx="2">
            <a:schemeClr val="accent1"/>
          </a:lnRef>
          <a:fillRef idx="0">
            <a:schemeClr val="accent1"/>
          </a:fillRef>
          <a:effectRef idx="1">
            <a:schemeClr val="accent1"/>
          </a:effectRef>
          <a:fontRef idx="minor"/>
        </p:style>
      </p:sp>
      <p:sp>
        <p:nvSpPr>
          <p:cNvPr id="369" name="Isosceles Triangle 352"/>
          <p:cNvSpPr/>
          <p:nvPr/>
        </p:nvSpPr>
        <p:spPr>
          <a:xfrm rot="10800000">
            <a:off x="6666480" y="1875240"/>
            <a:ext cx="109080" cy="109080"/>
          </a:xfrm>
          <a:prstGeom prst="triangle">
            <a:avLst>
              <a:gd name="adj" fmla="val 50000"/>
            </a:avLst>
          </a:prstGeom>
          <a:solidFill>
            <a:srgbClr val="8a72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0" name="Rounded Rectangle 353"/>
          <p:cNvSpPr/>
          <p:nvPr/>
        </p:nvSpPr>
        <p:spPr>
          <a:xfrm>
            <a:off x="585360" y="2551320"/>
            <a:ext cx="3656880" cy="474840"/>
          </a:xfrm>
          <a:prstGeom prst="roundRect">
            <a:avLst>
              <a:gd name="adj" fmla="val 6000"/>
            </a:avLst>
          </a:prstGeom>
          <a:solidFill>
            <a:srgbClr val="241819"/>
          </a:solidFill>
          <a:ln w="12700">
            <a:solidFill>
              <a:srgbClr val="f553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1520" rIns="101520" tIns="25560" bIns="25560" anchor="ctr">
            <a:noAutofit/>
          </a:bodyPr>
          <a:p>
            <a:pPr>
              <a:lnSpc>
                <a:spcPct val="100000"/>
              </a:lnSpc>
              <a:buNone/>
            </a:pPr>
            <a:r>
              <a:rPr b="1" lang="en-US" sz="850" spc="-1" strike="noStrike">
                <a:solidFill>
                  <a:srgbClr val="ffffff"/>
                </a:solidFill>
                <a:latin typeface="Calibri"/>
                <a:ea typeface="Arial"/>
              </a:rPr>
              <a:t>Simpan token di</a:t>
            </a:r>
            <a:endParaRPr b="0" lang="en-US" sz="850" spc="-1" strike="noStrike">
              <a:latin typeface="Arial"/>
            </a:endParaRPr>
          </a:p>
          <a:p>
            <a:pPr>
              <a:lnSpc>
                <a:spcPct val="100000"/>
              </a:lnSpc>
              <a:buNone/>
            </a:pPr>
            <a:r>
              <a:rPr b="0" lang="en-US" sz="850" spc="-1" strike="noStrike">
                <a:solidFill>
                  <a:srgbClr val="c4b2b6"/>
                </a:solidFill>
                <a:latin typeface="Calibri"/>
                <a:ea typeface="Arial"/>
              </a:rPr>
              <a:t>localStorage</a:t>
            </a:r>
            <a:endParaRPr b="0" lang="en-US" sz="850" spc="-1" strike="noStrike">
              <a:latin typeface="Arial"/>
            </a:endParaRPr>
          </a:p>
        </p:txBody>
      </p:sp>
      <p:sp>
        <p:nvSpPr>
          <p:cNvPr id="371" name="Oval 354"/>
          <p:cNvSpPr/>
          <p:nvPr/>
        </p:nvSpPr>
        <p:spPr>
          <a:xfrm>
            <a:off x="365760" y="2651760"/>
            <a:ext cx="273600" cy="273600"/>
          </a:xfrm>
          <a:prstGeom prst="ellipse">
            <a:avLst/>
          </a:prstGeom>
          <a:solidFill>
            <a:srgbClr val="1a1214"/>
          </a:solidFill>
          <a:ln w="15875">
            <a:solidFill>
              <a:srgbClr val="f553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25560" bIns="25560" anchor="ctr">
            <a:noAutofit/>
          </a:bodyPr>
          <a:p>
            <a:pPr algn="ctr">
              <a:lnSpc>
                <a:spcPct val="100000"/>
              </a:lnSpc>
              <a:buNone/>
            </a:pPr>
            <a:r>
              <a:rPr b="1" lang="en-US" sz="900" spc="-1" strike="noStrike">
                <a:solidFill>
                  <a:srgbClr val="f5533d"/>
                </a:solidFill>
                <a:latin typeface="Calibri"/>
                <a:ea typeface="Arial"/>
              </a:rPr>
              <a:t>3</a:t>
            </a:r>
            <a:endParaRPr b="0" lang="en-US" sz="900" spc="-1" strike="noStrike">
              <a:latin typeface="Arial"/>
            </a:endParaRPr>
          </a:p>
        </p:txBody>
      </p:sp>
      <p:sp>
        <p:nvSpPr>
          <p:cNvPr id="372" name="Connector 355"/>
          <p:cNvSpPr/>
          <p:nvPr/>
        </p:nvSpPr>
        <p:spPr>
          <a:xfrm flipH="1">
            <a:off x="2413800" y="2368080"/>
            <a:ext cx="4307040" cy="182880"/>
          </a:xfrm>
          <a:prstGeom prst="line">
            <a:avLst/>
          </a:prstGeom>
          <a:ln w="12700">
            <a:solidFill>
              <a:srgbClr val="8a7278"/>
            </a:solidFill>
            <a:round/>
          </a:ln>
        </p:spPr>
        <p:style>
          <a:lnRef idx="2">
            <a:schemeClr val="accent1"/>
          </a:lnRef>
          <a:fillRef idx="0">
            <a:schemeClr val="accent1"/>
          </a:fillRef>
          <a:effectRef idx="1">
            <a:schemeClr val="accent1"/>
          </a:effectRef>
          <a:fontRef idx="minor"/>
        </p:style>
      </p:sp>
      <p:sp>
        <p:nvSpPr>
          <p:cNvPr id="373" name="Isosceles Triangle 356"/>
          <p:cNvSpPr/>
          <p:nvPr/>
        </p:nvSpPr>
        <p:spPr>
          <a:xfrm rot="10800000">
            <a:off x="2359800" y="2533680"/>
            <a:ext cx="109080" cy="109080"/>
          </a:xfrm>
          <a:prstGeom prst="triangle">
            <a:avLst>
              <a:gd name="adj" fmla="val 50000"/>
            </a:avLst>
          </a:prstGeom>
          <a:solidFill>
            <a:srgbClr val="8a72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4" name="Rounded Rectangle 357"/>
          <p:cNvSpPr/>
          <p:nvPr/>
        </p:nvSpPr>
        <p:spPr>
          <a:xfrm>
            <a:off x="585360" y="3209400"/>
            <a:ext cx="3656880" cy="474840"/>
          </a:xfrm>
          <a:prstGeom prst="roundRect">
            <a:avLst>
              <a:gd name="adj" fmla="val 6000"/>
            </a:avLst>
          </a:prstGeom>
          <a:solidFill>
            <a:srgbClr val="241819"/>
          </a:solidFill>
          <a:ln w="12700">
            <a:solidFill>
              <a:srgbClr val="f553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1520" rIns="101520" tIns="25560" bIns="25560" anchor="ctr">
            <a:noAutofit/>
          </a:bodyPr>
          <a:p>
            <a:pPr>
              <a:lnSpc>
                <a:spcPct val="100000"/>
              </a:lnSpc>
              <a:buNone/>
            </a:pPr>
            <a:r>
              <a:rPr b="1" lang="en-US" sz="850" spc="-1" strike="noStrike">
                <a:solidFill>
                  <a:srgbClr val="ffffff"/>
                </a:solidFill>
                <a:latin typeface="Calibri"/>
                <a:ea typeface="Arial"/>
              </a:rPr>
              <a:t>Axios interceptor: tiap</a:t>
            </a:r>
            <a:endParaRPr b="0" lang="en-US" sz="850" spc="-1" strike="noStrike">
              <a:latin typeface="Arial"/>
            </a:endParaRPr>
          </a:p>
          <a:p>
            <a:pPr>
              <a:lnSpc>
                <a:spcPct val="100000"/>
              </a:lnSpc>
              <a:buNone/>
            </a:pPr>
            <a:r>
              <a:rPr b="0" lang="en-US" sz="850" spc="-1" strike="noStrike">
                <a:solidFill>
                  <a:srgbClr val="c4b2b6"/>
                </a:solidFill>
                <a:latin typeface="Calibri"/>
                <a:ea typeface="Arial"/>
              </a:rPr>
              <a:t>request tempel header</a:t>
            </a:r>
            <a:endParaRPr b="0" lang="en-US" sz="850" spc="-1" strike="noStrike">
              <a:latin typeface="Arial"/>
            </a:endParaRPr>
          </a:p>
          <a:p>
            <a:pPr>
              <a:lnSpc>
                <a:spcPct val="100000"/>
              </a:lnSpc>
              <a:buNone/>
            </a:pPr>
            <a:r>
              <a:rPr b="0" lang="en-US" sz="850" spc="-1" strike="noStrike">
                <a:solidFill>
                  <a:srgbClr val="c4b2b6"/>
                </a:solidFill>
                <a:latin typeface="Calibri"/>
                <a:ea typeface="Arial"/>
              </a:rPr>
              <a:t>Authorization: Bearer &lt;token&gt;</a:t>
            </a:r>
            <a:endParaRPr b="0" lang="en-US" sz="850" spc="-1" strike="noStrike">
              <a:latin typeface="Arial"/>
            </a:endParaRPr>
          </a:p>
        </p:txBody>
      </p:sp>
      <p:sp>
        <p:nvSpPr>
          <p:cNvPr id="375" name="Oval 358"/>
          <p:cNvSpPr/>
          <p:nvPr/>
        </p:nvSpPr>
        <p:spPr>
          <a:xfrm>
            <a:off x="365760" y="3310200"/>
            <a:ext cx="273600" cy="273600"/>
          </a:xfrm>
          <a:prstGeom prst="ellipse">
            <a:avLst/>
          </a:prstGeom>
          <a:solidFill>
            <a:srgbClr val="1a1214"/>
          </a:solidFill>
          <a:ln w="15875">
            <a:solidFill>
              <a:srgbClr val="f553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25560" bIns="25560" anchor="ctr">
            <a:noAutofit/>
          </a:bodyPr>
          <a:p>
            <a:pPr algn="ctr">
              <a:lnSpc>
                <a:spcPct val="100000"/>
              </a:lnSpc>
              <a:buNone/>
            </a:pPr>
            <a:r>
              <a:rPr b="1" lang="en-US" sz="900" spc="-1" strike="noStrike">
                <a:solidFill>
                  <a:srgbClr val="f5533d"/>
                </a:solidFill>
                <a:latin typeface="Calibri"/>
                <a:ea typeface="Arial"/>
              </a:rPr>
              <a:t>4</a:t>
            </a:r>
            <a:endParaRPr b="0" lang="en-US" sz="900" spc="-1" strike="noStrike">
              <a:latin typeface="Arial"/>
            </a:endParaRPr>
          </a:p>
        </p:txBody>
      </p:sp>
      <p:sp>
        <p:nvSpPr>
          <p:cNvPr id="376" name="Connector 359"/>
          <p:cNvSpPr/>
          <p:nvPr/>
        </p:nvSpPr>
        <p:spPr>
          <a:xfrm>
            <a:off x="2413800" y="3026520"/>
            <a:ext cx="360" cy="182880"/>
          </a:xfrm>
          <a:prstGeom prst="line">
            <a:avLst/>
          </a:prstGeom>
          <a:ln w="12700">
            <a:solidFill>
              <a:srgbClr val="8a7278"/>
            </a:solidFill>
            <a:round/>
          </a:ln>
        </p:spPr>
        <p:style>
          <a:lnRef idx="2">
            <a:schemeClr val="accent1"/>
          </a:lnRef>
          <a:fillRef idx="0">
            <a:schemeClr val="accent1"/>
          </a:fillRef>
          <a:effectRef idx="1">
            <a:schemeClr val="accent1"/>
          </a:effectRef>
          <a:fontRef idx="minor"/>
        </p:style>
      </p:sp>
      <p:sp>
        <p:nvSpPr>
          <p:cNvPr id="377" name="Isosceles Triangle 360"/>
          <p:cNvSpPr/>
          <p:nvPr/>
        </p:nvSpPr>
        <p:spPr>
          <a:xfrm rot="10800000">
            <a:off x="2359800" y="3191760"/>
            <a:ext cx="109080" cy="109080"/>
          </a:xfrm>
          <a:prstGeom prst="triangle">
            <a:avLst>
              <a:gd name="adj" fmla="val 50000"/>
            </a:avLst>
          </a:prstGeom>
          <a:solidFill>
            <a:srgbClr val="8a72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78" name="Rounded Rectangle 361"/>
          <p:cNvSpPr/>
          <p:nvPr/>
        </p:nvSpPr>
        <p:spPr>
          <a:xfrm>
            <a:off x="4892040" y="3867840"/>
            <a:ext cx="3656880" cy="474840"/>
          </a:xfrm>
          <a:prstGeom prst="roundRect">
            <a:avLst>
              <a:gd name="adj" fmla="val 6000"/>
            </a:avLst>
          </a:prstGeom>
          <a:solidFill>
            <a:srgbClr val="241819"/>
          </a:solidFill>
          <a:ln w="12700">
            <a:solidFill>
              <a:srgbClr val="ffb84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1520" rIns="101520" tIns="25560" bIns="25560" anchor="ctr">
            <a:noAutofit/>
          </a:bodyPr>
          <a:p>
            <a:pPr>
              <a:lnSpc>
                <a:spcPct val="100000"/>
              </a:lnSpc>
              <a:buNone/>
            </a:pPr>
            <a:r>
              <a:rPr b="1" lang="en-US" sz="850" spc="-1" strike="noStrike">
                <a:solidFill>
                  <a:srgbClr val="ffffff"/>
                </a:solidFill>
                <a:latin typeface="Calibri"/>
                <a:ea typeface="Arial"/>
              </a:rPr>
              <a:t>JwtAuthFilter validasi</a:t>
            </a:r>
            <a:endParaRPr b="0" lang="en-US" sz="850" spc="-1" strike="noStrike">
              <a:latin typeface="Arial"/>
            </a:endParaRPr>
          </a:p>
          <a:p>
            <a:pPr>
              <a:lnSpc>
                <a:spcPct val="100000"/>
              </a:lnSpc>
              <a:buNone/>
            </a:pPr>
            <a:r>
              <a:rPr b="0" lang="en-US" sz="850" spc="-1" strike="noStrike">
                <a:solidFill>
                  <a:srgbClr val="c4b2b6"/>
                </a:solidFill>
                <a:latin typeface="Calibri"/>
                <a:ea typeface="Arial"/>
              </a:rPr>
              <a:t>signature &amp; expiry →</a:t>
            </a:r>
            <a:endParaRPr b="0" lang="en-US" sz="850" spc="-1" strike="noStrike">
              <a:latin typeface="Arial"/>
            </a:endParaRPr>
          </a:p>
          <a:p>
            <a:pPr>
              <a:lnSpc>
                <a:spcPct val="100000"/>
              </a:lnSpc>
              <a:buNone/>
            </a:pPr>
            <a:r>
              <a:rPr b="0" lang="en-US" sz="850" spc="-1" strike="noStrike">
                <a:solidFill>
                  <a:srgbClr val="c4b2b6"/>
                </a:solidFill>
                <a:latin typeface="Calibri"/>
                <a:ea typeface="Arial"/>
              </a:rPr>
              <a:t>set SecurityContext</a:t>
            </a:r>
            <a:endParaRPr b="0" lang="en-US" sz="850" spc="-1" strike="noStrike">
              <a:latin typeface="Arial"/>
            </a:endParaRPr>
          </a:p>
        </p:txBody>
      </p:sp>
      <p:sp>
        <p:nvSpPr>
          <p:cNvPr id="379" name="Oval 362"/>
          <p:cNvSpPr/>
          <p:nvPr/>
        </p:nvSpPr>
        <p:spPr>
          <a:xfrm>
            <a:off x="4672440" y="3968640"/>
            <a:ext cx="273600" cy="273600"/>
          </a:xfrm>
          <a:prstGeom prst="ellipse">
            <a:avLst/>
          </a:prstGeom>
          <a:solidFill>
            <a:srgbClr val="1a1214"/>
          </a:solidFill>
          <a:ln w="15875">
            <a:solidFill>
              <a:srgbClr val="ffb84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25560" bIns="25560" anchor="ctr">
            <a:noAutofit/>
          </a:bodyPr>
          <a:p>
            <a:pPr algn="ctr">
              <a:lnSpc>
                <a:spcPct val="100000"/>
              </a:lnSpc>
              <a:buNone/>
            </a:pPr>
            <a:r>
              <a:rPr b="1" lang="en-US" sz="900" spc="-1" strike="noStrike">
                <a:solidFill>
                  <a:srgbClr val="ffb84d"/>
                </a:solidFill>
                <a:latin typeface="Calibri"/>
                <a:ea typeface="Arial"/>
              </a:rPr>
              <a:t>5</a:t>
            </a:r>
            <a:endParaRPr b="0" lang="en-US" sz="900" spc="-1" strike="noStrike">
              <a:latin typeface="Arial"/>
            </a:endParaRPr>
          </a:p>
        </p:txBody>
      </p:sp>
      <p:sp>
        <p:nvSpPr>
          <p:cNvPr id="380" name="Connector 363"/>
          <p:cNvSpPr/>
          <p:nvPr/>
        </p:nvSpPr>
        <p:spPr>
          <a:xfrm>
            <a:off x="2413800" y="3684960"/>
            <a:ext cx="4307040" cy="182880"/>
          </a:xfrm>
          <a:prstGeom prst="line">
            <a:avLst/>
          </a:prstGeom>
          <a:ln w="12700">
            <a:solidFill>
              <a:srgbClr val="8a7278"/>
            </a:solidFill>
            <a:round/>
          </a:ln>
        </p:spPr>
        <p:style>
          <a:lnRef idx="2">
            <a:schemeClr val="accent1"/>
          </a:lnRef>
          <a:fillRef idx="0">
            <a:schemeClr val="accent1"/>
          </a:fillRef>
          <a:effectRef idx="1">
            <a:schemeClr val="accent1"/>
          </a:effectRef>
          <a:fontRef idx="minor"/>
        </p:style>
      </p:sp>
      <p:sp>
        <p:nvSpPr>
          <p:cNvPr id="381" name="Isosceles Triangle 364"/>
          <p:cNvSpPr/>
          <p:nvPr/>
        </p:nvSpPr>
        <p:spPr>
          <a:xfrm rot="10800000">
            <a:off x="6666480" y="3850200"/>
            <a:ext cx="109080" cy="109080"/>
          </a:xfrm>
          <a:prstGeom prst="triangle">
            <a:avLst>
              <a:gd name="adj" fmla="val 50000"/>
            </a:avLst>
          </a:prstGeom>
          <a:solidFill>
            <a:srgbClr val="8a72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2" name="Rounded Rectangle 365"/>
          <p:cNvSpPr/>
          <p:nvPr/>
        </p:nvSpPr>
        <p:spPr>
          <a:xfrm>
            <a:off x="4892040" y="4526280"/>
            <a:ext cx="3656880" cy="474840"/>
          </a:xfrm>
          <a:prstGeom prst="roundRect">
            <a:avLst>
              <a:gd name="adj" fmla="val 6000"/>
            </a:avLst>
          </a:prstGeom>
          <a:solidFill>
            <a:srgbClr val="241819"/>
          </a:solidFill>
          <a:ln w="12700">
            <a:solidFill>
              <a:srgbClr val="4caf7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1520" rIns="101520" tIns="25560" bIns="25560" anchor="ctr">
            <a:noAutofit/>
          </a:bodyPr>
          <a:p>
            <a:pPr>
              <a:lnSpc>
                <a:spcPct val="100000"/>
              </a:lnSpc>
              <a:buNone/>
            </a:pPr>
            <a:r>
              <a:rPr b="1" lang="en-US" sz="850" spc="-1" strike="noStrike">
                <a:solidFill>
                  <a:srgbClr val="ffffff"/>
                </a:solidFill>
                <a:latin typeface="Calibri"/>
                <a:ea typeface="Arial"/>
              </a:rPr>
              <a:t>@PreAuthorize cek role →</a:t>
            </a:r>
            <a:endParaRPr b="0" lang="en-US" sz="850" spc="-1" strike="noStrike">
              <a:latin typeface="Arial"/>
            </a:endParaRPr>
          </a:p>
          <a:p>
            <a:pPr>
              <a:lnSpc>
                <a:spcPct val="100000"/>
              </a:lnSpc>
              <a:buNone/>
            </a:pPr>
            <a:r>
              <a:rPr b="0" lang="en-US" sz="850" spc="-1" strike="noStrike">
                <a:solidFill>
                  <a:srgbClr val="c4b2b6"/>
                </a:solidFill>
                <a:latin typeface="Calibri"/>
                <a:ea typeface="Arial"/>
              </a:rPr>
              <a:t>izinkan (200) / tolak (403)</a:t>
            </a:r>
            <a:endParaRPr b="0" lang="en-US" sz="850" spc="-1" strike="noStrike">
              <a:latin typeface="Arial"/>
            </a:endParaRPr>
          </a:p>
        </p:txBody>
      </p:sp>
      <p:sp>
        <p:nvSpPr>
          <p:cNvPr id="383" name="Oval 366"/>
          <p:cNvSpPr/>
          <p:nvPr/>
        </p:nvSpPr>
        <p:spPr>
          <a:xfrm>
            <a:off x="4672440" y="4626720"/>
            <a:ext cx="273600" cy="273600"/>
          </a:xfrm>
          <a:prstGeom prst="ellipse">
            <a:avLst/>
          </a:prstGeom>
          <a:solidFill>
            <a:srgbClr val="1a1214"/>
          </a:solidFill>
          <a:ln w="15875">
            <a:solidFill>
              <a:srgbClr val="4caf7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25560" bIns="25560" anchor="ctr">
            <a:noAutofit/>
          </a:bodyPr>
          <a:p>
            <a:pPr algn="ctr">
              <a:lnSpc>
                <a:spcPct val="100000"/>
              </a:lnSpc>
              <a:buNone/>
            </a:pPr>
            <a:r>
              <a:rPr b="1" lang="en-US" sz="900" spc="-1" strike="noStrike">
                <a:solidFill>
                  <a:srgbClr val="4caf7d"/>
                </a:solidFill>
                <a:latin typeface="Calibri"/>
                <a:ea typeface="Arial"/>
              </a:rPr>
              <a:t>6</a:t>
            </a:r>
            <a:endParaRPr b="0" lang="en-US" sz="900" spc="-1" strike="noStrike">
              <a:latin typeface="Arial"/>
            </a:endParaRPr>
          </a:p>
        </p:txBody>
      </p:sp>
      <p:sp>
        <p:nvSpPr>
          <p:cNvPr id="384" name="Connector 367"/>
          <p:cNvSpPr/>
          <p:nvPr/>
        </p:nvSpPr>
        <p:spPr>
          <a:xfrm>
            <a:off x="6720840" y="4343400"/>
            <a:ext cx="360" cy="182520"/>
          </a:xfrm>
          <a:prstGeom prst="line">
            <a:avLst/>
          </a:prstGeom>
          <a:ln w="12700">
            <a:solidFill>
              <a:srgbClr val="8a7278"/>
            </a:solidFill>
            <a:round/>
          </a:ln>
        </p:spPr>
        <p:style>
          <a:lnRef idx="2">
            <a:schemeClr val="accent1"/>
          </a:lnRef>
          <a:fillRef idx="0">
            <a:schemeClr val="accent1"/>
          </a:fillRef>
          <a:effectRef idx="1">
            <a:schemeClr val="accent1"/>
          </a:effectRef>
          <a:fontRef idx="minor"/>
        </p:style>
      </p:sp>
      <p:sp>
        <p:nvSpPr>
          <p:cNvPr id="385" name="Isosceles Triangle 368"/>
          <p:cNvSpPr/>
          <p:nvPr/>
        </p:nvSpPr>
        <p:spPr>
          <a:xfrm rot="10800000">
            <a:off x="6666480" y="4508640"/>
            <a:ext cx="109080" cy="109080"/>
          </a:xfrm>
          <a:prstGeom prst="triangle">
            <a:avLst>
              <a:gd name="adj" fmla="val 50000"/>
            </a:avLst>
          </a:prstGeom>
          <a:solidFill>
            <a:srgbClr val="8a727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386" name="TextBox 341"/>
          <p:cNvSpPr/>
          <p:nvPr/>
        </p:nvSpPr>
        <p:spPr>
          <a:xfrm>
            <a:off x="3967920" y="288000"/>
            <a:ext cx="1189440" cy="13716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1" lang="en-US" sz="900" spc="-1" strike="noStrike">
                <a:solidFill>
                  <a:srgbClr val="ffb84d"/>
                </a:solidFill>
                <a:latin typeface="Calibri"/>
                <a:ea typeface="Arial"/>
              </a:rPr>
              <a:t>TECHNICAL DEPTH</a:t>
            </a:r>
            <a:endParaRPr b="0" lang="en-US" sz="900" spc="-1" strike="noStrike">
              <a:latin typeface="Arial"/>
            </a:endParaRPr>
          </a:p>
        </p:txBody>
      </p:sp>
      <p:sp>
        <p:nvSpPr>
          <p:cNvPr id="387" name="TextBox 342"/>
          <p:cNvSpPr/>
          <p:nvPr/>
        </p:nvSpPr>
        <p:spPr>
          <a:xfrm>
            <a:off x="796320" y="493920"/>
            <a:ext cx="7532280" cy="304920"/>
          </a:xfrm>
          <a:prstGeom prst="rect">
            <a:avLst/>
          </a:prstGeom>
          <a:noFill/>
          <a:ln w="0">
            <a:noFill/>
          </a:ln>
        </p:spPr>
        <p:style>
          <a:lnRef idx="0"/>
          <a:fillRef idx="0"/>
          <a:effectRef idx="0"/>
          <a:fontRef idx="minor"/>
        </p:style>
        <p:txBody>
          <a:bodyPr wrap="none" lIns="0" rIns="0" tIns="0" bIns="0" anchor="t">
            <a:spAutoFit/>
          </a:bodyPr>
          <a:p>
            <a:pPr>
              <a:lnSpc>
                <a:spcPct val="100000"/>
              </a:lnSpc>
              <a:buNone/>
            </a:pPr>
            <a:r>
              <a:rPr b="1" lang="en-US" sz="2000" spc="-1" strike="noStrike">
                <a:solidFill>
                  <a:srgbClr val="ffffff"/>
                </a:solidFill>
                <a:latin typeface="Calibri"/>
                <a:ea typeface="Arial"/>
              </a:rPr>
              <a:t>Pola Programming Frontend — Props, Hooks &amp; State</a:t>
            </a:r>
            <a:endParaRPr b="0" lang="en-US" sz="2000" spc="-1" strike="noStrike">
              <a:latin typeface="Arial"/>
            </a:endParaRPr>
          </a:p>
        </p:txBody>
      </p:sp>
      <p:sp>
        <p:nvSpPr>
          <p:cNvPr id="388" name="Rounded Rectangle 343"/>
          <p:cNvSpPr/>
          <p:nvPr/>
        </p:nvSpPr>
        <p:spPr>
          <a:xfrm>
            <a:off x="448200" y="1188720"/>
            <a:ext cx="4205520" cy="1690920"/>
          </a:xfrm>
          <a:prstGeom prst="roundRect">
            <a:avLst>
              <a:gd name="adj" fmla="val 6000"/>
            </a:avLst>
          </a:prstGeom>
          <a:solidFill>
            <a:srgbClr val="241819"/>
          </a:solidFill>
          <a:ln w="12700">
            <a:solidFill>
              <a:srgbClr val="f5533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89" name="TextBox 344"/>
          <p:cNvSpPr/>
          <p:nvPr/>
        </p:nvSpPr>
        <p:spPr>
          <a:xfrm>
            <a:off x="667440" y="1316880"/>
            <a:ext cx="3766680" cy="19044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lang="en-US" sz="1250" spc="-1" strike="noStrike">
                <a:solidFill>
                  <a:srgbClr val="f5533d"/>
                </a:solidFill>
                <a:latin typeface="Calibri"/>
                <a:ea typeface="Arial"/>
              </a:rPr>
              <a:t>Props &amp; Component Composition</a:t>
            </a:r>
            <a:endParaRPr b="0" lang="en-US" sz="1250" spc="-1" strike="noStrike">
              <a:latin typeface="Arial"/>
            </a:endParaRPr>
          </a:p>
        </p:txBody>
      </p:sp>
      <p:sp>
        <p:nvSpPr>
          <p:cNvPr id="390" name="TextBox 345"/>
          <p:cNvSpPr/>
          <p:nvPr/>
        </p:nvSpPr>
        <p:spPr>
          <a:xfrm>
            <a:off x="667440" y="1645920"/>
            <a:ext cx="3766680" cy="28944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0" lang="en-US" sz="950" spc="-1" strike="noStrike">
                <a:solidFill>
                  <a:srgbClr val="c4b2b6"/>
                </a:solidFill>
                <a:latin typeface="Calibri"/>
                <a:ea typeface="Arial"/>
              </a:rPr>
              <a:t>Komponen menerima data lewat props, tidak mengambil sendiri.</a:t>
            </a:r>
            <a:endParaRPr b="0" lang="en-US" sz="950" spc="-1" strike="noStrike">
              <a:latin typeface="Arial"/>
            </a:endParaRPr>
          </a:p>
        </p:txBody>
      </p:sp>
      <p:sp>
        <p:nvSpPr>
          <p:cNvPr id="391" name="Rounded Rectangle 346"/>
          <p:cNvSpPr/>
          <p:nvPr/>
        </p:nvSpPr>
        <p:spPr>
          <a:xfrm>
            <a:off x="667440" y="2011680"/>
            <a:ext cx="3766680" cy="730800"/>
          </a:xfrm>
          <a:prstGeom prst="roundRect">
            <a:avLst>
              <a:gd name="adj" fmla="val 6000"/>
            </a:avLst>
          </a:prstGeom>
          <a:solidFill>
            <a:srgbClr val="140e0f"/>
          </a:solidFill>
          <a:ln w="12700">
            <a:solidFill>
              <a:srgbClr val="3a2a2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rIns="76320" tIns="50760" bIns="50760" anchor="ctr">
            <a:noAutofit/>
          </a:bodyPr>
          <a:p>
            <a:pPr>
              <a:lnSpc>
                <a:spcPct val="100000"/>
              </a:lnSpc>
              <a:buNone/>
            </a:pPr>
            <a:r>
              <a:rPr b="0" lang="en-US" sz="850" spc="-1" strike="noStrike">
                <a:solidFill>
                  <a:srgbClr val="9fe6a0"/>
                </a:solidFill>
                <a:latin typeface="Consolas"/>
                <a:ea typeface="Arial"/>
              </a:rPr>
              <a:t>&lt;QrisPaymentModal</a:t>
            </a:r>
            <a:endParaRPr b="0" lang="en-US" sz="850" spc="-1" strike="noStrike">
              <a:latin typeface="Arial"/>
            </a:endParaRPr>
          </a:p>
          <a:p>
            <a:pPr>
              <a:lnSpc>
                <a:spcPct val="100000"/>
              </a:lnSpc>
              <a:buNone/>
            </a:pPr>
            <a:r>
              <a:rPr b="0" lang="en-US" sz="850" spc="-1" strike="noStrike">
                <a:solidFill>
                  <a:srgbClr val="c4b2b6"/>
                </a:solidFill>
                <a:latin typeface="Consolas"/>
                <a:ea typeface="Arial"/>
              </a:rPr>
              <a:t>  </a:t>
            </a:r>
            <a:r>
              <a:rPr b="0" lang="en-US" sz="850" spc="-1" strike="noStrike">
                <a:solidFill>
                  <a:srgbClr val="c4b2b6"/>
                </a:solidFill>
                <a:latin typeface="Consolas"/>
                <a:ea typeface="Arial"/>
              </a:rPr>
              <a:t>open={bool} orderNumber={str}</a:t>
            </a:r>
            <a:endParaRPr b="0" lang="en-US" sz="850" spc="-1" strike="noStrike">
              <a:latin typeface="Arial"/>
            </a:endParaRPr>
          </a:p>
          <a:p>
            <a:pPr>
              <a:lnSpc>
                <a:spcPct val="100000"/>
              </a:lnSpc>
              <a:buNone/>
            </a:pPr>
            <a:r>
              <a:rPr b="0" lang="en-US" sz="850" spc="-1" strike="noStrike">
                <a:solidFill>
                  <a:srgbClr val="c4b2b6"/>
                </a:solidFill>
                <a:latin typeface="Consolas"/>
                <a:ea typeface="Arial"/>
              </a:rPr>
              <a:t>  </a:t>
            </a:r>
            <a:r>
              <a:rPr b="0" lang="en-US" sz="850" spc="-1" strike="noStrike">
                <a:solidFill>
                  <a:srgbClr val="c4b2b6"/>
                </a:solidFill>
                <a:latin typeface="Consolas"/>
                <a:ea typeface="Arial"/>
              </a:rPr>
              <a:t>amount={num} qrPayload={str}</a:t>
            </a:r>
            <a:endParaRPr b="0" lang="en-US" sz="850" spc="-1" strike="noStrike">
              <a:latin typeface="Arial"/>
            </a:endParaRPr>
          </a:p>
          <a:p>
            <a:pPr>
              <a:lnSpc>
                <a:spcPct val="100000"/>
              </a:lnSpc>
              <a:buNone/>
            </a:pPr>
            <a:r>
              <a:rPr b="0" lang="en-US" sz="850" spc="-1" strike="noStrike">
                <a:solidFill>
                  <a:srgbClr val="c4b2b6"/>
                </a:solidFill>
                <a:latin typeface="Consolas"/>
                <a:ea typeface="Arial"/>
              </a:rPr>
              <a:t>  </a:t>
            </a:r>
            <a:r>
              <a:rPr b="0" lang="en-US" sz="850" spc="-1" strike="noStrike">
                <a:solidFill>
                  <a:srgbClr val="c4b2b6"/>
                </a:solidFill>
                <a:latin typeface="Consolas"/>
                <a:ea typeface="Arial"/>
              </a:rPr>
              <a:t>expiresAt={iso} onClose={fn} /&gt;</a:t>
            </a:r>
            <a:endParaRPr b="0" lang="en-US" sz="850" spc="-1" strike="noStrike">
              <a:latin typeface="Arial"/>
            </a:endParaRPr>
          </a:p>
        </p:txBody>
      </p:sp>
      <p:sp>
        <p:nvSpPr>
          <p:cNvPr id="392" name="Rounded Rectangle 347"/>
          <p:cNvSpPr/>
          <p:nvPr/>
        </p:nvSpPr>
        <p:spPr>
          <a:xfrm>
            <a:off x="4837320" y="1188720"/>
            <a:ext cx="4205520" cy="1690920"/>
          </a:xfrm>
          <a:prstGeom prst="roundRect">
            <a:avLst>
              <a:gd name="adj" fmla="val 6000"/>
            </a:avLst>
          </a:prstGeom>
          <a:solidFill>
            <a:srgbClr val="241819"/>
          </a:solidFill>
          <a:ln w="12700">
            <a:solidFill>
              <a:srgbClr val="ffb84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93" name="TextBox 348"/>
          <p:cNvSpPr/>
          <p:nvPr/>
        </p:nvSpPr>
        <p:spPr>
          <a:xfrm>
            <a:off x="5056560" y="1316880"/>
            <a:ext cx="3766680" cy="19044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lang="en-US" sz="1250" spc="-1" strike="noStrike">
                <a:solidFill>
                  <a:srgbClr val="ffb84d"/>
                </a:solidFill>
                <a:latin typeface="Calibri"/>
                <a:ea typeface="Arial"/>
              </a:rPr>
              <a:t>Custom Hooks (TanStack Query)</a:t>
            </a:r>
            <a:endParaRPr b="0" lang="en-US" sz="1250" spc="-1" strike="noStrike">
              <a:latin typeface="Arial"/>
            </a:endParaRPr>
          </a:p>
        </p:txBody>
      </p:sp>
      <p:sp>
        <p:nvSpPr>
          <p:cNvPr id="394" name="TextBox 349"/>
          <p:cNvSpPr/>
          <p:nvPr/>
        </p:nvSpPr>
        <p:spPr>
          <a:xfrm>
            <a:off x="5056560" y="1645920"/>
            <a:ext cx="3766680" cy="28944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0" lang="en-US" sz="950" spc="-1" strike="noStrike">
                <a:solidFill>
                  <a:srgbClr val="c4b2b6"/>
                </a:solidFill>
                <a:latin typeface="Calibri"/>
                <a:ea typeface="Arial"/>
              </a:rPr>
              <a:t>Fetch + cache logic dibungkus 1x, dipakai ulang di banyak komponen.</a:t>
            </a:r>
            <a:endParaRPr b="0" lang="en-US" sz="950" spc="-1" strike="noStrike">
              <a:latin typeface="Arial"/>
            </a:endParaRPr>
          </a:p>
        </p:txBody>
      </p:sp>
      <p:sp>
        <p:nvSpPr>
          <p:cNvPr id="395" name="Rounded Rectangle 350"/>
          <p:cNvSpPr/>
          <p:nvPr/>
        </p:nvSpPr>
        <p:spPr>
          <a:xfrm>
            <a:off x="5056560" y="2011680"/>
            <a:ext cx="3766680" cy="730800"/>
          </a:xfrm>
          <a:prstGeom prst="roundRect">
            <a:avLst>
              <a:gd name="adj" fmla="val 6000"/>
            </a:avLst>
          </a:prstGeom>
          <a:solidFill>
            <a:srgbClr val="140e0f"/>
          </a:solidFill>
          <a:ln w="12700">
            <a:solidFill>
              <a:srgbClr val="3a2a2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rIns="76320" tIns="50760" bIns="50760" anchor="ctr">
            <a:noAutofit/>
          </a:bodyPr>
          <a:p>
            <a:pPr>
              <a:lnSpc>
                <a:spcPct val="100000"/>
              </a:lnSpc>
              <a:buNone/>
            </a:pPr>
            <a:r>
              <a:rPr b="0" lang="en-US" sz="850" spc="-1" strike="noStrike">
                <a:solidFill>
                  <a:srgbClr val="9fe6a0"/>
                </a:solidFill>
                <a:latin typeface="Consolas"/>
                <a:ea typeface="Arial"/>
              </a:rPr>
              <a:t>useCategories()  useProducts()</a:t>
            </a:r>
            <a:endParaRPr b="0" lang="en-US" sz="850" spc="-1" strike="noStrike">
              <a:latin typeface="Arial"/>
            </a:endParaRPr>
          </a:p>
          <a:p>
            <a:pPr>
              <a:lnSpc>
                <a:spcPct val="100000"/>
              </a:lnSpc>
              <a:buNone/>
            </a:pPr>
            <a:r>
              <a:rPr b="0" lang="en-US" sz="850" spc="-1" strike="noStrike">
                <a:solidFill>
                  <a:srgbClr val="c4b2b6"/>
                </a:solidFill>
                <a:latin typeface="Consolas"/>
                <a:ea typeface="Arial"/>
              </a:rPr>
              <a:t>useCheckout()    useLogin()</a:t>
            </a:r>
            <a:endParaRPr b="0" lang="en-US" sz="850" spc="-1" strike="noStrike">
              <a:latin typeface="Arial"/>
            </a:endParaRPr>
          </a:p>
          <a:p>
            <a:pPr>
              <a:lnSpc>
                <a:spcPct val="100000"/>
              </a:lnSpc>
              <a:buNone/>
            </a:pPr>
            <a:r>
              <a:rPr b="0" lang="en-US" sz="850" spc="-1" strike="noStrike">
                <a:solidFill>
                  <a:srgbClr val="c4b2b6"/>
                </a:solidFill>
                <a:latin typeface="Consolas"/>
                <a:ea typeface="Arial"/>
              </a:rPr>
              <a:t>→ </a:t>
            </a:r>
            <a:r>
              <a:rPr b="0" lang="en-US" sz="850" spc="-1" strike="noStrike">
                <a:solidFill>
                  <a:srgbClr val="c4b2b6"/>
                </a:solidFill>
                <a:latin typeface="Consolas"/>
                <a:ea typeface="Arial"/>
              </a:rPr>
              <a:t>queryKey, staleness, refetch</a:t>
            </a:r>
            <a:endParaRPr b="0" lang="en-US" sz="850" spc="-1" strike="noStrike">
              <a:latin typeface="Arial"/>
            </a:endParaRPr>
          </a:p>
          <a:p>
            <a:pPr>
              <a:lnSpc>
                <a:spcPct val="100000"/>
              </a:lnSpc>
              <a:buNone/>
            </a:pPr>
            <a:r>
              <a:rPr b="0" lang="en-US" sz="850" spc="-1" strike="noStrike">
                <a:solidFill>
                  <a:srgbClr val="c4b2b6"/>
                </a:solidFill>
                <a:latin typeface="Consolas"/>
                <a:ea typeface="Arial"/>
              </a:rPr>
              <a:t>  </a:t>
            </a:r>
            <a:r>
              <a:rPr b="0" lang="en-US" sz="850" spc="-1" strike="noStrike">
                <a:solidFill>
                  <a:srgbClr val="c4b2b6"/>
                </a:solidFill>
                <a:latin typeface="Consolas"/>
                <a:ea typeface="Arial"/>
              </a:rPr>
              <a:t>otomatis ditangani hook</a:t>
            </a:r>
            <a:endParaRPr b="0" lang="en-US" sz="850" spc="-1" strike="noStrike">
              <a:latin typeface="Arial"/>
            </a:endParaRPr>
          </a:p>
        </p:txBody>
      </p:sp>
      <p:sp>
        <p:nvSpPr>
          <p:cNvPr id="396" name="Rounded Rectangle 351"/>
          <p:cNvSpPr/>
          <p:nvPr/>
        </p:nvSpPr>
        <p:spPr>
          <a:xfrm>
            <a:off x="448200" y="3063240"/>
            <a:ext cx="4205520" cy="1690920"/>
          </a:xfrm>
          <a:prstGeom prst="roundRect">
            <a:avLst>
              <a:gd name="adj" fmla="val 6000"/>
            </a:avLst>
          </a:prstGeom>
          <a:solidFill>
            <a:srgbClr val="241819"/>
          </a:solidFill>
          <a:ln w="12700">
            <a:solidFill>
              <a:srgbClr val="4caf7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97" name="TextBox 352"/>
          <p:cNvSpPr/>
          <p:nvPr/>
        </p:nvSpPr>
        <p:spPr>
          <a:xfrm>
            <a:off x="667440" y="3191400"/>
            <a:ext cx="3766680" cy="19044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lang="en-US" sz="1250" spc="-1" strike="noStrike">
                <a:solidFill>
                  <a:srgbClr val="4caf7d"/>
                </a:solidFill>
                <a:latin typeface="Calibri"/>
                <a:ea typeface="Arial"/>
              </a:rPr>
              <a:t>Context API — Global State</a:t>
            </a:r>
            <a:endParaRPr b="0" lang="en-US" sz="1250" spc="-1" strike="noStrike">
              <a:latin typeface="Arial"/>
            </a:endParaRPr>
          </a:p>
        </p:txBody>
      </p:sp>
      <p:sp>
        <p:nvSpPr>
          <p:cNvPr id="398" name="TextBox 353"/>
          <p:cNvSpPr/>
          <p:nvPr/>
        </p:nvSpPr>
        <p:spPr>
          <a:xfrm>
            <a:off x="667440" y="3520440"/>
            <a:ext cx="3766680" cy="14472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0" lang="en-US" sz="950" spc="-1" strike="noStrike">
                <a:solidFill>
                  <a:srgbClr val="c4b2b6"/>
                </a:solidFill>
                <a:latin typeface="Calibri"/>
                <a:ea typeface="Arial"/>
              </a:rPr>
              <a:t>Hindari prop drilling untuk state lintas halaman.</a:t>
            </a:r>
            <a:endParaRPr b="0" lang="en-US" sz="950" spc="-1" strike="noStrike">
              <a:latin typeface="Arial"/>
            </a:endParaRPr>
          </a:p>
        </p:txBody>
      </p:sp>
      <p:sp>
        <p:nvSpPr>
          <p:cNvPr id="399" name="Rounded Rectangle 354"/>
          <p:cNvSpPr/>
          <p:nvPr/>
        </p:nvSpPr>
        <p:spPr>
          <a:xfrm>
            <a:off x="667440" y="3886200"/>
            <a:ext cx="3766680" cy="730800"/>
          </a:xfrm>
          <a:prstGeom prst="roundRect">
            <a:avLst>
              <a:gd name="adj" fmla="val 6000"/>
            </a:avLst>
          </a:prstGeom>
          <a:solidFill>
            <a:srgbClr val="140e0f"/>
          </a:solidFill>
          <a:ln w="12700">
            <a:solidFill>
              <a:srgbClr val="3a2a2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rIns="76320" tIns="50760" bIns="50760" anchor="ctr">
            <a:noAutofit/>
          </a:bodyPr>
          <a:p>
            <a:pPr>
              <a:lnSpc>
                <a:spcPct val="100000"/>
              </a:lnSpc>
              <a:buNone/>
            </a:pPr>
            <a:r>
              <a:rPr b="0" lang="en-US" sz="850" spc="-1" strike="noStrike">
                <a:solidFill>
                  <a:srgbClr val="9fe6a0"/>
                </a:solidFill>
                <a:latin typeface="Consolas"/>
                <a:ea typeface="Arial"/>
              </a:rPr>
              <a:t>AuthContext → user, login(), logout()</a:t>
            </a:r>
            <a:endParaRPr b="0" lang="en-US" sz="850" spc="-1" strike="noStrike">
              <a:latin typeface="Arial"/>
            </a:endParaRPr>
          </a:p>
          <a:p>
            <a:pPr>
              <a:lnSpc>
                <a:spcPct val="100000"/>
              </a:lnSpc>
              <a:buNone/>
            </a:pPr>
            <a:r>
              <a:rPr b="0" lang="en-US" sz="850" spc="-1" strike="noStrike">
                <a:solidFill>
                  <a:srgbClr val="c4b2b6"/>
                </a:solidFill>
                <a:latin typeface="Consolas"/>
                <a:ea typeface="Arial"/>
              </a:rPr>
              <a:t>CartContext → items, addItem(),</a:t>
            </a:r>
            <a:endParaRPr b="0" lang="en-US" sz="850" spc="-1" strike="noStrike">
              <a:latin typeface="Arial"/>
            </a:endParaRPr>
          </a:p>
          <a:p>
            <a:pPr>
              <a:lnSpc>
                <a:spcPct val="100000"/>
              </a:lnSpc>
              <a:buNone/>
            </a:pPr>
            <a:r>
              <a:rPr b="0" lang="en-US" sz="850" spc="-1" strike="noStrike">
                <a:solidFill>
                  <a:srgbClr val="c4b2b6"/>
                </a:solidFill>
                <a:latin typeface="Consolas"/>
                <a:ea typeface="Arial"/>
              </a:rPr>
              <a:t>              </a:t>
            </a:r>
            <a:r>
              <a:rPr b="0" lang="en-US" sz="850" spc="-1" strike="noStrike">
                <a:solidFill>
                  <a:srgbClr val="c4b2b6"/>
                </a:solidFill>
                <a:latin typeface="Consolas"/>
                <a:ea typeface="Arial"/>
              </a:rPr>
              <a:t>removeItem()</a:t>
            </a:r>
            <a:endParaRPr b="0" lang="en-US" sz="850" spc="-1" strike="noStrike">
              <a:latin typeface="Arial"/>
            </a:endParaRPr>
          </a:p>
        </p:txBody>
      </p:sp>
      <p:sp>
        <p:nvSpPr>
          <p:cNvPr id="400" name="Rounded Rectangle 355"/>
          <p:cNvSpPr/>
          <p:nvPr/>
        </p:nvSpPr>
        <p:spPr>
          <a:xfrm>
            <a:off x="4837320" y="3063240"/>
            <a:ext cx="4205520" cy="1690920"/>
          </a:xfrm>
          <a:prstGeom prst="roundRect">
            <a:avLst>
              <a:gd name="adj" fmla="val 6000"/>
            </a:avLst>
          </a:prstGeom>
          <a:solidFill>
            <a:srgbClr val="241819"/>
          </a:solidFill>
          <a:ln w="12700">
            <a:solidFill>
              <a:srgbClr val="e06c8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401" name="TextBox 356"/>
          <p:cNvSpPr/>
          <p:nvPr/>
        </p:nvSpPr>
        <p:spPr>
          <a:xfrm>
            <a:off x="5056560" y="3191400"/>
            <a:ext cx="3766680" cy="19044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1" lang="en-US" sz="1250" spc="-1" strike="noStrike">
                <a:solidFill>
                  <a:srgbClr val="e06c8a"/>
                </a:solidFill>
                <a:latin typeface="Calibri"/>
                <a:ea typeface="Arial"/>
              </a:rPr>
              <a:t>Optimistic UI Update</a:t>
            </a:r>
            <a:endParaRPr b="0" lang="en-US" sz="1250" spc="-1" strike="noStrike">
              <a:latin typeface="Arial"/>
            </a:endParaRPr>
          </a:p>
        </p:txBody>
      </p:sp>
      <p:sp>
        <p:nvSpPr>
          <p:cNvPr id="402" name="TextBox 357"/>
          <p:cNvSpPr/>
          <p:nvPr/>
        </p:nvSpPr>
        <p:spPr>
          <a:xfrm>
            <a:off x="5056560" y="3520440"/>
            <a:ext cx="3766680" cy="289440"/>
          </a:xfrm>
          <a:prstGeom prst="rect">
            <a:avLst/>
          </a:prstGeom>
          <a:noFill/>
          <a:ln w="0">
            <a:noFill/>
          </a:ln>
        </p:spPr>
        <p:style>
          <a:lnRef idx="0"/>
          <a:fillRef idx="0"/>
          <a:effectRef idx="0"/>
          <a:fontRef idx="minor"/>
        </p:style>
        <p:txBody>
          <a:bodyPr lIns="0" rIns="0" tIns="0" bIns="0" anchor="t">
            <a:spAutoFit/>
          </a:bodyPr>
          <a:p>
            <a:pPr>
              <a:lnSpc>
                <a:spcPct val="100000"/>
              </a:lnSpc>
              <a:buNone/>
            </a:pPr>
            <a:r>
              <a:rPr b="0" lang="en-US" sz="950" spc="-1" strike="noStrike">
                <a:solidFill>
                  <a:srgbClr val="c4b2b6"/>
                </a:solidFill>
                <a:latin typeface="Calibri"/>
                <a:ea typeface="Arial"/>
              </a:rPr>
              <a:t>UI update duluan sebelum respons server, rollback kalau gagal.</a:t>
            </a:r>
            <a:endParaRPr b="0" lang="en-US" sz="950" spc="-1" strike="noStrike">
              <a:latin typeface="Arial"/>
            </a:endParaRPr>
          </a:p>
        </p:txBody>
      </p:sp>
      <p:sp>
        <p:nvSpPr>
          <p:cNvPr id="403" name="Rounded Rectangle 358"/>
          <p:cNvSpPr/>
          <p:nvPr/>
        </p:nvSpPr>
        <p:spPr>
          <a:xfrm>
            <a:off x="5056560" y="3886200"/>
            <a:ext cx="3766680" cy="730800"/>
          </a:xfrm>
          <a:prstGeom prst="roundRect">
            <a:avLst>
              <a:gd name="adj" fmla="val 6000"/>
            </a:avLst>
          </a:prstGeom>
          <a:solidFill>
            <a:srgbClr val="140e0f"/>
          </a:solidFill>
          <a:ln w="12700">
            <a:solidFill>
              <a:srgbClr val="3a2a2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6320" rIns="76320" tIns="50760" bIns="50760" anchor="ctr">
            <a:noAutofit/>
          </a:bodyPr>
          <a:p>
            <a:pPr>
              <a:lnSpc>
                <a:spcPct val="100000"/>
              </a:lnSpc>
              <a:buNone/>
            </a:pPr>
            <a:r>
              <a:rPr b="0" lang="en-US" sz="850" spc="-1" strike="noStrike">
                <a:solidFill>
                  <a:srgbClr val="9fe6a0"/>
                </a:solidFill>
                <a:latin typeface="Consolas"/>
                <a:ea typeface="Arial"/>
              </a:rPr>
              <a:t>useUpdateOrderStatus({</a:t>
            </a:r>
            <a:endParaRPr b="0" lang="en-US" sz="850" spc="-1" strike="noStrike">
              <a:latin typeface="Arial"/>
            </a:endParaRPr>
          </a:p>
          <a:p>
            <a:pPr>
              <a:lnSpc>
                <a:spcPct val="100000"/>
              </a:lnSpc>
              <a:buNone/>
            </a:pPr>
            <a:r>
              <a:rPr b="0" lang="en-US" sz="850" spc="-1" strike="noStrike">
                <a:solidFill>
                  <a:srgbClr val="c4b2b6"/>
                </a:solidFill>
                <a:latin typeface="Consolas"/>
                <a:ea typeface="Arial"/>
              </a:rPr>
              <a:t>  </a:t>
            </a:r>
            <a:r>
              <a:rPr b="0" lang="en-US" sz="850" spc="-1" strike="noStrike">
                <a:solidFill>
                  <a:srgbClr val="c4b2b6"/>
                </a:solidFill>
                <a:latin typeface="Consolas"/>
                <a:ea typeface="Arial"/>
              </a:rPr>
              <a:t>onMutate: update cache board</a:t>
            </a:r>
            <a:endParaRPr b="0" lang="en-US" sz="850" spc="-1" strike="noStrike">
              <a:latin typeface="Arial"/>
            </a:endParaRPr>
          </a:p>
          <a:p>
            <a:pPr>
              <a:lnSpc>
                <a:spcPct val="100000"/>
              </a:lnSpc>
              <a:buNone/>
            </a:pPr>
            <a:r>
              <a:rPr b="0" lang="en-US" sz="850" spc="-1" strike="noStrike">
                <a:solidFill>
                  <a:srgbClr val="c4b2b6"/>
                </a:solidFill>
                <a:latin typeface="Consolas"/>
                <a:ea typeface="Arial"/>
              </a:rPr>
              <a:t>  </a:t>
            </a:r>
            <a:r>
              <a:rPr b="0" lang="en-US" sz="850" spc="-1" strike="noStrike">
                <a:solidFill>
                  <a:srgbClr val="c4b2b6"/>
                </a:solidFill>
                <a:latin typeface="Consolas"/>
                <a:ea typeface="Arial"/>
              </a:rPr>
              <a:t>onError:  rollback ke state lama</a:t>
            </a:r>
            <a:endParaRPr b="0" lang="en-US" sz="850" spc="-1" strike="noStrike">
              <a:latin typeface="Arial"/>
            </a:endParaRPr>
          </a:p>
          <a:p>
            <a:pPr>
              <a:lnSpc>
                <a:spcPct val="100000"/>
              </a:lnSpc>
              <a:buNone/>
            </a:pPr>
            <a:r>
              <a:rPr b="0" lang="en-US" sz="850" spc="-1" strike="noStrike">
                <a:solidFill>
                  <a:srgbClr val="c4b2b6"/>
                </a:solidFill>
                <a:latin typeface="Consolas"/>
                <a:ea typeface="Arial"/>
              </a:rPr>
              <a:t>})</a:t>
            </a:r>
            <a:endParaRPr b="0" lang="en-US" sz="85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404" name="Google Shape;377;p27"/>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ISSUE &amp; PROBLEM SOLVING</a:t>
            </a:r>
            <a:endParaRPr b="0" lang="en-US" sz="800" spc="-1" strike="noStrike">
              <a:latin typeface="Arial"/>
            </a:endParaRPr>
          </a:p>
        </p:txBody>
      </p:sp>
      <p:sp>
        <p:nvSpPr>
          <p:cNvPr id="405" name="Google Shape;378;p27"/>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Challenge → Solution → Impact</a:t>
            </a:r>
            <a:endParaRPr b="0" lang="en-US" sz="2300" spc="-1" strike="noStrike">
              <a:latin typeface="Arial"/>
            </a:endParaRPr>
          </a:p>
        </p:txBody>
      </p:sp>
      <p:sp>
        <p:nvSpPr>
          <p:cNvPr id="406" name="Google Shape;379;p27"/>
          <p:cNvSpPr/>
          <p:nvPr/>
        </p:nvSpPr>
        <p:spPr>
          <a:xfrm>
            <a:off x="665280" y="1179720"/>
            <a:ext cx="2331000" cy="170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8a7278"/>
                </a:solidFill>
                <a:latin typeface="Calibri"/>
                <a:ea typeface="Calibri"/>
              </a:rPr>
              <a:t>CHALLENGE</a:t>
            </a:r>
            <a:endParaRPr b="0" lang="en-US" sz="800" spc="-1" strike="noStrike">
              <a:latin typeface="Arial"/>
            </a:endParaRPr>
          </a:p>
        </p:txBody>
      </p:sp>
      <p:sp>
        <p:nvSpPr>
          <p:cNvPr id="407" name="Google Shape;380;p27"/>
          <p:cNvSpPr/>
          <p:nvPr/>
        </p:nvSpPr>
        <p:spPr>
          <a:xfrm>
            <a:off x="3291840" y="1179720"/>
            <a:ext cx="3153960" cy="170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8a7278"/>
                </a:solidFill>
                <a:latin typeface="Calibri"/>
                <a:ea typeface="Calibri"/>
              </a:rPr>
              <a:t>SOLUTION</a:t>
            </a:r>
            <a:endParaRPr b="0" lang="en-US" sz="800" spc="-1" strike="noStrike">
              <a:latin typeface="Arial"/>
            </a:endParaRPr>
          </a:p>
        </p:txBody>
      </p:sp>
      <p:sp>
        <p:nvSpPr>
          <p:cNvPr id="408" name="Google Shape;381;p27"/>
          <p:cNvSpPr/>
          <p:nvPr/>
        </p:nvSpPr>
        <p:spPr>
          <a:xfrm>
            <a:off x="6652440" y="1179720"/>
            <a:ext cx="1782360" cy="1706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8a7278"/>
                </a:solidFill>
                <a:latin typeface="Calibri"/>
                <a:ea typeface="Calibri"/>
              </a:rPr>
              <a:t>IMPACT</a:t>
            </a:r>
            <a:endParaRPr b="0" lang="en-US" sz="800" spc="-1" strike="noStrike">
              <a:latin typeface="Arial"/>
            </a:endParaRPr>
          </a:p>
        </p:txBody>
      </p:sp>
      <p:sp>
        <p:nvSpPr>
          <p:cNvPr id="409" name="Google Shape;382;p27"/>
          <p:cNvSpPr/>
          <p:nvPr/>
        </p:nvSpPr>
        <p:spPr>
          <a:xfrm>
            <a:off x="445680" y="1385280"/>
            <a:ext cx="8228880" cy="719280"/>
          </a:xfrm>
          <a:prstGeom prst="roundRect">
            <a:avLst>
              <a:gd name="adj" fmla="val 9524"/>
            </a:avLst>
          </a:prstGeom>
          <a:solidFill>
            <a:srgbClr val="2b1f22"/>
          </a:solidFill>
          <a:ln w="12700">
            <a:solidFill>
              <a:srgbClr val="2b1f22"/>
            </a:solidFill>
            <a:round/>
          </a:ln>
        </p:spPr>
        <p:style>
          <a:lnRef idx="0"/>
          <a:fillRef idx="0"/>
          <a:effectRef idx="0"/>
          <a:fontRef idx="minor"/>
        </p:style>
      </p:sp>
      <p:sp>
        <p:nvSpPr>
          <p:cNvPr id="410" name="Google Shape;383;p27"/>
          <p:cNvSpPr/>
          <p:nvPr/>
        </p:nvSpPr>
        <p:spPr>
          <a:xfrm>
            <a:off x="665280" y="1385280"/>
            <a:ext cx="246816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1" lang="en" sz="900" spc="-1" strike="noStrike">
                <a:solidFill>
                  <a:srgbClr val="ffffff"/>
                </a:solidFill>
                <a:latin typeface="Calibri"/>
                <a:ea typeface="Calibri"/>
              </a:rPr>
              <a:t>Dua pelanggan memesan porsi terakhir bersamaan</a:t>
            </a:r>
            <a:endParaRPr b="0" lang="en-US" sz="900" spc="-1" strike="noStrike">
              <a:latin typeface="Arial"/>
            </a:endParaRPr>
          </a:p>
        </p:txBody>
      </p:sp>
      <p:sp>
        <p:nvSpPr>
          <p:cNvPr id="411" name="Google Shape;384;p27"/>
          <p:cNvSpPr/>
          <p:nvPr/>
        </p:nvSpPr>
        <p:spPr>
          <a:xfrm>
            <a:off x="3291840" y="1385280"/>
            <a:ext cx="322272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0" lang="en" sz="900" spc="-1" strike="noStrike">
                <a:solidFill>
                  <a:srgbClr val="c4b2b6"/>
                </a:solidFill>
                <a:latin typeface="Calibri"/>
                <a:ea typeface="Calibri"/>
              </a:rPr>
              <a:t>DB transaction + lockForUpdate pada baris produk, dikunci berurutan menurut id agar tidak terjadi deadlock</a:t>
            </a:r>
            <a:endParaRPr b="0" lang="en-US" sz="900" spc="-1" strike="noStrike">
              <a:latin typeface="Arial"/>
            </a:endParaRPr>
          </a:p>
        </p:txBody>
      </p:sp>
      <p:sp>
        <p:nvSpPr>
          <p:cNvPr id="412" name="Google Shape;385;p27"/>
          <p:cNvSpPr/>
          <p:nvPr/>
        </p:nvSpPr>
        <p:spPr>
          <a:xfrm>
            <a:off x="6652440" y="1385280"/>
            <a:ext cx="185112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0" lang="en" sz="900" spc="-1" strike="noStrike">
                <a:solidFill>
                  <a:srgbClr val="ffb84d"/>
                </a:solidFill>
                <a:latin typeface="Calibri"/>
                <a:ea typeface="Calibri"/>
              </a:rPr>
              <a:t>Stok tidak pernah minus</a:t>
            </a:r>
            <a:endParaRPr b="0" lang="en-US" sz="900" spc="-1" strike="noStrike">
              <a:latin typeface="Arial"/>
            </a:endParaRPr>
          </a:p>
        </p:txBody>
      </p:sp>
      <p:sp>
        <p:nvSpPr>
          <p:cNvPr id="413" name="Google Shape;386;p27"/>
          <p:cNvSpPr/>
          <p:nvPr/>
        </p:nvSpPr>
        <p:spPr>
          <a:xfrm>
            <a:off x="445680" y="2174040"/>
            <a:ext cx="8228880" cy="719280"/>
          </a:xfrm>
          <a:prstGeom prst="roundRect">
            <a:avLst>
              <a:gd name="adj" fmla="val 9524"/>
            </a:avLst>
          </a:prstGeom>
          <a:solidFill>
            <a:srgbClr val="3a2a2e"/>
          </a:solidFill>
          <a:ln w="12700">
            <a:solidFill>
              <a:srgbClr val="3a2a2e"/>
            </a:solidFill>
            <a:round/>
          </a:ln>
        </p:spPr>
        <p:style>
          <a:lnRef idx="0"/>
          <a:fillRef idx="0"/>
          <a:effectRef idx="0"/>
          <a:fontRef idx="minor"/>
        </p:style>
      </p:sp>
      <p:sp>
        <p:nvSpPr>
          <p:cNvPr id="414" name="Google Shape;387;p27"/>
          <p:cNvSpPr/>
          <p:nvPr/>
        </p:nvSpPr>
        <p:spPr>
          <a:xfrm>
            <a:off x="665280" y="2174040"/>
            <a:ext cx="246816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1" lang="en" sz="900" spc="-1" strike="noStrike">
                <a:solidFill>
                  <a:srgbClr val="ffffff"/>
                </a:solidFill>
                <a:latin typeface="Calibri"/>
                <a:ea typeface="Calibri"/>
              </a:rPr>
              <a:t>Nomor antrean harus unik dan reset tiap hari operasional</a:t>
            </a:r>
            <a:endParaRPr b="0" lang="en-US" sz="900" spc="-1" strike="noStrike">
              <a:latin typeface="Arial"/>
            </a:endParaRPr>
          </a:p>
        </p:txBody>
      </p:sp>
      <p:sp>
        <p:nvSpPr>
          <p:cNvPr id="415" name="Google Shape;388;p27"/>
          <p:cNvSpPr/>
          <p:nvPr/>
        </p:nvSpPr>
        <p:spPr>
          <a:xfrm>
            <a:off x="3291840" y="2174040"/>
            <a:ext cx="322272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0" lang="en" sz="900" spc="-1" strike="noStrike">
                <a:solidFill>
                  <a:srgbClr val="c4b2b6"/>
                </a:solidFill>
                <a:latin typeface="Calibri"/>
                <a:ea typeface="Calibri"/>
              </a:rPr>
              <a:t>Nomor digenerate di dalam transaksi yang sama, dijamin unique index (business_date, queue_number)</a:t>
            </a:r>
            <a:endParaRPr b="0" lang="en-US" sz="900" spc="-1" strike="noStrike">
              <a:latin typeface="Arial"/>
            </a:endParaRPr>
          </a:p>
        </p:txBody>
      </p:sp>
      <p:sp>
        <p:nvSpPr>
          <p:cNvPr id="416" name="Google Shape;389;p27"/>
          <p:cNvSpPr/>
          <p:nvPr/>
        </p:nvSpPr>
        <p:spPr>
          <a:xfrm>
            <a:off x="6652440" y="2174040"/>
            <a:ext cx="185112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0" lang="en" sz="900" spc="-1" strike="noStrike">
                <a:solidFill>
                  <a:srgbClr val="ffb84d"/>
                </a:solidFill>
                <a:latin typeface="Calibri"/>
                <a:ea typeface="Calibri"/>
              </a:rPr>
              <a:t>Tidak ada nomor ganda di jam ramai</a:t>
            </a:r>
            <a:endParaRPr b="0" lang="en-US" sz="900" spc="-1" strike="noStrike">
              <a:latin typeface="Arial"/>
            </a:endParaRPr>
          </a:p>
        </p:txBody>
      </p:sp>
      <p:sp>
        <p:nvSpPr>
          <p:cNvPr id="417" name="Google Shape;390;p27"/>
          <p:cNvSpPr/>
          <p:nvPr/>
        </p:nvSpPr>
        <p:spPr>
          <a:xfrm>
            <a:off x="445680" y="2962800"/>
            <a:ext cx="8228880" cy="719280"/>
          </a:xfrm>
          <a:prstGeom prst="roundRect">
            <a:avLst>
              <a:gd name="adj" fmla="val 9524"/>
            </a:avLst>
          </a:prstGeom>
          <a:solidFill>
            <a:srgbClr val="2b1f22"/>
          </a:solidFill>
          <a:ln w="12700">
            <a:solidFill>
              <a:srgbClr val="2b1f22"/>
            </a:solidFill>
            <a:round/>
          </a:ln>
        </p:spPr>
        <p:style>
          <a:lnRef idx="0"/>
          <a:fillRef idx="0"/>
          <a:effectRef idx="0"/>
          <a:fontRef idx="minor"/>
        </p:style>
      </p:sp>
      <p:sp>
        <p:nvSpPr>
          <p:cNvPr id="418" name="Google Shape;391;p27"/>
          <p:cNvSpPr/>
          <p:nvPr/>
        </p:nvSpPr>
        <p:spPr>
          <a:xfrm>
            <a:off x="665280" y="2962800"/>
            <a:ext cx="246816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1" lang="en" sz="900" spc="-1" strike="noStrike">
                <a:solidFill>
                  <a:srgbClr val="ffffff"/>
                </a:solidFill>
                <a:latin typeface="Calibri"/>
                <a:ea typeface="Calibri"/>
              </a:rPr>
              <a:t>Pembatalan pesanan membuat stok tidak sinkron</a:t>
            </a:r>
            <a:endParaRPr b="0" lang="en-US" sz="900" spc="-1" strike="noStrike">
              <a:latin typeface="Arial"/>
            </a:endParaRPr>
          </a:p>
        </p:txBody>
      </p:sp>
      <p:sp>
        <p:nvSpPr>
          <p:cNvPr id="419" name="Google Shape;392;p27"/>
          <p:cNvSpPr/>
          <p:nvPr/>
        </p:nvSpPr>
        <p:spPr>
          <a:xfrm>
            <a:off x="3291840" y="2962800"/>
            <a:ext cx="322272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0" lang="en" sz="900" spc="-1" strike="noStrike">
                <a:solidFill>
                  <a:srgbClr val="c4b2b6"/>
                </a:solidFill>
                <a:latin typeface="Calibri"/>
                <a:ea typeface="Calibri"/>
              </a:rPr>
              <a:t>stock_movements sebagai ledger; kolom stock hanya cache yang bisa direkonsiliasi kapan saja</a:t>
            </a:r>
            <a:endParaRPr b="0" lang="en-US" sz="900" spc="-1" strike="noStrike">
              <a:latin typeface="Arial"/>
            </a:endParaRPr>
          </a:p>
        </p:txBody>
      </p:sp>
      <p:sp>
        <p:nvSpPr>
          <p:cNvPr id="420" name="Google Shape;393;p27"/>
          <p:cNvSpPr/>
          <p:nvPr/>
        </p:nvSpPr>
        <p:spPr>
          <a:xfrm>
            <a:off x="6652440" y="2962800"/>
            <a:ext cx="185112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0" lang="en" sz="900" spc="-1" strike="noStrike">
                <a:solidFill>
                  <a:srgbClr val="ffb84d"/>
                </a:solidFill>
                <a:latin typeface="Calibri"/>
                <a:ea typeface="Calibri"/>
              </a:rPr>
              <a:t>Setiap perubahan stok bisa ditelusuri</a:t>
            </a:r>
            <a:endParaRPr b="0" lang="en-US" sz="900" spc="-1" strike="noStrike">
              <a:latin typeface="Arial"/>
            </a:endParaRPr>
          </a:p>
        </p:txBody>
      </p:sp>
      <p:sp>
        <p:nvSpPr>
          <p:cNvPr id="421" name="Google Shape;394;p27"/>
          <p:cNvSpPr/>
          <p:nvPr/>
        </p:nvSpPr>
        <p:spPr>
          <a:xfrm>
            <a:off x="445680" y="3751200"/>
            <a:ext cx="8228880" cy="719280"/>
          </a:xfrm>
          <a:prstGeom prst="roundRect">
            <a:avLst>
              <a:gd name="adj" fmla="val 9524"/>
            </a:avLst>
          </a:prstGeom>
          <a:solidFill>
            <a:srgbClr val="3a2a2e"/>
          </a:solidFill>
          <a:ln w="12700">
            <a:solidFill>
              <a:srgbClr val="3a2a2e"/>
            </a:solidFill>
            <a:round/>
          </a:ln>
        </p:spPr>
        <p:style>
          <a:lnRef idx="0"/>
          <a:fillRef idx="0"/>
          <a:effectRef idx="0"/>
          <a:fontRef idx="minor"/>
        </p:style>
      </p:sp>
      <p:sp>
        <p:nvSpPr>
          <p:cNvPr id="422" name="Google Shape;395;p27"/>
          <p:cNvSpPr/>
          <p:nvPr/>
        </p:nvSpPr>
        <p:spPr>
          <a:xfrm>
            <a:off x="665280" y="3751200"/>
            <a:ext cx="246816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1" lang="en" sz="900" spc="-1" strike="noStrike">
                <a:solidFill>
                  <a:srgbClr val="ffffff"/>
                </a:solidFill>
                <a:latin typeface="Calibri"/>
                <a:ea typeface="Calibri"/>
              </a:rPr>
              <a:t>Pelanggan harus tahu pesanannya siap tanpa refresh manual</a:t>
            </a:r>
            <a:endParaRPr b="0" lang="en-US" sz="900" spc="-1" strike="noStrike">
              <a:latin typeface="Arial"/>
            </a:endParaRPr>
          </a:p>
        </p:txBody>
      </p:sp>
      <p:sp>
        <p:nvSpPr>
          <p:cNvPr id="423" name="Google Shape;396;p27"/>
          <p:cNvSpPr/>
          <p:nvPr/>
        </p:nvSpPr>
        <p:spPr>
          <a:xfrm>
            <a:off x="3291840" y="3751200"/>
            <a:ext cx="322272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0" lang="en" sz="900" spc="-1" strike="noStrike">
                <a:solidFill>
                  <a:srgbClr val="c4b2b6"/>
                </a:solidFill>
                <a:latin typeface="Calibri"/>
                <a:ea typeface="Calibri"/>
              </a:rPr>
              <a:t>Polling terjadwal via TanStack Query + endpoint status ringan, invalidasi cache saat status berubah</a:t>
            </a:r>
            <a:endParaRPr b="0" lang="en-US" sz="900" spc="-1" strike="noStrike">
              <a:latin typeface="Arial"/>
            </a:endParaRPr>
          </a:p>
        </p:txBody>
      </p:sp>
      <p:sp>
        <p:nvSpPr>
          <p:cNvPr id="424" name="Google Shape;397;p27"/>
          <p:cNvSpPr/>
          <p:nvPr/>
        </p:nvSpPr>
        <p:spPr>
          <a:xfrm>
            <a:off x="6652440" y="3751200"/>
            <a:ext cx="1851120" cy="719280"/>
          </a:xfrm>
          <a:prstGeom prst="rect">
            <a:avLst/>
          </a:prstGeom>
          <a:noFill/>
          <a:ln w="0">
            <a:noFill/>
          </a:ln>
        </p:spPr>
        <p:style>
          <a:lnRef idx="0"/>
          <a:fillRef idx="0"/>
          <a:effectRef idx="0"/>
          <a:fontRef idx="minor"/>
        </p:style>
        <p:txBody>
          <a:bodyPr lIns="0" rIns="0" tIns="0" bIns="0" anchor="ctr">
            <a:noAutofit/>
          </a:bodyPr>
          <a:p>
            <a:pPr>
              <a:lnSpc>
                <a:spcPct val="130000"/>
              </a:lnSpc>
              <a:buNone/>
              <a:tabLst>
                <a:tab algn="l" pos="0"/>
              </a:tabLst>
            </a:pPr>
            <a:r>
              <a:rPr b="0" lang="en" sz="900" spc="-1" strike="noStrike">
                <a:solidFill>
                  <a:srgbClr val="ffb84d"/>
                </a:solidFill>
                <a:latin typeface="Calibri"/>
                <a:ea typeface="Calibri"/>
              </a:rPr>
              <a:t>Status terlihat tanpa aksi pelanggan</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425" name="Google Shape;403;p28"/>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PROSES DEVELOPMENT</a:t>
            </a:r>
            <a:endParaRPr b="0" lang="en-US" sz="800" spc="-1" strike="noStrike">
              <a:latin typeface="Arial"/>
            </a:endParaRPr>
          </a:p>
        </p:txBody>
      </p:sp>
      <p:sp>
        <p:nvSpPr>
          <p:cNvPr id="426" name="Google Shape;404;p28"/>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Empat Fase Pengerjaan</a:t>
            </a:r>
            <a:endParaRPr b="0" lang="en-US" sz="2300" spc="-1" strike="noStrike">
              <a:latin typeface="Arial"/>
            </a:endParaRPr>
          </a:p>
        </p:txBody>
      </p:sp>
      <p:sp>
        <p:nvSpPr>
          <p:cNvPr id="427" name="Google Shape;405;p28"/>
          <p:cNvSpPr/>
          <p:nvPr/>
        </p:nvSpPr>
        <p:spPr>
          <a:xfrm>
            <a:off x="445680" y="1474560"/>
            <a:ext cx="1953720" cy="2331000"/>
          </a:xfrm>
          <a:prstGeom prst="roundRect">
            <a:avLst>
              <a:gd name="adj" fmla="val 3509"/>
            </a:avLst>
          </a:prstGeom>
          <a:solidFill>
            <a:srgbClr val="2b1f22"/>
          </a:solidFill>
          <a:ln w="12700">
            <a:solidFill>
              <a:srgbClr val="2b1f22"/>
            </a:solidFill>
            <a:round/>
          </a:ln>
        </p:spPr>
        <p:style>
          <a:lnRef idx="0"/>
          <a:fillRef idx="0"/>
          <a:effectRef idx="0"/>
          <a:fontRef idx="minor"/>
        </p:style>
      </p:sp>
      <p:sp>
        <p:nvSpPr>
          <p:cNvPr id="428" name="Google Shape;406;p28"/>
          <p:cNvSpPr/>
          <p:nvPr/>
        </p:nvSpPr>
        <p:spPr>
          <a:xfrm>
            <a:off x="1258560" y="1303200"/>
            <a:ext cx="328320" cy="328320"/>
          </a:xfrm>
          <a:prstGeom prst="ellipse">
            <a:avLst/>
          </a:prstGeom>
          <a:solidFill>
            <a:srgbClr val="ffb84d"/>
          </a:solidFill>
          <a:ln w="38100">
            <a:solidFill>
              <a:srgbClr val="1a1214"/>
            </a:solidFill>
            <a:round/>
          </a:ln>
        </p:spPr>
        <p:style>
          <a:lnRef idx="0"/>
          <a:fillRef idx="0"/>
          <a:effectRef idx="0"/>
          <a:fontRef idx="minor"/>
        </p:style>
      </p:sp>
      <p:sp>
        <p:nvSpPr>
          <p:cNvPr id="429" name="Google Shape;407;p28"/>
          <p:cNvSpPr/>
          <p:nvPr/>
        </p:nvSpPr>
        <p:spPr>
          <a:xfrm>
            <a:off x="1258560" y="1303200"/>
            <a:ext cx="328320" cy="3283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100" spc="-1" strike="noStrike">
                <a:solidFill>
                  <a:srgbClr val="1a1214"/>
                </a:solidFill>
                <a:latin typeface="Calibri"/>
                <a:ea typeface="Calibri"/>
              </a:rPr>
              <a:t>1</a:t>
            </a:r>
            <a:endParaRPr b="0" lang="en-US" sz="1100" spc="-1" strike="noStrike">
              <a:latin typeface="Arial"/>
            </a:endParaRPr>
          </a:p>
        </p:txBody>
      </p:sp>
      <p:sp>
        <p:nvSpPr>
          <p:cNvPr id="430" name="Google Shape;408;p28"/>
          <p:cNvSpPr/>
          <p:nvPr/>
        </p:nvSpPr>
        <p:spPr>
          <a:xfrm>
            <a:off x="637920" y="1783080"/>
            <a:ext cx="156960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Minggu 1</a:t>
            </a:r>
            <a:endParaRPr b="0" lang="en-US" sz="800" spc="-1" strike="noStrike">
              <a:latin typeface="Arial"/>
            </a:endParaRPr>
          </a:p>
        </p:txBody>
      </p:sp>
      <p:sp>
        <p:nvSpPr>
          <p:cNvPr id="431" name="Google Shape;409;p28"/>
          <p:cNvSpPr/>
          <p:nvPr/>
        </p:nvSpPr>
        <p:spPr>
          <a:xfrm>
            <a:off x="637920" y="1989000"/>
            <a:ext cx="1569600" cy="259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Fondasi</a:t>
            </a:r>
            <a:endParaRPr b="0" lang="en-US" sz="1100" spc="-1" strike="noStrike">
              <a:latin typeface="Arial"/>
            </a:endParaRPr>
          </a:p>
        </p:txBody>
      </p:sp>
      <p:sp>
        <p:nvSpPr>
          <p:cNvPr id="432" name="Google Shape;410;p28"/>
          <p:cNvSpPr/>
          <p:nvPr/>
        </p:nvSpPr>
        <p:spPr>
          <a:xfrm>
            <a:off x="637920" y="2297520"/>
            <a:ext cx="1569600" cy="130248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Database Migration / Schema Versioning, Database Migration / Schema Versioning, Stateless Security / JWT Authentication, Method Security / RBAC Guard, Spring MVC + Spring Data JPA CRUD Service</a:t>
            </a:r>
            <a:endParaRPr b="0" lang="en-US" sz="900" spc="-1" strike="noStrike">
              <a:latin typeface="Arial"/>
            </a:endParaRPr>
          </a:p>
        </p:txBody>
      </p:sp>
      <p:sp>
        <p:nvSpPr>
          <p:cNvPr id="433" name="Google Shape;411;p28"/>
          <p:cNvSpPr/>
          <p:nvPr/>
        </p:nvSpPr>
        <p:spPr>
          <a:xfrm>
            <a:off x="2537640" y="1474560"/>
            <a:ext cx="1953720" cy="2331000"/>
          </a:xfrm>
          <a:prstGeom prst="roundRect">
            <a:avLst>
              <a:gd name="adj" fmla="val 3509"/>
            </a:avLst>
          </a:prstGeom>
          <a:solidFill>
            <a:srgbClr val="2b1f22"/>
          </a:solidFill>
          <a:ln w="12700">
            <a:solidFill>
              <a:srgbClr val="2b1f22"/>
            </a:solidFill>
            <a:round/>
          </a:ln>
        </p:spPr>
        <p:style>
          <a:lnRef idx="0"/>
          <a:fillRef idx="0"/>
          <a:effectRef idx="0"/>
          <a:fontRef idx="minor"/>
        </p:style>
      </p:sp>
      <p:sp>
        <p:nvSpPr>
          <p:cNvPr id="434" name="Google Shape;412;p28"/>
          <p:cNvSpPr/>
          <p:nvPr/>
        </p:nvSpPr>
        <p:spPr>
          <a:xfrm>
            <a:off x="3350160" y="1303200"/>
            <a:ext cx="328320" cy="328320"/>
          </a:xfrm>
          <a:prstGeom prst="ellipse">
            <a:avLst/>
          </a:prstGeom>
          <a:solidFill>
            <a:srgbClr val="ffb84d"/>
          </a:solidFill>
          <a:ln w="38100">
            <a:solidFill>
              <a:srgbClr val="1a1214"/>
            </a:solidFill>
            <a:round/>
          </a:ln>
        </p:spPr>
        <p:style>
          <a:lnRef idx="0"/>
          <a:fillRef idx="0"/>
          <a:effectRef idx="0"/>
          <a:fontRef idx="minor"/>
        </p:style>
      </p:sp>
      <p:sp>
        <p:nvSpPr>
          <p:cNvPr id="435" name="Google Shape;413;p28"/>
          <p:cNvSpPr/>
          <p:nvPr/>
        </p:nvSpPr>
        <p:spPr>
          <a:xfrm>
            <a:off x="3350160" y="1303200"/>
            <a:ext cx="328320" cy="3283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100" spc="-1" strike="noStrike">
                <a:solidFill>
                  <a:srgbClr val="1a1214"/>
                </a:solidFill>
                <a:latin typeface="Calibri"/>
                <a:ea typeface="Calibri"/>
              </a:rPr>
              <a:t>2</a:t>
            </a:r>
            <a:endParaRPr b="0" lang="en-US" sz="1100" spc="-1" strike="noStrike">
              <a:latin typeface="Arial"/>
            </a:endParaRPr>
          </a:p>
        </p:txBody>
      </p:sp>
      <p:sp>
        <p:nvSpPr>
          <p:cNvPr id="436" name="Google Shape;414;p28"/>
          <p:cNvSpPr/>
          <p:nvPr/>
        </p:nvSpPr>
        <p:spPr>
          <a:xfrm>
            <a:off x="2729520" y="1783080"/>
            <a:ext cx="156960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Minggu 2</a:t>
            </a:r>
            <a:endParaRPr b="0" lang="en-US" sz="800" spc="-1" strike="noStrike">
              <a:latin typeface="Arial"/>
            </a:endParaRPr>
          </a:p>
        </p:txBody>
      </p:sp>
      <p:sp>
        <p:nvSpPr>
          <p:cNvPr id="437" name="Google Shape;415;p28"/>
          <p:cNvSpPr/>
          <p:nvPr/>
        </p:nvSpPr>
        <p:spPr>
          <a:xfrm>
            <a:off x="2729520" y="1989000"/>
            <a:ext cx="1569600" cy="259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Transaksi</a:t>
            </a:r>
            <a:endParaRPr b="0" lang="en-US" sz="1100" spc="-1" strike="noStrike">
              <a:latin typeface="Arial"/>
            </a:endParaRPr>
          </a:p>
        </p:txBody>
      </p:sp>
      <p:sp>
        <p:nvSpPr>
          <p:cNvPr id="438" name="Google Shape;416;p28"/>
          <p:cNvSpPr/>
          <p:nvPr/>
        </p:nvSpPr>
        <p:spPr>
          <a:xfrm>
            <a:off x="2729520" y="2297520"/>
            <a:ext cx="1569600" cy="130248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StockService + ledger, QueueService, OrderService dengan lock, endpoint checkout &amp; status, unit test stok</a:t>
            </a:r>
            <a:endParaRPr b="0" lang="en-US" sz="900" spc="-1" strike="noStrike">
              <a:latin typeface="Arial"/>
            </a:endParaRPr>
          </a:p>
        </p:txBody>
      </p:sp>
      <p:sp>
        <p:nvSpPr>
          <p:cNvPr id="439" name="Google Shape;417;p28"/>
          <p:cNvSpPr/>
          <p:nvPr/>
        </p:nvSpPr>
        <p:spPr>
          <a:xfrm>
            <a:off x="4629240" y="1474560"/>
            <a:ext cx="1953720" cy="2331000"/>
          </a:xfrm>
          <a:prstGeom prst="roundRect">
            <a:avLst>
              <a:gd name="adj" fmla="val 3509"/>
            </a:avLst>
          </a:prstGeom>
          <a:solidFill>
            <a:srgbClr val="2b1f22"/>
          </a:solidFill>
          <a:ln w="12700">
            <a:solidFill>
              <a:srgbClr val="2b1f22"/>
            </a:solidFill>
            <a:round/>
          </a:ln>
        </p:spPr>
        <p:style>
          <a:lnRef idx="0"/>
          <a:fillRef idx="0"/>
          <a:effectRef idx="0"/>
          <a:fontRef idx="minor"/>
        </p:style>
      </p:sp>
      <p:sp>
        <p:nvSpPr>
          <p:cNvPr id="440" name="Google Shape;418;p28"/>
          <p:cNvSpPr/>
          <p:nvPr/>
        </p:nvSpPr>
        <p:spPr>
          <a:xfrm>
            <a:off x="5441760" y="1303200"/>
            <a:ext cx="328320" cy="328320"/>
          </a:xfrm>
          <a:prstGeom prst="ellipse">
            <a:avLst/>
          </a:prstGeom>
          <a:solidFill>
            <a:srgbClr val="ffb84d"/>
          </a:solidFill>
          <a:ln w="38100">
            <a:solidFill>
              <a:srgbClr val="1a1214"/>
            </a:solidFill>
            <a:round/>
          </a:ln>
        </p:spPr>
        <p:style>
          <a:lnRef idx="0"/>
          <a:fillRef idx="0"/>
          <a:effectRef idx="0"/>
          <a:fontRef idx="minor"/>
        </p:style>
      </p:sp>
      <p:sp>
        <p:nvSpPr>
          <p:cNvPr id="441" name="Google Shape;419;p28"/>
          <p:cNvSpPr/>
          <p:nvPr/>
        </p:nvSpPr>
        <p:spPr>
          <a:xfrm>
            <a:off x="5441760" y="1303200"/>
            <a:ext cx="328320" cy="3283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100" spc="-1" strike="noStrike">
                <a:solidFill>
                  <a:srgbClr val="1a1214"/>
                </a:solidFill>
                <a:latin typeface="Calibri"/>
                <a:ea typeface="Calibri"/>
              </a:rPr>
              <a:t>3</a:t>
            </a:r>
            <a:endParaRPr b="0" lang="en-US" sz="1100" spc="-1" strike="noStrike">
              <a:latin typeface="Arial"/>
            </a:endParaRPr>
          </a:p>
        </p:txBody>
      </p:sp>
      <p:sp>
        <p:nvSpPr>
          <p:cNvPr id="442" name="Google Shape;420;p28"/>
          <p:cNvSpPr/>
          <p:nvPr/>
        </p:nvSpPr>
        <p:spPr>
          <a:xfrm>
            <a:off x="4821120" y="1783080"/>
            <a:ext cx="156960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Minggu 3</a:t>
            </a:r>
            <a:endParaRPr b="0" lang="en-US" sz="800" spc="-1" strike="noStrike">
              <a:latin typeface="Arial"/>
            </a:endParaRPr>
          </a:p>
        </p:txBody>
      </p:sp>
      <p:sp>
        <p:nvSpPr>
          <p:cNvPr id="443" name="Google Shape;421;p28"/>
          <p:cNvSpPr/>
          <p:nvPr/>
        </p:nvSpPr>
        <p:spPr>
          <a:xfrm>
            <a:off x="4821120" y="1989000"/>
            <a:ext cx="1569600" cy="259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Frontend Pelanggan</a:t>
            </a:r>
            <a:endParaRPr b="0" lang="en-US" sz="1100" spc="-1" strike="noStrike">
              <a:latin typeface="Arial"/>
            </a:endParaRPr>
          </a:p>
        </p:txBody>
      </p:sp>
      <p:sp>
        <p:nvSpPr>
          <p:cNvPr id="444" name="Google Shape;422;p28"/>
          <p:cNvSpPr/>
          <p:nvPr/>
        </p:nvSpPr>
        <p:spPr>
          <a:xfrm>
            <a:off x="4821120" y="2297520"/>
            <a:ext cx="1569600" cy="130248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Setup Vite + Tailwind, katalog + filter, keranjang persist, checkout, halaman antrean dengan polling</a:t>
            </a:r>
            <a:endParaRPr b="0" lang="en-US" sz="900" spc="-1" strike="noStrike">
              <a:latin typeface="Arial"/>
            </a:endParaRPr>
          </a:p>
        </p:txBody>
      </p:sp>
      <p:sp>
        <p:nvSpPr>
          <p:cNvPr id="445" name="Google Shape;423;p28"/>
          <p:cNvSpPr/>
          <p:nvPr/>
        </p:nvSpPr>
        <p:spPr>
          <a:xfrm>
            <a:off x="6720840" y="1474560"/>
            <a:ext cx="1953720" cy="2331000"/>
          </a:xfrm>
          <a:prstGeom prst="roundRect">
            <a:avLst>
              <a:gd name="adj" fmla="val 3509"/>
            </a:avLst>
          </a:prstGeom>
          <a:solidFill>
            <a:srgbClr val="2b1f22"/>
          </a:solidFill>
          <a:ln w="12700">
            <a:solidFill>
              <a:srgbClr val="2b1f22"/>
            </a:solidFill>
            <a:round/>
          </a:ln>
        </p:spPr>
        <p:style>
          <a:lnRef idx="0"/>
          <a:fillRef idx="0"/>
          <a:effectRef idx="0"/>
          <a:fontRef idx="minor"/>
        </p:style>
      </p:sp>
      <p:sp>
        <p:nvSpPr>
          <p:cNvPr id="446" name="Google Shape;424;p28"/>
          <p:cNvSpPr/>
          <p:nvPr/>
        </p:nvSpPr>
        <p:spPr>
          <a:xfrm>
            <a:off x="7533360" y="1303200"/>
            <a:ext cx="328320" cy="328320"/>
          </a:xfrm>
          <a:prstGeom prst="ellipse">
            <a:avLst/>
          </a:prstGeom>
          <a:solidFill>
            <a:srgbClr val="ffb84d"/>
          </a:solidFill>
          <a:ln w="38100">
            <a:solidFill>
              <a:srgbClr val="1a1214"/>
            </a:solidFill>
            <a:round/>
          </a:ln>
        </p:spPr>
        <p:style>
          <a:lnRef idx="0"/>
          <a:fillRef idx="0"/>
          <a:effectRef idx="0"/>
          <a:fontRef idx="minor"/>
        </p:style>
      </p:sp>
      <p:sp>
        <p:nvSpPr>
          <p:cNvPr id="447" name="Google Shape;425;p28"/>
          <p:cNvSpPr/>
          <p:nvPr/>
        </p:nvSpPr>
        <p:spPr>
          <a:xfrm>
            <a:off x="7533360" y="1303200"/>
            <a:ext cx="328320" cy="328320"/>
          </a:xfrm>
          <a:prstGeom prst="rect">
            <a:avLst/>
          </a:prstGeom>
          <a:noFill/>
          <a:ln w="0">
            <a:noFill/>
          </a:ln>
        </p:spPr>
        <p:style>
          <a:lnRef idx="0"/>
          <a:fillRef idx="0"/>
          <a:effectRef idx="0"/>
          <a:fontRef idx="minor"/>
        </p:style>
        <p:txBody>
          <a:bodyPr lIns="0" rIns="0" tIns="0" bIns="0" anchor="ctr">
            <a:noAutofit/>
          </a:bodyPr>
          <a:p>
            <a:pPr algn="ctr">
              <a:lnSpc>
                <a:spcPct val="100000"/>
              </a:lnSpc>
              <a:buNone/>
              <a:tabLst>
                <a:tab algn="l" pos="0"/>
              </a:tabLst>
            </a:pPr>
            <a:r>
              <a:rPr b="1" lang="en" sz="1100" spc="-1" strike="noStrike">
                <a:solidFill>
                  <a:srgbClr val="1a1214"/>
                </a:solidFill>
                <a:latin typeface="Calibri"/>
                <a:ea typeface="Calibri"/>
              </a:rPr>
              <a:t>4</a:t>
            </a:r>
            <a:endParaRPr b="0" lang="en-US" sz="1100" spc="-1" strike="noStrike">
              <a:latin typeface="Arial"/>
            </a:endParaRPr>
          </a:p>
        </p:txBody>
      </p:sp>
      <p:sp>
        <p:nvSpPr>
          <p:cNvPr id="448" name="Google Shape;426;p28"/>
          <p:cNvSpPr/>
          <p:nvPr/>
        </p:nvSpPr>
        <p:spPr>
          <a:xfrm>
            <a:off x="6912720" y="1783080"/>
            <a:ext cx="156960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Minggu 4</a:t>
            </a:r>
            <a:endParaRPr b="0" lang="en-US" sz="800" spc="-1" strike="noStrike">
              <a:latin typeface="Arial"/>
            </a:endParaRPr>
          </a:p>
        </p:txBody>
      </p:sp>
      <p:sp>
        <p:nvSpPr>
          <p:cNvPr id="449" name="Google Shape;427;p28"/>
          <p:cNvSpPr/>
          <p:nvPr/>
        </p:nvSpPr>
        <p:spPr>
          <a:xfrm>
            <a:off x="6912720" y="1989000"/>
            <a:ext cx="1569600" cy="259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ffff"/>
                </a:solidFill>
                <a:latin typeface="Calibri"/>
                <a:ea typeface="Calibri"/>
              </a:rPr>
              <a:t>Admin &amp; Rilis</a:t>
            </a:r>
            <a:endParaRPr b="0" lang="en-US" sz="1100" spc="-1" strike="noStrike">
              <a:latin typeface="Arial"/>
            </a:endParaRPr>
          </a:p>
        </p:txBody>
      </p:sp>
      <p:sp>
        <p:nvSpPr>
          <p:cNvPr id="450" name="Google Shape;428;p28"/>
          <p:cNvSpPr/>
          <p:nvPr/>
        </p:nvSpPr>
        <p:spPr>
          <a:xfrm>
            <a:off x="6912720" y="2297520"/>
            <a:ext cx="1569600" cy="130248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Papan dapur, penyesuaian stok, dashboard laporan, deployment, Swagger, README</a:t>
            </a:r>
            <a:endParaRPr b="0" lang="en-US" sz="900" spc="-1" strike="noStrike">
              <a:latin typeface="Arial"/>
            </a:endParaRPr>
          </a:p>
        </p:txBody>
      </p:sp>
      <p:sp>
        <p:nvSpPr>
          <p:cNvPr id="451" name="Google Shape;429;p28"/>
          <p:cNvSpPr/>
          <p:nvPr/>
        </p:nvSpPr>
        <p:spPr>
          <a:xfrm>
            <a:off x="445680" y="3943440"/>
            <a:ext cx="8228880" cy="513720"/>
          </a:xfrm>
          <a:prstGeom prst="roundRect">
            <a:avLst>
              <a:gd name="adj" fmla="val 13333"/>
            </a:avLst>
          </a:prstGeom>
          <a:solidFill>
            <a:srgbClr val="3a2a2e"/>
          </a:solidFill>
          <a:ln w="12700">
            <a:solidFill>
              <a:srgbClr val="3a2a2e"/>
            </a:solidFill>
            <a:round/>
          </a:ln>
        </p:spPr>
        <p:style>
          <a:lnRef idx="0"/>
          <a:fillRef idx="0"/>
          <a:effectRef idx="0"/>
          <a:fontRef idx="minor"/>
        </p:style>
      </p:sp>
      <p:sp>
        <p:nvSpPr>
          <p:cNvPr id="452" name="Google Shape;430;p28"/>
          <p:cNvSpPr/>
          <p:nvPr/>
        </p:nvSpPr>
        <p:spPr>
          <a:xfrm>
            <a:off x="685800" y="3943440"/>
            <a:ext cx="7749000" cy="5137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900" spc="-1" strike="noStrike">
                <a:solidFill>
                  <a:srgbClr val="c4b2b6"/>
                </a:solidFill>
                <a:latin typeface="Calibri"/>
                <a:ea typeface="Calibri"/>
              </a:rPr>
              <a:t>Prinsip urutan: satu fitur diselesaikan end-to-end (migration → API → UI) sebelum pindah ke fitur berikutnya.</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453" name="Google Shape;436;p29"/>
          <p:cNvSpPr/>
          <p:nvPr/>
        </p:nvSpPr>
        <p:spPr>
          <a:xfrm>
            <a:off x="445680" y="288000"/>
            <a:ext cx="8228880" cy="1911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800" spc="-1" strike="noStrike">
                <a:solidFill>
                  <a:srgbClr val="ffb84d"/>
                </a:solidFill>
                <a:latin typeface="Calibri"/>
                <a:ea typeface="Calibri"/>
              </a:rPr>
              <a:t>NICE TO HAVE</a:t>
            </a:r>
            <a:endParaRPr b="0" lang="en-US" sz="800" spc="-1" strike="noStrike">
              <a:latin typeface="Arial"/>
            </a:endParaRPr>
          </a:p>
        </p:txBody>
      </p:sp>
      <p:sp>
        <p:nvSpPr>
          <p:cNvPr id="454" name="Google Shape;437;p29"/>
          <p:cNvSpPr/>
          <p:nvPr/>
        </p:nvSpPr>
        <p:spPr>
          <a:xfrm>
            <a:off x="445680" y="493920"/>
            <a:ext cx="8228880" cy="4244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2300" spc="-1" strike="noStrike">
                <a:solidFill>
                  <a:srgbClr val="ffffff"/>
                </a:solidFill>
                <a:latin typeface="Calibri"/>
                <a:ea typeface="Calibri"/>
              </a:rPr>
              <a:t>Code Quality, Security &amp; Deployment</a:t>
            </a:r>
            <a:endParaRPr b="0" lang="en-US" sz="2300" spc="-1" strike="noStrike">
              <a:latin typeface="Arial"/>
            </a:endParaRPr>
          </a:p>
        </p:txBody>
      </p:sp>
      <p:sp>
        <p:nvSpPr>
          <p:cNvPr id="455" name="Google Shape;438;p29"/>
          <p:cNvSpPr/>
          <p:nvPr/>
        </p:nvSpPr>
        <p:spPr>
          <a:xfrm>
            <a:off x="445680" y="1200240"/>
            <a:ext cx="2625840" cy="2399760"/>
          </a:xfrm>
          <a:prstGeom prst="roundRect">
            <a:avLst>
              <a:gd name="adj" fmla="val 2857"/>
            </a:avLst>
          </a:prstGeom>
          <a:solidFill>
            <a:srgbClr val="2b1f22"/>
          </a:solidFill>
          <a:ln w="12700">
            <a:solidFill>
              <a:srgbClr val="2b1f22"/>
            </a:solidFill>
            <a:round/>
          </a:ln>
        </p:spPr>
        <p:style>
          <a:lnRef idx="0"/>
          <a:fillRef idx="0"/>
          <a:effectRef idx="0"/>
          <a:fontRef idx="minor"/>
        </p:style>
      </p:sp>
      <p:sp>
        <p:nvSpPr>
          <p:cNvPr id="456" name="Google Shape;439;p29"/>
          <p:cNvSpPr/>
          <p:nvPr/>
        </p:nvSpPr>
        <p:spPr>
          <a:xfrm>
            <a:off x="665280" y="1385280"/>
            <a:ext cx="136440" cy="136440"/>
          </a:xfrm>
          <a:prstGeom prst="ellipse">
            <a:avLst/>
          </a:prstGeom>
          <a:solidFill>
            <a:srgbClr val="ffb84d"/>
          </a:solidFill>
          <a:ln w="12700">
            <a:solidFill>
              <a:srgbClr val="ffb84d"/>
            </a:solidFill>
            <a:round/>
          </a:ln>
        </p:spPr>
        <p:style>
          <a:lnRef idx="0"/>
          <a:fillRef idx="0"/>
          <a:effectRef idx="0"/>
          <a:fontRef idx="minor"/>
        </p:style>
      </p:sp>
      <p:sp>
        <p:nvSpPr>
          <p:cNvPr id="457" name="Google Shape;440;p29"/>
          <p:cNvSpPr/>
          <p:nvPr/>
        </p:nvSpPr>
        <p:spPr>
          <a:xfrm>
            <a:off x="884520" y="1316880"/>
            <a:ext cx="1967400" cy="259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300" spc="-1" strike="noStrike">
                <a:solidFill>
                  <a:srgbClr val="ffb84d"/>
                </a:solidFill>
                <a:latin typeface="Calibri"/>
                <a:ea typeface="Calibri"/>
              </a:rPr>
              <a:t>Code Quality</a:t>
            </a:r>
            <a:endParaRPr b="0" lang="en-US" sz="1300" spc="-1" strike="noStrike">
              <a:latin typeface="Arial"/>
            </a:endParaRPr>
          </a:p>
        </p:txBody>
      </p:sp>
      <p:sp>
        <p:nvSpPr>
          <p:cNvPr id="458" name="Google Shape;441;p29"/>
          <p:cNvSpPr/>
          <p:nvPr/>
        </p:nvSpPr>
        <p:spPr>
          <a:xfrm>
            <a:off x="665280" y="1714680"/>
            <a:ext cx="2187000" cy="1885320"/>
          </a:xfrm>
          <a:prstGeom prst="rect">
            <a:avLst/>
          </a:prstGeom>
          <a:noFill/>
          <a:ln w="0">
            <a:noFill/>
          </a:ln>
        </p:spPr>
        <p:style>
          <a:lnRef idx="0"/>
          <a:fillRef idx="0"/>
          <a:effectRef idx="0"/>
          <a:fontRef idx="minor"/>
        </p:style>
        <p:txBody>
          <a:bodyPr lIns="0" rIns="0" tIns="0" bIns="0" anchor="t">
            <a:noAutofit/>
          </a:bodyPr>
          <a:p>
            <a:pPr marL="139680" indent="-146160">
              <a:lnSpc>
                <a:spcPct val="100000"/>
              </a:lnSpc>
              <a:buClr>
                <a:srgbClr val="c4b2b6"/>
              </a:buClr>
              <a:buFont typeface="Calibri"/>
              <a:buChar char="•"/>
            </a:pPr>
            <a:r>
              <a:rPr b="0" lang="en" sz="900" spc="-1" strike="noStrike">
                <a:solidFill>
                  <a:srgbClr val="c4b2b6"/>
                </a:solidFill>
                <a:latin typeface="Calibri"/>
                <a:ea typeface="Calibri"/>
              </a:rPr>
              <a:t>Service layer memisahkan logika bisnis dari controller</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API Resource untuk bentuk response konsisten</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Komponen UI reusable di React</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Konfigurasi lewat .env dan store_settings</a:t>
            </a:r>
            <a:endParaRPr b="0" lang="en-US" sz="900" spc="-1" strike="noStrike">
              <a:latin typeface="Arial"/>
            </a:endParaRPr>
          </a:p>
        </p:txBody>
      </p:sp>
      <p:sp>
        <p:nvSpPr>
          <p:cNvPr id="459" name="Google Shape;442;p29"/>
          <p:cNvSpPr/>
          <p:nvPr/>
        </p:nvSpPr>
        <p:spPr>
          <a:xfrm>
            <a:off x="3243960" y="1200240"/>
            <a:ext cx="2625840" cy="2399760"/>
          </a:xfrm>
          <a:prstGeom prst="roundRect">
            <a:avLst>
              <a:gd name="adj" fmla="val 2857"/>
            </a:avLst>
          </a:prstGeom>
          <a:solidFill>
            <a:srgbClr val="2b1f22"/>
          </a:solidFill>
          <a:ln w="12700">
            <a:solidFill>
              <a:srgbClr val="2b1f22"/>
            </a:solidFill>
            <a:round/>
          </a:ln>
        </p:spPr>
        <p:style>
          <a:lnRef idx="0"/>
          <a:fillRef idx="0"/>
          <a:effectRef idx="0"/>
          <a:fontRef idx="minor"/>
        </p:style>
      </p:sp>
      <p:sp>
        <p:nvSpPr>
          <p:cNvPr id="460" name="Google Shape;443;p29"/>
          <p:cNvSpPr/>
          <p:nvPr/>
        </p:nvSpPr>
        <p:spPr>
          <a:xfrm>
            <a:off x="3463200" y="1385280"/>
            <a:ext cx="136440" cy="136440"/>
          </a:xfrm>
          <a:prstGeom prst="ellipse">
            <a:avLst/>
          </a:prstGeom>
          <a:solidFill>
            <a:srgbClr val="f5533d"/>
          </a:solidFill>
          <a:ln w="12700">
            <a:solidFill>
              <a:srgbClr val="f5533d"/>
            </a:solidFill>
            <a:round/>
          </a:ln>
        </p:spPr>
        <p:style>
          <a:lnRef idx="0"/>
          <a:fillRef idx="0"/>
          <a:effectRef idx="0"/>
          <a:fontRef idx="minor"/>
        </p:style>
      </p:sp>
      <p:sp>
        <p:nvSpPr>
          <p:cNvPr id="461" name="Google Shape;444;p29"/>
          <p:cNvSpPr/>
          <p:nvPr/>
        </p:nvSpPr>
        <p:spPr>
          <a:xfrm>
            <a:off x="3682800" y="1316880"/>
            <a:ext cx="1967400" cy="259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300" spc="-1" strike="noStrike">
                <a:solidFill>
                  <a:srgbClr val="f5533d"/>
                </a:solidFill>
                <a:latin typeface="Calibri"/>
                <a:ea typeface="Calibri"/>
              </a:rPr>
              <a:t>Security</a:t>
            </a:r>
            <a:endParaRPr b="0" lang="en-US" sz="1300" spc="-1" strike="noStrike">
              <a:latin typeface="Arial"/>
            </a:endParaRPr>
          </a:p>
        </p:txBody>
      </p:sp>
      <p:sp>
        <p:nvSpPr>
          <p:cNvPr id="462" name="Google Shape;445;p29"/>
          <p:cNvSpPr/>
          <p:nvPr/>
        </p:nvSpPr>
        <p:spPr>
          <a:xfrm>
            <a:off x="3463200" y="1714680"/>
            <a:ext cx="2187000" cy="1885320"/>
          </a:xfrm>
          <a:prstGeom prst="rect">
            <a:avLst/>
          </a:prstGeom>
          <a:noFill/>
          <a:ln w="0">
            <a:noFill/>
          </a:ln>
        </p:spPr>
        <p:style>
          <a:lnRef idx="0"/>
          <a:fillRef idx="0"/>
          <a:effectRef idx="0"/>
          <a:fontRef idx="minor"/>
        </p:style>
        <p:txBody>
          <a:bodyPr lIns="0" rIns="0" tIns="0" bIns="0" anchor="t">
            <a:noAutofit/>
          </a:bodyPr>
          <a:p>
            <a:pPr marL="171360" indent="-171360">
              <a:lnSpc>
                <a:spcPct val="100000"/>
              </a:lnSpc>
              <a:spcBef>
                <a:spcPts val="499"/>
              </a:spcBef>
              <a:buClr>
                <a:srgbClr val="c4b2b6"/>
              </a:buClr>
              <a:buFont typeface="Calibri"/>
              <a:buChar char="●"/>
            </a:pPr>
            <a:r>
              <a:rPr b="0" lang="en" sz="900" spc="-1" strike="noStrike">
                <a:solidFill>
                  <a:srgbClr val="c4b2b6"/>
                </a:solidFill>
                <a:latin typeface="Calibri"/>
                <a:ea typeface="Calibri"/>
              </a:rPr>
              <a:t>Spring Security JWT + Method Security (RBAC)</a:t>
            </a:r>
            <a:endParaRPr b="0" lang="en-US" sz="900" spc="-1" strike="noStrike">
              <a:latin typeface="Arial"/>
            </a:endParaRPr>
          </a:p>
          <a:p>
            <a:pPr marL="171360" indent="-171360">
              <a:lnSpc>
                <a:spcPct val="100000"/>
              </a:lnSpc>
              <a:buClr>
                <a:srgbClr val="c4b2b6"/>
              </a:buClr>
              <a:buFont typeface="Calibri"/>
              <a:buChar char="●"/>
            </a:pPr>
            <a:r>
              <a:rPr b="0" lang="en" sz="900" spc="-1" strike="noStrike">
                <a:solidFill>
                  <a:srgbClr val="c4b2b6"/>
                </a:solidFill>
                <a:latin typeface="Calibri"/>
                <a:ea typeface="Calibri"/>
              </a:rPr>
              <a:t>Server-side Price Calculation &amp; Revalidation</a:t>
            </a:r>
            <a:endParaRPr b="0" lang="en-US" sz="900" spc="-1" strike="noStrike">
              <a:latin typeface="Arial"/>
            </a:endParaRPr>
          </a:p>
          <a:p>
            <a:pPr marL="171360" indent="-171360">
              <a:lnSpc>
                <a:spcPct val="100000"/>
              </a:lnSpc>
              <a:buClr>
                <a:srgbClr val="c4b2b6"/>
              </a:buClr>
              <a:buFont typeface="Calibri"/>
              <a:buChar char="●"/>
            </a:pPr>
            <a:r>
              <a:rPr b="0" lang="en" sz="900" spc="-1" strike="noStrike">
                <a:solidFill>
                  <a:srgbClr val="c4b2b6"/>
                </a:solidFill>
                <a:latin typeface="Calibri"/>
                <a:ea typeface="Calibri"/>
              </a:rPr>
              <a:t>Opaque Order Reference Generator (UUID / Custom Code)</a:t>
            </a:r>
            <a:endParaRPr b="0" lang="en-US" sz="900" spc="-1" strike="noStrike">
              <a:latin typeface="Arial"/>
            </a:endParaRPr>
          </a:p>
          <a:p>
            <a:pPr marL="171360" indent="-171360">
              <a:lnSpc>
                <a:spcPct val="100000"/>
              </a:lnSpc>
              <a:buClr>
                <a:srgbClr val="c4b2b6"/>
              </a:buClr>
              <a:buFont typeface="Calibri"/>
              <a:buChar char="●"/>
            </a:pPr>
            <a:r>
              <a:rPr b="0" lang="en" sz="900" spc="-1" strike="noStrike">
                <a:solidFill>
                  <a:srgbClr val="c4b2b6"/>
                </a:solidFill>
                <a:latin typeface="Calibri"/>
                <a:ea typeface="Calibri"/>
              </a:rPr>
              <a:t>API Rate Limiting &amp; Throttling (Bucket4j)</a:t>
            </a:r>
            <a:endParaRPr b="0" lang="en-US" sz="900" spc="-1" strike="noStrike">
              <a:latin typeface="Arial"/>
            </a:endParaRPr>
          </a:p>
        </p:txBody>
      </p:sp>
      <p:sp>
        <p:nvSpPr>
          <p:cNvPr id="463" name="Google Shape;446;p29"/>
          <p:cNvSpPr/>
          <p:nvPr/>
        </p:nvSpPr>
        <p:spPr>
          <a:xfrm>
            <a:off x="6041880" y="1200240"/>
            <a:ext cx="2625840" cy="2399760"/>
          </a:xfrm>
          <a:prstGeom prst="roundRect">
            <a:avLst>
              <a:gd name="adj" fmla="val 2857"/>
            </a:avLst>
          </a:prstGeom>
          <a:solidFill>
            <a:srgbClr val="2b1f22"/>
          </a:solidFill>
          <a:ln w="12700">
            <a:solidFill>
              <a:srgbClr val="2b1f22"/>
            </a:solidFill>
            <a:round/>
          </a:ln>
        </p:spPr>
        <p:style>
          <a:lnRef idx="0"/>
          <a:fillRef idx="0"/>
          <a:effectRef idx="0"/>
          <a:fontRef idx="minor"/>
        </p:style>
      </p:sp>
      <p:sp>
        <p:nvSpPr>
          <p:cNvPr id="464" name="Google Shape;447;p29"/>
          <p:cNvSpPr/>
          <p:nvPr/>
        </p:nvSpPr>
        <p:spPr>
          <a:xfrm>
            <a:off x="6261480" y="1385280"/>
            <a:ext cx="136440" cy="136440"/>
          </a:xfrm>
          <a:prstGeom prst="ellipse">
            <a:avLst/>
          </a:prstGeom>
          <a:solidFill>
            <a:srgbClr val="4caf7d"/>
          </a:solidFill>
          <a:ln w="12700">
            <a:solidFill>
              <a:srgbClr val="4caf7d"/>
            </a:solidFill>
            <a:round/>
          </a:ln>
        </p:spPr>
        <p:style>
          <a:lnRef idx="0"/>
          <a:fillRef idx="0"/>
          <a:effectRef idx="0"/>
          <a:fontRef idx="minor"/>
        </p:style>
      </p:sp>
      <p:sp>
        <p:nvSpPr>
          <p:cNvPr id="465" name="Google Shape;448;p29"/>
          <p:cNvSpPr/>
          <p:nvPr/>
        </p:nvSpPr>
        <p:spPr>
          <a:xfrm>
            <a:off x="6480720" y="1316880"/>
            <a:ext cx="1967400" cy="25992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300" spc="-1" strike="noStrike">
                <a:solidFill>
                  <a:srgbClr val="4caf7d"/>
                </a:solidFill>
                <a:latin typeface="Calibri"/>
                <a:ea typeface="Calibri"/>
              </a:rPr>
              <a:t>Testing &amp; Deployment</a:t>
            </a:r>
            <a:endParaRPr b="0" lang="en-US" sz="1300" spc="-1" strike="noStrike">
              <a:latin typeface="Arial"/>
            </a:endParaRPr>
          </a:p>
        </p:txBody>
      </p:sp>
      <p:sp>
        <p:nvSpPr>
          <p:cNvPr id="466" name="Google Shape;449;p29"/>
          <p:cNvSpPr/>
          <p:nvPr/>
        </p:nvSpPr>
        <p:spPr>
          <a:xfrm>
            <a:off x="6261480" y="1714680"/>
            <a:ext cx="2187000" cy="1885320"/>
          </a:xfrm>
          <a:prstGeom prst="rect">
            <a:avLst/>
          </a:prstGeom>
          <a:noFill/>
          <a:ln w="0">
            <a:noFill/>
          </a:ln>
        </p:spPr>
        <p:style>
          <a:lnRef idx="0"/>
          <a:fillRef idx="0"/>
          <a:effectRef idx="0"/>
          <a:fontRef idx="minor"/>
        </p:style>
        <p:txBody>
          <a:bodyPr lIns="0" rIns="0" tIns="0" bIns="0" anchor="t">
            <a:noAutofit/>
          </a:bodyPr>
          <a:p>
            <a:pPr marL="139680" indent="-146160">
              <a:lnSpc>
                <a:spcPct val="100000"/>
              </a:lnSpc>
              <a:buClr>
                <a:srgbClr val="c4b2b6"/>
              </a:buClr>
              <a:buFont typeface="Calibri"/>
              <a:buChar char="•"/>
            </a:pPr>
            <a:r>
              <a:rPr b="0" lang="en" sz="900" spc="-1" strike="noStrike">
                <a:solidFill>
                  <a:srgbClr val="c4b2b6"/>
                </a:solidFill>
                <a:latin typeface="Calibri"/>
                <a:ea typeface="Calibri"/>
              </a:rPr>
              <a:t>Unit test untuk StockService</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Feature test checkout bersamaan</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GitHub Actions menjalankan test tiap push</a:t>
            </a:r>
            <a:endParaRPr b="0" lang="en-US" sz="900" spc="-1" strike="noStrike">
              <a:latin typeface="Arial"/>
            </a:endParaRPr>
          </a:p>
          <a:p>
            <a:pPr marL="139680" indent="-146160">
              <a:lnSpc>
                <a:spcPct val="100000"/>
              </a:lnSpc>
              <a:spcBef>
                <a:spcPts val="499"/>
              </a:spcBef>
              <a:buClr>
                <a:srgbClr val="c4b2b6"/>
              </a:buClr>
              <a:buFont typeface="Calibri"/>
              <a:buChar char="•"/>
            </a:pPr>
            <a:r>
              <a:rPr b="0" lang="en" sz="900" spc="-1" strike="noStrike">
                <a:solidFill>
                  <a:srgbClr val="c4b2b6"/>
                </a:solidFill>
                <a:latin typeface="Calibri"/>
                <a:ea typeface="Calibri"/>
              </a:rPr>
              <a:t>Backend di Railway, frontend di Vercel</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214"/>
        </a:solidFill>
      </p:bgPr>
    </p:bg>
    <p:spTree>
      <p:nvGrpSpPr>
        <p:cNvPr id="1" name=""/>
        <p:cNvGrpSpPr/>
        <p:nvPr/>
      </p:nvGrpSpPr>
      <p:grpSpPr>
        <a:xfrm>
          <a:off x="0" y="0"/>
          <a:ext cx="0" cy="0"/>
          <a:chOff x="0" y="0"/>
          <a:chExt cx="0" cy="0"/>
        </a:xfrm>
      </p:grpSpPr>
      <p:sp>
        <p:nvSpPr>
          <p:cNvPr id="467" name="Google Shape;455;p30"/>
          <p:cNvSpPr/>
          <p:nvPr/>
        </p:nvSpPr>
        <p:spPr>
          <a:xfrm>
            <a:off x="-1508760" y="2468880"/>
            <a:ext cx="3839760" cy="3839760"/>
          </a:xfrm>
          <a:prstGeom prst="ellipse">
            <a:avLst/>
          </a:prstGeom>
          <a:solidFill>
            <a:srgbClr val="241819"/>
          </a:solidFill>
          <a:ln w="12700">
            <a:solidFill>
              <a:srgbClr val="241819"/>
            </a:solidFill>
            <a:round/>
          </a:ln>
        </p:spPr>
        <p:style>
          <a:lnRef idx="0"/>
          <a:fillRef idx="0"/>
          <a:effectRef idx="0"/>
          <a:fontRef idx="minor"/>
        </p:style>
      </p:sp>
      <p:sp>
        <p:nvSpPr>
          <p:cNvPr id="468" name="Google Shape;456;p30"/>
          <p:cNvSpPr/>
          <p:nvPr/>
        </p:nvSpPr>
        <p:spPr>
          <a:xfrm>
            <a:off x="445680" y="445680"/>
            <a:ext cx="4799880" cy="6508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3500" spc="-1" strike="noStrike">
                <a:solidFill>
                  <a:srgbClr val="ffffff"/>
                </a:solidFill>
                <a:latin typeface="Calibri"/>
                <a:ea typeface="Calibri"/>
              </a:rPr>
              <a:t>Thank You</a:t>
            </a:r>
            <a:endParaRPr b="0" lang="en-US" sz="3500" spc="-1" strike="noStrike">
              <a:latin typeface="Arial"/>
            </a:endParaRPr>
          </a:p>
        </p:txBody>
      </p:sp>
      <p:sp>
        <p:nvSpPr>
          <p:cNvPr id="469" name="Google Shape;457;p30"/>
          <p:cNvSpPr/>
          <p:nvPr/>
        </p:nvSpPr>
        <p:spPr>
          <a:xfrm>
            <a:off x="445680" y="1097280"/>
            <a:ext cx="4799880" cy="2736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1100" spc="-1" strike="noStrike">
                <a:solidFill>
                  <a:srgbClr val="ffb84d"/>
                </a:solidFill>
                <a:latin typeface="Calibri"/>
                <a:ea typeface="Calibri"/>
              </a:rPr>
              <a:t>Let's connect and collaborate</a:t>
            </a:r>
            <a:endParaRPr b="0" lang="en-US" sz="1100" spc="-1" strike="noStrike">
              <a:latin typeface="Arial"/>
            </a:endParaRPr>
          </a:p>
        </p:txBody>
      </p:sp>
      <p:sp>
        <p:nvSpPr>
          <p:cNvPr id="470" name="Google Shape;458;p30"/>
          <p:cNvSpPr/>
          <p:nvPr/>
        </p:nvSpPr>
        <p:spPr>
          <a:xfrm>
            <a:off x="445680" y="1611720"/>
            <a:ext cx="4525560" cy="2052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b84d"/>
                </a:solidFill>
                <a:latin typeface="Calibri"/>
                <a:ea typeface="Calibri"/>
              </a:rPr>
              <a:t>What I learned</a:t>
            </a:r>
            <a:endParaRPr b="0" lang="en-US" sz="1100" spc="-1" strike="noStrike">
              <a:latin typeface="Arial"/>
            </a:endParaRPr>
          </a:p>
        </p:txBody>
      </p:sp>
      <p:sp>
        <p:nvSpPr>
          <p:cNvPr id="471" name="Google Shape;459;p30"/>
          <p:cNvSpPr/>
          <p:nvPr/>
        </p:nvSpPr>
        <p:spPr>
          <a:xfrm>
            <a:off x="445680" y="1830960"/>
            <a:ext cx="4525560" cy="65088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Teknis: menangani concurrency di level transaksi database, merancang stok sebagai ledger yang bisa diaudit, dan menyusun kontrak API yang konsisten. Non-teknis: memecah lingkup besar menjadi target mingguan yang bisa diselesaikan.</a:t>
            </a:r>
            <a:endParaRPr b="0" lang="en-US" sz="900" spc="-1" strike="noStrike">
              <a:latin typeface="Arial"/>
            </a:endParaRPr>
          </a:p>
        </p:txBody>
      </p:sp>
      <p:sp>
        <p:nvSpPr>
          <p:cNvPr id="472" name="Google Shape;460;p30"/>
          <p:cNvSpPr/>
          <p:nvPr/>
        </p:nvSpPr>
        <p:spPr>
          <a:xfrm>
            <a:off x="445680" y="2492640"/>
            <a:ext cx="4525560" cy="2052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100" spc="-1" strike="noStrike">
                <a:solidFill>
                  <a:srgbClr val="ffb84d"/>
                </a:solidFill>
                <a:latin typeface="Calibri"/>
                <a:ea typeface="Calibri"/>
              </a:rPr>
              <a:t>Future roadmap</a:t>
            </a:r>
            <a:endParaRPr b="0" lang="en-US" sz="1100" spc="-1" strike="noStrike">
              <a:latin typeface="Arial"/>
            </a:endParaRPr>
          </a:p>
        </p:txBody>
      </p:sp>
      <p:sp>
        <p:nvSpPr>
          <p:cNvPr id="473" name="Google Shape;461;p30"/>
          <p:cNvSpPr/>
          <p:nvPr/>
        </p:nvSpPr>
        <p:spPr>
          <a:xfrm>
            <a:off x="445680" y="2711880"/>
            <a:ext cx="4525560" cy="650880"/>
          </a:xfrm>
          <a:prstGeom prst="rect">
            <a:avLst/>
          </a:prstGeom>
          <a:noFill/>
          <a:ln w="0">
            <a:noFill/>
          </a:ln>
        </p:spPr>
        <p:style>
          <a:lnRef idx="0"/>
          <a:fillRef idx="0"/>
          <a:effectRef idx="0"/>
          <a:fontRef idx="minor"/>
        </p:style>
        <p:txBody>
          <a:bodyPr lIns="0" rIns="0" tIns="0" bIns="0" anchor="t">
            <a:noAutofit/>
          </a:bodyPr>
          <a:p>
            <a:pPr>
              <a:lnSpc>
                <a:spcPct val="130000"/>
              </a:lnSpc>
              <a:buNone/>
              <a:tabLst>
                <a:tab algn="l" pos="0"/>
              </a:tabLst>
            </a:pPr>
            <a:r>
              <a:rPr b="0" lang="en" sz="900" spc="-1" strike="noStrike">
                <a:solidFill>
                  <a:srgbClr val="c4b2b6"/>
                </a:solidFill>
                <a:latin typeface="Calibri"/>
                <a:ea typeface="Calibri"/>
              </a:rPr>
              <a:t>Integrasi payment gateway QRIS, notifikasi WhatsApp saat pesanan siap, dukungan multi-outlet, dan aplikasi mobile yang memakai API yang sama.</a:t>
            </a:r>
            <a:endParaRPr b="0" lang="en-US" sz="900" spc="-1" strike="noStrike">
              <a:latin typeface="Arial"/>
            </a:endParaRPr>
          </a:p>
        </p:txBody>
      </p:sp>
      <p:sp>
        <p:nvSpPr>
          <p:cNvPr id="474" name="Google Shape;462;p30"/>
          <p:cNvSpPr/>
          <p:nvPr/>
        </p:nvSpPr>
        <p:spPr>
          <a:xfrm>
            <a:off x="5315040" y="1611720"/>
            <a:ext cx="3359880" cy="2674080"/>
          </a:xfrm>
          <a:prstGeom prst="roundRect">
            <a:avLst>
              <a:gd name="adj" fmla="val 2564"/>
            </a:avLst>
          </a:prstGeom>
          <a:solidFill>
            <a:srgbClr val="3a2a2e"/>
          </a:solidFill>
          <a:ln w="12700">
            <a:solidFill>
              <a:srgbClr val="3a2a2e"/>
            </a:solidFill>
            <a:round/>
          </a:ln>
        </p:spPr>
        <p:style>
          <a:lnRef idx="0"/>
          <a:fillRef idx="0"/>
          <a:effectRef idx="0"/>
          <a:fontRef idx="minor"/>
        </p:style>
      </p:sp>
      <p:sp>
        <p:nvSpPr>
          <p:cNvPr id="475" name="Google Shape;463;p30"/>
          <p:cNvSpPr/>
          <p:nvPr/>
        </p:nvSpPr>
        <p:spPr>
          <a:xfrm>
            <a:off x="5555160" y="1783080"/>
            <a:ext cx="2879640" cy="23256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1200" spc="-1" strike="noStrike">
                <a:solidFill>
                  <a:srgbClr val="ffffff"/>
                </a:solidFill>
                <a:latin typeface="Calibri"/>
                <a:ea typeface="Calibri"/>
              </a:rPr>
              <a:t>Supporting Links</a:t>
            </a:r>
            <a:endParaRPr b="0" lang="en-US" sz="1200" spc="-1" strike="noStrike">
              <a:latin typeface="Arial"/>
            </a:endParaRPr>
          </a:p>
        </p:txBody>
      </p:sp>
      <p:sp>
        <p:nvSpPr>
          <p:cNvPr id="476" name="Google Shape;464;p30"/>
          <p:cNvSpPr/>
          <p:nvPr/>
        </p:nvSpPr>
        <p:spPr>
          <a:xfrm>
            <a:off x="5555160" y="2187720"/>
            <a:ext cx="95400" cy="95400"/>
          </a:xfrm>
          <a:prstGeom prst="ellipse">
            <a:avLst/>
          </a:prstGeom>
          <a:solidFill>
            <a:srgbClr val="ffb84d"/>
          </a:solidFill>
          <a:ln w="12700">
            <a:solidFill>
              <a:srgbClr val="ffb84d"/>
            </a:solidFill>
            <a:round/>
          </a:ln>
        </p:spPr>
        <p:style>
          <a:lnRef idx="0"/>
          <a:fillRef idx="0"/>
          <a:effectRef idx="0"/>
          <a:fontRef idx="minor"/>
        </p:style>
      </p:sp>
      <p:sp>
        <p:nvSpPr>
          <p:cNvPr id="477" name="Google Shape;465;p30"/>
          <p:cNvSpPr/>
          <p:nvPr/>
        </p:nvSpPr>
        <p:spPr>
          <a:xfrm>
            <a:off x="5740200" y="2126160"/>
            <a:ext cx="2742480" cy="2052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ffff"/>
                </a:solidFill>
                <a:latin typeface="Calibri"/>
                <a:ea typeface="Calibri"/>
              </a:rPr>
              <a:t>GitHub Repository</a:t>
            </a:r>
            <a:endParaRPr b="0" lang="en-US" sz="900" spc="-1" strike="noStrike">
              <a:latin typeface="Arial"/>
            </a:endParaRPr>
          </a:p>
        </p:txBody>
      </p:sp>
      <p:sp>
        <p:nvSpPr>
          <p:cNvPr id="478" name="Google Shape;466;p30"/>
          <p:cNvSpPr/>
          <p:nvPr/>
        </p:nvSpPr>
        <p:spPr>
          <a:xfrm>
            <a:off x="5740200" y="2331720"/>
            <a:ext cx="2742480" cy="287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ffb84d"/>
                </a:solidFill>
                <a:latin typeface="Calibri"/>
                <a:ea typeface="Calibri"/>
              </a:rPr>
              <a:t>https://github.com/adialex30/Final-Project-Fullstack-Development---AntriGo.git</a:t>
            </a:r>
            <a:endParaRPr b="0" lang="en-US" sz="800" spc="-1" strike="noStrike">
              <a:latin typeface="Arial"/>
            </a:endParaRPr>
          </a:p>
        </p:txBody>
      </p:sp>
      <p:sp>
        <p:nvSpPr>
          <p:cNvPr id="479" name="Google Shape;467;p30"/>
          <p:cNvSpPr/>
          <p:nvPr/>
        </p:nvSpPr>
        <p:spPr>
          <a:xfrm>
            <a:off x="5555160" y="2681640"/>
            <a:ext cx="95400" cy="95400"/>
          </a:xfrm>
          <a:prstGeom prst="ellipse">
            <a:avLst/>
          </a:prstGeom>
          <a:solidFill>
            <a:srgbClr val="ffb84d"/>
          </a:solidFill>
          <a:ln w="12700">
            <a:solidFill>
              <a:srgbClr val="ffb84d"/>
            </a:solidFill>
            <a:round/>
          </a:ln>
        </p:spPr>
        <p:style>
          <a:lnRef idx="0"/>
          <a:fillRef idx="0"/>
          <a:effectRef idx="0"/>
          <a:fontRef idx="minor"/>
        </p:style>
      </p:sp>
      <p:sp>
        <p:nvSpPr>
          <p:cNvPr id="480" name="Google Shape;468;p30"/>
          <p:cNvSpPr/>
          <p:nvPr/>
        </p:nvSpPr>
        <p:spPr>
          <a:xfrm>
            <a:off x="5740200" y="2619720"/>
            <a:ext cx="2742480" cy="20520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 sz="900" spc="-1" strike="noStrike">
                <a:solidFill>
                  <a:srgbClr val="ffffff"/>
                </a:solidFill>
                <a:latin typeface="Calibri"/>
                <a:ea typeface="Calibri"/>
              </a:rPr>
              <a:t>LinkedIn</a:t>
            </a:r>
            <a:endParaRPr b="0" lang="en-US" sz="900" spc="-1" strike="noStrike">
              <a:latin typeface="Arial"/>
            </a:endParaRPr>
          </a:p>
        </p:txBody>
      </p:sp>
      <p:sp>
        <p:nvSpPr>
          <p:cNvPr id="481" name="Google Shape;469;p30"/>
          <p:cNvSpPr/>
          <p:nvPr/>
        </p:nvSpPr>
        <p:spPr>
          <a:xfrm>
            <a:off x="5740200" y="2825640"/>
            <a:ext cx="2742480" cy="28728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0" lang="en" sz="800" spc="-1" strike="noStrike">
                <a:solidFill>
                  <a:srgbClr val="ffb84d"/>
                </a:solidFill>
                <a:latin typeface="Calibri"/>
                <a:ea typeface="Calibri"/>
              </a:rPr>
              <a:t>https://www.linkedin.com/in/aditya-dwi-irawan/</a:t>
            </a:r>
            <a:endParaRPr b="0" lang="en-US" sz="8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2026-08-23T08:13:34Z</dcterms:modified>
  <cp:revision>3</cp:revision>
  <dc:subject/>
  <dc:title/>
</cp:coreProperties>
</file>

<file path=docProps/custom.xml><?xml version="1.0" encoding="utf-8"?>
<Properties xmlns="http://schemas.openxmlformats.org/officeDocument/2006/custom-properties" xmlns:vt="http://schemas.openxmlformats.org/officeDocument/2006/docPropsVTypes"/>
</file>